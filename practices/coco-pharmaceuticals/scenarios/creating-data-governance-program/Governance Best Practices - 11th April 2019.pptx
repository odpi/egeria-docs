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Lst>
  <p:notesMasterIdLst>
    <p:notesMasterId r:id="rId71"/>
  </p:notesMasterIdLst>
  <p:sldIdLst>
    <p:sldId id="716" r:id="rId2"/>
    <p:sldId id="803" r:id="rId3"/>
    <p:sldId id="800" r:id="rId4"/>
    <p:sldId id="802" r:id="rId5"/>
    <p:sldId id="778" r:id="rId6"/>
    <p:sldId id="805" r:id="rId7"/>
    <p:sldId id="799" r:id="rId8"/>
    <p:sldId id="745" r:id="rId9"/>
    <p:sldId id="787" r:id="rId10"/>
    <p:sldId id="259" r:id="rId11"/>
    <p:sldId id="795" r:id="rId12"/>
    <p:sldId id="722" r:id="rId13"/>
    <p:sldId id="263" r:id="rId14"/>
    <p:sldId id="789" r:id="rId15"/>
    <p:sldId id="736" r:id="rId16"/>
    <p:sldId id="335" r:id="rId17"/>
    <p:sldId id="804" r:id="rId18"/>
    <p:sldId id="291" r:id="rId19"/>
    <p:sldId id="332" r:id="rId20"/>
    <p:sldId id="426" r:id="rId21"/>
    <p:sldId id="424" r:id="rId22"/>
    <p:sldId id="258" r:id="rId23"/>
    <p:sldId id="807" r:id="rId24"/>
    <p:sldId id="810" r:id="rId25"/>
    <p:sldId id="797" r:id="rId26"/>
    <p:sldId id="333" r:id="rId27"/>
    <p:sldId id="397" r:id="rId28"/>
    <p:sldId id="336" r:id="rId29"/>
    <p:sldId id="378" r:id="rId30"/>
    <p:sldId id="371" r:id="rId31"/>
    <p:sldId id="340" r:id="rId32"/>
    <p:sldId id="366" r:id="rId33"/>
    <p:sldId id="421" r:id="rId34"/>
    <p:sldId id="433" r:id="rId35"/>
    <p:sldId id="279" r:id="rId36"/>
    <p:sldId id="365" r:id="rId37"/>
    <p:sldId id="792" r:id="rId38"/>
    <p:sldId id="306" r:id="rId39"/>
    <p:sldId id="316" r:id="rId40"/>
    <p:sldId id="379" r:id="rId41"/>
    <p:sldId id="325" r:id="rId42"/>
    <p:sldId id="326" r:id="rId43"/>
    <p:sldId id="788" r:id="rId44"/>
    <p:sldId id="561" r:id="rId45"/>
    <p:sldId id="786" r:id="rId46"/>
    <p:sldId id="678" r:id="rId47"/>
    <p:sldId id="679" r:id="rId48"/>
    <p:sldId id="776" r:id="rId49"/>
    <p:sldId id="681" r:id="rId50"/>
    <p:sldId id="682" r:id="rId51"/>
    <p:sldId id="790" r:id="rId52"/>
    <p:sldId id="791" r:id="rId53"/>
    <p:sldId id="808" r:id="rId54"/>
    <p:sldId id="440" r:id="rId55"/>
    <p:sldId id="783" r:id="rId56"/>
    <p:sldId id="339" r:id="rId57"/>
    <p:sldId id="349" r:id="rId58"/>
    <p:sldId id="348" r:id="rId59"/>
    <p:sldId id="350" r:id="rId60"/>
    <p:sldId id="347" r:id="rId61"/>
    <p:sldId id="754" r:id="rId62"/>
    <p:sldId id="785" r:id="rId63"/>
    <p:sldId id="809" r:id="rId64"/>
    <p:sldId id="717" r:id="rId65"/>
    <p:sldId id="690" r:id="rId66"/>
    <p:sldId id="432" r:id="rId67"/>
    <p:sldId id="744" r:id="rId68"/>
    <p:sldId id="369" r:id="rId69"/>
    <p:sldId id="438" r:id="rId7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styanax Kanakakis" initials="" lastIdx="3" clrIdx="0"/>
  <p:cmAuthor id="7" name="Mandy Chessell" initials="MC" lastIdx="16" clrIdx="7"/>
  <p:cmAuthor id="1" name="Christopher Ferris" initials="" lastIdx="6" clrIdx="1"/>
  <p:cmAuthor id="2" name="Brian Behlendorf" initials="" lastIdx="4" clrIdx="2"/>
  <p:cmAuthor id="3" name="Greg Wallace" initials="" lastIdx="10" clrIdx="3"/>
  <p:cmAuthor id="4" name="Travin Keith" initials="" lastIdx="10" clrIdx="4"/>
  <p:cmAuthor id="5" name="Anonymous" initials="" lastIdx="1" clrIdx="5"/>
  <p:cmAuthor id="6" name="Dan O'Prey" initials="" lastIdx="6"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6DCCDE"/>
    <a:srgbClr val="FFB7FF"/>
    <a:srgbClr val="FEFFB3"/>
    <a:srgbClr val="595959"/>
    <a:srgbClr val="F6F6F6"/>
    <a:srgbClr val="000000"/>
    <a:srgbClr val="CDCDCD"/>
    <a:srgbClr val="959595"/>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8A1D5F9-AFFA-401E-AC10-454C56AC4A86}">
  <a:tblStyle styleId="{28A1D5F9-AFFA-401E-AC10-454C56AC4A86}"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70" autoAdjust="0"/>
    <p:restoredTop sz="77466" autoAdjust="0"/>
  </p:normalViewPr>
  <p:slideViewPr>
    <p:cSldViewPr snapToGrid="0" snapToObjects="1">
      <p:cViewPr varScale="1">
        <p:scale>
          <a:sx n="129" d="100"/>
          <a:sy n="129" d="100"/>
        </p:scale>
        <p:origin x="1392" y="184"/>
      </p:cViewPr>
      <p:guideLst>
        <p:guide orient="horz" pos="1620"/>
        <p:guide pos="2880"/>
      </p:guideLst>
    </p:cSldViewPr>
  </p:slideViewPr>
  <p:notesTextViewPr>
    <p:cViewPr>
      <p:scale>
        <a:sx n="1" d="1"/>
        <a:sy n="1" d="1"/>
      </p:scale>
      <p:origin x="0" y="0"/>
    </p:cViewPr>
  </p:notesTextViewPr>
  <p:sorterViewPr>
    <p:cViewPr>
      <p:scale>
        <a:sx n="66" d="100"/>
        <a:sy n="66" d="100"/>
      </p:scale>
      <p:origin x="0" y="307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52241E-C720-C94E-ACA4-514530C97F6E}" type="doc">
      <dgm:prSet loTypeId="urn:microsoft.com/office/officeart/2005/8/layout/cycle1" loCatId="" qsTypeId="urn:microsoft.com/office/officeart/2005/8/quickstyle/simple1" qsCatId="simple" csTypeId="urn:microsoft.com/office/officeart/2005/8/colors/accent1_2" csCatId="accent1" phldr="1"/>
      <dgm:spPr/>
      <dgm:t>
        <a:bodyPr/>
        <a:lstStyle/>
        <a:p>
          <a:endParaRPr lang="en-US"/>
        </a:p>
      </dgm:t>
    </dgm:pt>
    <dgm:pt modelId="{B65490B4-3C78-784E-B661-00B0EB47AB51}">
      <dgm:prSet phldrT="[Text]"/>
      <dgm:spPr/>
      <dgm:t>
        <a:bodyPr/>
        <a:lstStyle/>
        <a:p>
          <a:r>
            <a:rPr lang="en-US" dirty="0"/>
            <a:t>Strategize</a:t>
          </a:r>
        </a:p>
      </dgm:t>
    </dgm:pt>
    <dgm:pt modelId="{61049025-D628-4E4A-882F-0C63135C6D47}" type="parTrans" cxnId="{3E3F7724-46F0-7E4B-A598-D2CD5F74FA4F}">
      <dgm:prSet/>
      <dgm:spPr/>
      <dgm:t>
        <a:bodyPr/>
        <a:lstStyle/>
        <a:p>
          <a:endParaRPr lang="en-US"/>
        </a:p>
      </dgm:t>
    </dgm:pt>
    <dgm:pt modelId="{6D5BF1BA-67A7-1A42-9B11-ACE358B21E81}" type="sibTrans" cxnId="{3E3F7724-46F0-7E4B-A598-D2CD5F74FA4F}">
      <dgm:prSet/>
      <dgm:spPr>
        <a:solidFill>
          <a:schemeClr val="accent3">
            <a:lumMod val="50000"/>
          </a:schemeClr>
        </a:solidFill>
      </dgm:spPr>
      <dgm:t>
        <a:bodyPr/>
        <a:lstStyle/>
        <a:p>
          <a:endParaRPr lang="en-US"/>
        </a:p>
      </dgm:t>
    </dgm:pt>
    <dgm:pt modelId="{C4A444EA-865E-0047-9679-49ECC1F2CA24}">
      <dgm:prSet phldrT="[Text]"/>
      <dgm:spPr/>
      <dgm:t>
        <a:bodyPr/>
        <a:lstStyle/>
        <a:p>
          <a:r>
            <a:rPr lang="en-US" dirty="0"/>
            <a:t>Design</a:t>
          </a:r>
        </a:p>
      </dgm:t>
    </dgm:pt>
    <dgm:pt modelId="{4AEBA159-D44F-5B49-8964-49E6CC6115B5}" type="parTrans" cxnId="{F17641D8-9045-9644-9F1B-359BE00FA7B5}">
      <dgm:prSet/>
      <dgm:spPr/>
      <dgm:t>
        <a:bodyPr/>
        <a:lstStyle/>
        <a:p>
          <a:endParaRPr lang="en-US"/>
        </a:p>
      </dgm:t>
    </dgm:pt>
    <dgm:pt modelId="{B0BE8FC4-A9DD-734D-8E57-C04AE9CB8D99}" type="sibTrans" cxnId="{F17641D8-9045-9644-9F1B-359BE00FA7B5}">
      <dgm:prSet/>
      <dgm:spPr>
        <a:solidFill>
          <a:schemeClr val="accent3">
            <a:lumMod val="50000"/>
          </a:schemeClr>
        </a:solidFill>
      </dgm:spPr>
      <dgm:t>
        <a:bodyPr/>
        <a:lstStyle/>
        <a:p>
          <a:endParaRPr lang="en-US"/>
        </a:p>
      </dgm:t>
    </dgm:pt>
    <dgm:pt modelId="{4890C897-6571-F24E-AF45-0016938F73A5}">
      <dgm:prSet phldrT="[Text]"/>
      <dgm:spPr/>
      <dgm:t>
        <a:bodyPr/>
        <a:lstStyle/>
        <a:p>
          <a:r>
            <a:rPr lang="en-US" dirty="0"/>
            <a:t>Implement</a:t>
          </a:r>
        </a:p>
      </dgm:t>
    </dgm:pt>
    <dgm:pt modelId="{FABEBFF4-5939-7B4C-8B10-0E6BDE7FE1C6}" type="parTrans" cxnId="{E9DB4FF5-98D4-8D49-AEC4-84A19EFBEE14}">
      <dgm:prSet/>
      <dgm:spPr/>
      <dgm:t>
        <a:bodyPr/>
        <a:lstStyle/>
        <a:p>
          <a:endParaRPr lang="en-US"/>
        </a:p>
      </dgm:t>
    </dgm:pt>
    <dgm:pt modelId="{968C0D0C-2AB7-1E45-887B-803492A05350}" type="sibTrans" cxnId="{E9DB4FF5-98D4-8D49-AEC4-84A19EFBEE14}">
      <dgm:prSet/>
      <dgm:spPr>
        <a:solidFill>
          <a:schemeClr val="accent3">
            <a:lumMod val="50000"/>
          </a:schemeClr>
        </a:solidFill>
      </dgm:spPr>
      <dgm:t>
        <a:bodyPr/>
        <a:lstStyle/>
        <a:p>
          <a:endParaRPr lang="en-US"/>
        </a:p>
      </dgm:t>
    </dgm:pt>
    <dgm:pt modelId="{7CF47202-902F-3848-9304-457A3CDF3037}">
      <dgm:prSet phldrT="[Text]"/>
      <dgm:spPr/>
      <dgm:t>
        <a:bodyPr/>
        <a:lstStyle/>
        <a:p>
          <a:r>
            <a:rPr lang="en-US" dirty="0"/>
            <a:t>Review</a:t>
          </a:r>
        </a:p>
      </dgm:t>
    </dgm:pt>
    <dgm:pt modelId="{B1544B4E-22A0-594A-A00A-AE54E9E0D325}" type="parTrans" cxnId="{6463EBEB-9114-9447-8549-F460EE9A182C}">
      <dgm:prSet/>
      <dgm:spPr/>
      <dgm:t>
        <a:bodyPr/>
        <a:lstStyle/>
        <a:p>
          <a:endParaRPr lang="en-US"/>
        </a:p>
      </dgm:t>
    </dgm:pt>
    <dgm:pt modelId="{E66C2934-C40B-2F41-96E0-89999089D310}" type="sibTrans" cxnId="{6463EBEB-9114-9447-8549-F460EE9A182C}">
      <dgm:prSet/>
      <dgm:spPr>
        <a:solidFill>
          <a:schemeClr val="accent3">
            <a:lumMod val="50000"/>
          </a:schemeClr>
        </a:solidFill>
      </dgm:spPr>
      <dgm:t>
        <a:bodyPr/>
        <a:lstStyle/>
        <a:p>
          <a:endParaRPr lang="en-US"/>
        </a:p>
      </dgm:t>
    </dgm:pt>
    <dgm:pt modelId="{1AEC146B-5343-044F-93E6-C01BE2F9A2EF}" type="pres">
      <dgm:prSet presAssocID="{D052241E-C720-C94E-ACA4-514530C97F6E}" presName="cycle" presStyleCnt="0">
        <dgm:presLayoutVars>
          <dgm:dir/>
          <dgm:resizeHandles val="exact"/>
        </dgm:presLayoutVars>
      </dgm:prSet>
      <dgm:spPr/>
    </dgm:pt>
    <dgm:pt modelId="{082A0DC7-23C3-684C-AA21-CECC2D3A23F9}" type="pres">
      <dgm:prSet presAssocID="{B65490B4-3C78-784E-B661-00B0EB47AB51}" presName="dummy" presStyleCnt="0"/>
      <dgm:spPr/>
    </dgm:pt>
    <dgm:pt modelId="{54CAF259-CC4D-8F41-BF84-B2B328CC554B}" type="pres">
      <dgm:prSet presAssocID="{B65490B4-3C78-784E-B661-00B0EB47AB51}" presName="node" presStyleLbl="revTx" presStyleIdx="0" presStyleCnt="4">
        <dgm:presLayoutVars>
          <dgm:bulletEnabled val="1"/>
        </dgm:presLayoutVars>
      </dgm:prSet>
      <dgm:spPr/>
    </dgm:pt>
    <dgm:pt modelId="{67F6B155-A244-BE47-BC51-DD40B7FAE66E}" type="pres">
      <dgm:prSet presAssocID="{6D5BF1BA-67A7-1A42-9B11-ACE358B21E81}" presName="sibTrans" presStyleLbl="node1" presStyleIdx="0" presStyleCnt="4"/>
      <dgm:spPr/>
    </dgm:pt>
    <dgm:pt modelId="{E71B6101-5255-8747-B9D7-F73D3BEE9C3A}" type="pres">
      <dgm:prSet presAssocID="{C4A444EA-865E-0047-9679-49ECC1F2CA24}" presName="dummy" presStyleCnt="0"/>
      <dgm:spPr/>
    </dgm:pt>
    <dgm:pt modelId="{91C28C73-93D8-FC45-9F51-A4F5B38440A0}" type="pres">
      <dgm:prSet presAssocID="{C4A444EA-865E-0047-9679-49ECC1F2CA24}" presName="node" presStyleLbl="revTx" presStyleIdx="1" presStyleCnt="4">
        <dgm:presLayoutVars>
          <dgm:bulletEnabled val="1"/>
        </dgm:presLayoutVars>
      </dgm:prSet>
      <dgm:spPr/>
    </dgm:pt>
    <dgm:pt modelId="{FD2A6E51-237A-1644-BFBA-09A1F76BE698}" type="pres">
      <dgm:prSet presAssocID="{B0BE8FC4-A9DD-734D-8E57-C04AE9CB8D99}" presName="sibTrans" presStyleLbl="node1" presStyleIdx="1" presStyleCnt="4"/>
      <dgm:spPr/>
    </dgm:pt>
    <dgm:pt modelId="{11DCA2BD-2216-B447-8A89-7B1C05007569}" type="pres">
      <dgm:prSet presAssocID="{4890C897-6571-F24E-AF45-0016938F73A5}" presName="dummy" presStyleCnt="0"/>
      <dgm:spPr/>
    </dgm:pt>
    <dgm:pt modelId="{E11C80D3-FBB1-1E47-B10B-18873D641554}" type="pres">
      <dgm:prSet presAssocID="{4890C897-6571-F24E-AF45-0016938F73A5}" presName="node" presStyleLbl="revTx" presStyleIdx="2" presStyleCnt="4">
        <dgm:presLayoutVars>
          <dgm:bulletEnabled val="1"/>
        </dgm:presLayoutVars>
      </dgm:prSet>
      <dgm:spPr/>
    </dgm:pt>
    <dgm:pt modelId="{97AC3519-87EB-6744-863A-89E8D39F2317}" type="pres">
      <dgm:prSet presAssocID="{968C0D0C-2AB7-1E45-887B-803492A05350}" presName="sibTrans" presStyleLbl="node1" presStyleIdx="2" presStyleCnt="4"/>
      <dgm:spPr/>
    </dgm:pt>
    <dgm:pt modelId="{42C36D09-70F4-A241-9CF7-CD8B82B7CB2F}" type="pres">
      <dgm:prSet presAssocID="{7CF47202-902F-3848-9304-457A3CDF3037}" presName="dummy" presStyleCnt="0"/>
      <dgm:spPr/>
    </dgm:pt>
    <dgm:pt modelId="{1207B809-6F40-C844-BC05-B643CE218DE8}" type="pres">
      <dgm:prSet presAssocID="{7CF47202-902F-3848-9304-457A3CDF3037}" presName="node" presStyleLbl="revTx" presStyleIdx="3" presStyleCnt="4">
        <dgm:presLayoutVars>
          <dgm:bulletEnabled val="1"/>
        </dgm:presLayoutVars>
      </dgm:prSet>
      <dgm:spPr/>
    </dgm:pt>
    <dgm:pt modelId="{782A357B-8949-B54E-968D-C36147017F26}" type="pres">
      <dgm:prSet presAssocID="{E66C2934-C40B-2F41-96E0-89999089D310}" presName="sibTrans" presStyleLbl="node1" presStyleIdx="3" presStyleCnt="4"/>
      <dgm:spPr/>
    </dgm:pt>
  </dgm:ptLst>
  <dgm:cxnLst>
    <dgm:cxn modelId="{3E3F7724-46F0-7E4B-A598-D2CD5F74FA4F}" srcId="{D052241E-C720-C94E-ACA4-514530C97F6E}" destId="{B65490B4-3C78-784E-B661-00B0EB47AB51}" srcOrd="0" destOrd="0" parTransId="{61049025-D628-4E4A-882F-0C63135C6D47}" sibTransId="{6D5BF1BA-67A7-1A42-9B11-ACE358B21E81}"/>
    <dgm:cxn modelId="{267EC152-EE52-DF4B-94EC-B773A736F026}" type="presOf" srcId="{968C0D0C-2AB7-1E45-887B-803492A05350}" destId="{97AC3519-87EB-6744-863A-89E8D39F2317}" srcOrd="0" destOrd="0" presId="urn:microsoft.com/office/officeart/2005/8/layout/cycle1"/>
    <dgm:cxn modelId="{338D7066-224B-534F-8D81-1314AE2B03BE}" type="presOf" srcId="{E66C2934-C40B-2F41-96E0-89999089D310}" destId="{782A357B-8949-B54E-968D-C36147017F26}" srcOrd="0" destOrd="0" presId="urn:microsoft.com/office/officeart/2005/8/layout/cycle1"/>
    <dgm:cxn modelId="{AF796B9B-AC6B-0542-A242-9FBC2B855C34}" type="presOf" srcId="{D052241E-C720-C94E-ACA4-514530C97F6E}" destId="{1AEC146B-5343-044F-93E6-C01BE2F9A2EF}" srcOrd="0" destOrd="0" presId="urn:microsoft.com/office/officeart/2005/8/layout/cycle1"/>
    <dgm:cxn modelId="{3500D1A0-B694-C942-8C87-3D25A319AB6C}" type="presOf" srcId="{B0BE8FC4-A9DD-734D-8E57-C04AE9CB8D99}" destId="{FD2A6E51-237A-1644-BFBA-09A1F76BE698}" srcOrd="0" destOrd="0" presId="urn:microsoft.com/office/officeart/2005/8/layout/cycle1"/>
    <dgm:cxn modelId="{1F4B13AD-C778-9540-A6B5-B353221B96D6}" type="presOf" srcId="{C4A444EA-865E-0047-9679-49ECC1F2CA24}" destId="{91C28C73-93D8-FC45-9F51-A4F5B38440A0}" srcOrd="0" destOrd="0" presId="urn:microsoft.com/office/officeart/2005/8/layout/cycle1"/>
    <dgm:cxn modelId="{F17641D8-9045-9644-9F1B-359BE00FA7B5}" srcId="{D052241E-C720-C94E-ACA4-514530C97F6E}" destId="{C4A444EA-865E-0047-9679-49ECC1F2CA24}" srcOrd="1" destOrd="0" parTransId="{4AEBA159-D44F-5B49-8964-49E6CC6115B5}" sibTransId="{B0BE8FC4-A9DD-734D-8E57-C04AE9CB8D99}"/>
    <dgm:cxn modelId="{8215D6DB-211A-4444-B2C6-0FF233BA7A56}" type="presOf" srcId="{6D5BF1BA-67A7-1A42-9B11-ACE358B21E81}" destId="{67F6B155-A244-BE47-BC51-DD40B7FAE66E}" srcOrd="0" destOrd="0" presId="urn:microsoft.com/office/officeart/2005/8/layout/cycle1"/>
    <dgm:cxn modelId="{6463EBEB-9114-9447-8549-F460EE9A182C}" srcId="{D052241E-C720-C94E-ACA4-514530C97F6E}" destId="{7CF47202-902F-3848-9304-457A3CDF3037}" srcOrd="3" destOrd="0" parTransId="{B1544B4E-22A0-594A-A00A-AE54E9E0D325}" sibTransId="{E66C2934-C40B-2F41-96E0-89999089D310}"/>
    <dgm:cxn modelId="{6C25D6EC-575E-7545-9399-3E08B653D3E6}" type="presOf" srcId="{B65490B4-3C78-784E-B661-00B0EB47AB51}" destId="{54CAF259-CC4D-8F41-BF84-B2B328CC554B}" srcOrd="0" destOrd="0" presId="urn:microsoft.com/office/officeart/2005/8/layout/cycle1"/>
    <dgm:cxn modelId="{856820F5-8960-7845-A81B-574D192FE49C}" type="presOf" srcId="{7CF47202-902F-3848-9304-457A3CDF3037}" destId="{1207B809-6F40-C844-BC05-B643CE218DE8}" srcOrd="0" destOrd="0" presId="urn:microsoft.com/office/officeart/2005/8/layout/cycle1"/>
    <dgm:cxn modelId="{E9DB4FF5-98D4-8D49-AEC4-84A19EFBEE14}" srcId="{D052241E-C720-C94E-ACA4-514530C97F6E}" destId="{4890C897-6571-F24E-AF45-0016938F73A5}" srcOrd="2" destOrd="0" parTransId="{FABEBFF4-5939-7B4C-8B10-0E6BDE7FE1C6}" sibTransId="{968C0D0C-2AB7-1E45-887B-803492A05350}"/>
    <dgm:cxn modelId="{185E38FA-1E46-FB41-A999-F1B8697AF918}" type="presOf" srcId="{4890C897-6571-F24E-AF45-0016938F73A5}" destId="{E11C80D3-FBB1-1E47-B10B-18873D641554}" srcOrd="0" destOrd="0" presId="urn:microsoft.com/office/officeart/2005/8/layout/cycle1"/>
    <dgm:cxn modelId="{85A1009F-C7EA-CB48-AE11-5D77DDF1878C}" type="presParOf" srcId="{1AEC146B-5343-044F-93E6-C01BE2F9A2EF}" destId="{082A0DC7-23C3-684C-AA21-CECC2D3A23F9}" srcOrd="0" destOrd="0" presId="urn:microsoft.com/office/officeart/2005/8/layout/cycle1"/>
    <dgm:cxn modelId="{7162B503-EDC8-434A-A93B-D3E8F30C66E1}" type="presParOf" srcId="{1AEC146B-5343-044F-93E6-C01BE2F9A2EF}" destId="{54CAF259-CC4D-8F41-BF84-B2B328CC554B}" srcOrd="1" destOrd="0" presId="urn:microsoft.com/office/officeart/2005/8/layout/cycle1"/>
    <dgm:cxn modelId="{26013289-76A2-584F-B4D7-AB52640C6743}" type="presParOf" srcId="{1AEC146B-5343-044F-93E6-C01BE2F9A2EF}" destId="{67F6B155-A244-BE47-BC51-DD40B7FAE66E}" srcOrd="2" destOrd="0" presId="urn:microsoft.com/office/officeart/2005/8/layout/cycle1"/>
    <dgm:cxn modelId="{22449379-66D2-A94A-B234-3C4DA9DE4610}" type="presParOf" srcId="{1AEC146B-5343-044F-93E6-C01BE2F9A2EF}" destId="{E71B6101-5255-8747-B9D7-F73D3BEE9C3A}" srcOrd="3" destOrd="0" presId="urn:microsoft.com/office/officeart/2005/8/layout/cycle1"/>
    <dgm:cxn modelId="{AD78B5A5-CE15-A140-A313-ADAF9DE3A767}" type="presParOf" srcId="{1AEC146B-5343-044F-93E6-C01BE2F9A2EF}" destId="{91C28C73-93D8-FC45-9F51-A4F5B38440A0}" srcOrd="4" destOrd="0" presId="urn:microsoft.com/office/officeart/2005/8/layout/cycle1"/>
    <dgm:cxn modelId="{8C689A58-9A33-2441-8DFF-A93D9CCA023C}" type="presParOf" srcId="{1AEC146B-5343-044F-93E6-C01BE2F9A2EF}" destId="{FD2A6E51-237A-1644-BFBA-09A1F76BE698}" srcOrd="5" destOrd="0" presId="urn:microsoft.com/office/officeart/2005/8/layout/cycle1"/>
    <dgm:cxn modelId="{C91AF222-B02A-6346-971C-F8FBB1F08080}" type="presParOf" srcId="{1AEC146B-5343-044F-93E6-C01BE2F9A2EF}" destId="{11DCA2BD-2216-B447-8A89-7B1C05007569}" srcOrd="6" destOrd="0" presId="urn:microsoft.com/office/officeart/2005/8/layout/cycle1"/>
    <dgm:cxn modelId="{17FF5863-EEF0-2B40-A703-6F06506F4A8F}" type="presParOf" srcId="{1AEC146B-5343-044F-93E6-C01BE2F9A2EF}" destId="{E11C80D3-FBB1-1E47-B10B-18873D641554}" srcOrd="7" destOrd="0" presId="urn:microsoft.com/office/officeart/2005/8/layout/cycle1"/>
    <dgm:cxn modelId="{A4A91860-34DE-1945-A2B4-0B61520F4E58}" type="presParOf" srcId="{1AEC146B-5343-044F-93E6-C01BE2F9A2EF}" destId="{97AC3519-87EB-6744-863A-89E8D39F2317}" srcOrd="8" destOrd="0" presId="urn:microsoft.com/office/officeart/2005/8/layout/cycle1"/>
    <dgm:cxn modelId="{2096F1A0-D938-2643-B32C-DE2657520CBD}" type="presParOf" srcId="{1AEC146B-5343-044F-93E6-C01BE2F9A2EF}" destId="{42C36D09-70F4-A241-9CF7-CD8B82B7CB2F}" srcOrd="9" destOrd="0" presId="urn:microsoft.com/office/officeart/2005/8/layout/cycle1"/>
    <dgm:cxn modelId="{F4B4E6C6-561C-B744-9AC9-9757B3B0A4B0}" type="presParOf" srcId="{1AEC146B-5343-044F-93E6-C01BE2F9A2EF}" destId="{1207B809-6F40-C844-BC05-B643CE218DE8}" srcOrd="10" destOrd="0" presId="urn:microsoft.com/office/officeart/2005/8/layout/cycle1"/>
    <dgm:cxn modelId="{43580FC9-CA6A-A74B-80E7-9659129473A2}" type="presParOf" srcId="{1AEC146B-5343-044F-93E6-C01BE2F9A2EF}" destId="{782A357B-8949-B54E-968D-C36147017F26}" srcOrd="11"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CAF259-CC4D-8F41-BF84-B2B328CC554B}">
      <dsp:nvSpPr>
        <dsp:cNvPr id="0" name=""/>
        <dsp:cNvSpPr/>
      </dsp:nvSpPr>
      <dsp:spPr>
        <a:xfrm>
          <a:off x="1985818" y="55312"/>
          <a:ext cx="879968" cy="87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Strategize</a:t>
          </a:r>
        </a:p>
      </dsp:txBody>
      <dsp:txXfrm>
        <a:off x="1985818" y="55312"/>
        <a:ext cx="879968" cy="879968"/>
      </dsp:txXfrm>
    </dsp:sp>
    <dsp:sp modelId="{67F6B155-A244-BE47-BC51-DD40B7FAE66E}">
      <dsp:nvSpPr>
        <dsp:cNvPr id="0" name=""/>
        <dsp:cNvSpPr/>
      </dsp:nvSpPr>
      <dsp:spPr>
        <a:xfrm>
          <a:off x="434562" y="-345"/>
          <a:ext cx="2486882" cy="2486882"/>
        </a:xfrm>
        <a:prstGeom prst="circularArrow">
          <a:avLst>
            <a:gd name="adj1" fmla="val 6900"/>
            <a:gd name="adj2" fmla="val 465185"/>
            <a:gd name="adj3" fmla="val 550117"/>
            <a:gd name="adj4" fmla="val 20584697"/>
            <a:gd name="adj5" fmla="val 805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1C28C73-93D8-FC45-9F51-A4F5B38440A0}">
      <dsp:nvSpPr>
        <dsp:cNvPr id="0" name=""/>
        <dsp:cNvSpPr/>
      </dsp:nvSpPr>
      <dsp:spPr>
        <a:xfrm>
          <a:off x="1985818" y="1550910"/>
          <a:ext cx="879968" cy="87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Design</a:t>
          </a:r>
        </a:p>
      </dsp:txBody>
      <dsp:txXfrm>
        <a:off x="1985818" y="1550910"/>
        <a:ext cx="879968" cy="879968"/>
      </dsp:txXfrm>
    </dsp:sp>
    <dsp:sp modelId="{FD2A6E51-237A-1644-BFBA-09A1F76BE698}">
      <dsp:nvSpPr>
        <dsp:cNvPr id="0" name=""/>
        <dsp:cNvSpPr/>
      </dsp:nvSpPr>
      <dsp:spPr>
        <a:xfrm>
          <a:off x="434562" y="-345"/>
          <a:ext cx="2486882" cy="2486882"/>
        </a:xfrm>
        <a:prstGeom prst="circularArrow">
          <a:avLst>
            <a:gd name="adj1" fmla="val 6900"/>
            <a:gd name="adj2" fmla="val 465185"/>
            <a:gd name="adj3" fmla="val 5950117"/>
            <a:gd name="adj4" fmla="val 4384697"/>
            <a:gd name="adj5" fmla="val 805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1C80D3-FBB1-1E47-B10B-18873D641554}">
      <dsp:nvSpPr>
        <dsp:cNvPr id="0" name=""/>
        <dsp:cNvSpPr/>
      </dsp:nvSpPr>
      <dsp:spPr>
        <a:xfrm>
          <a:off x="490220" y="1550910"/>
          <a:ext cx="879968" cy="87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Implement</a:t>
          </a:r>
        </a:p>
      </dsp:txBody>
      <dsp:txXfrm>
        <a:off x="490220" y="1550910"/>
        <a:ext cx="879968" cy="879968"/>
      </dsp:txXfrm>
    </dsp:sp>
    <dsp:sp modelId="{97AC3519-87EB-6744-863A-89E8D39F2317}">
      <dsp:nvSpPr>
        <dsp:cNvPr id="0" name=""/>
        <dsp:cNvSpPr/>
      </dsp:nvSpPr>
      <dsp:spPr>
        <a:xfrm>
          <a:off x="434562" y="-345"/>
          <a:ext cx="2486882" cy="2486882"/>
        </a:xfrm>
        <a:prstGeom prst="circularArrow">
          <a:avLst>
            <a:gd name="adj1" fmla="val 6900"/>
            <a:gd name="adj2" fmla="val 465185"/>
            <a:gd name="adj3" fmla="val 11350117"/>
            <a:gd name="adj4" fmla="val 9784697"/>
            <a:gd name="adj5" fmla="val 805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07B809-6F40-C844-BC05-B643CE218DE8}">
      <dsp:nvSpPr>
        <dsp:cNvPr id="0" name=""/>
        <dsp:cNvSpPr/>
      </dsp:nvSpPr>
      <dsp:spPr>
        <a:xfrm>
          <a:off x="490220" y="55312"/>
          <a:ext cx="879968" cy="879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Review</a:t>
          </a:r>
        </a:p>
      </dsp:txBody>
      <dsp:txXfrm>
        <a:off x="490220" y="55312"/>
        <a:ext cx="879968" cy="879968"/>
      </dsp:txXfrm>
    </dsp:sp>
    <dsp:sp modelId="{782A357B-8949-B54E-968D-C36147017F26}">
      <dsp:nvSpPr>
        <dsp:cNvPr id="0" name=""/>
        <dsp:cNvSpPr/>
      </dsp:nvSpPr>
      <dsp:spPr>
        <a:xfrm>
          <a:off x="434562" y="-345"/>
          <a:ext cx="2486882" cy="2486882"/>
        </a:xfrm>
        <a:prstGeom prst="circularArrow">
          <a:avLst>
            <a:gd name="adj1" fmla="val 6900"/>
            <a:gd name="adj2" fmla="val 465185"/>
            <a:gd name="adj3" fmla="val 16750117"/>
            <a:gd name="adj4" fmla="val 15184697"/>
            <a:gd name="adj5" fmla="val 8050"/>
          </a:avLst>
        </a:prstGeom>
        <a:solidFill>
          <a:schemeClr val="accent3">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1pPr>
            <a:lvl2pPr marL="457200" marR="0" lvl="1"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2pPr>
            <a:lvl3pPr marL="914400" marR="0" lvl="2"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3pPr>
            <a:lvl4pPr marL="1371600" marR="0" lvl="3"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4pPr>
            <a:lvl5pPr marL="1828800" marR="0" lvl="4"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5pPr>
            <a:lvl6pPr marL="2286000" marR="0" lvl="5"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6pPr>
            <a:lvl7pPr marL="2743200" marR="0" lvl="6"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7pPr>
            <a:lvl8pPr marL="3200400" marR="0" lvl="7"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8pPr>
            <a:lvl9pPr marL="3657600" marR="0" lvl="8" indent="0" algn="l" rtl="0">
              <a:spcBef>
                <a:spcPts val="0"/>
              </a:spcBef>
              <a:buClr>
                <a:schemeClr val="dk1"/>
              </a:buClr>
              <a:buFont typeface="Arial"/>
              <a:buNone/>
              <a:defRPr sz="11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59180190"/>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Governance needs to be designed for the individual and scaled to the organization.</a:t>
            </a:r>
          </a:p>
          <a:p>
            <a:endParaRPr lang="en-US" dirty="0"/>
          </a:p>
          <a:p>
            <a:pPr>
              <a:spcBef>
                <a:spcPct val="20000"/>
              </a:spcBef>
              <a:buClr>
                <a:schemeClr val="tx1"/>
              </a:buClr>
              <a:buFont typeface="Wingdings" charset="0"/>
              <a:buChar char="§"/>
            </a:pPr>
            <a:r>
              <a:rPr lang="en-US" sz="1500" dirty="0">
                <a:solidFill>
                  <a:srgbClr val="000000"/>
                </a:solidFill>
                <a:latin typeface="Calibri" charset="0"/>
                <a:ea typeface="MS PGothic" charset="0"/>
                <a:cs typeface="MS PGothic" charset="0"/>
              </a:rPr>
              <a:t>Successful Information Governance is implemented with a combination of:</a:t>
            </a:r>
          </a:p>
          <a:p>
            <a:pPr lvl="1">
              <a:spcBef>
                <a:spcPct val="20000"/>
              </a:spcBef>
              <a:buClr>
                <a:schemeClr val="tx1"/>
              </a:buClr>
              <a:buFont typeface="Arial" charset="0"/>
              <a:buChar char="•"/>
            </a:pPr>
            <a:r>
              <a:rPr lang="en-US" sz="1350" dirty="0">
                <a:latin typeface="Calibri" charset="0"/>
                <a:ea typeface="MS PGothic" charset="0"/>
                <a:cs typeface="MS PGothic" charset="0"/>
              </a:rPr>
              <a:t>Skilled people, correct roles and organization</a:t>
            </a:r>
          </a:p>
          <a:p>
            <a:pPr lvl="1">
              <a:spcBef>
                <a:spcPct val="20000"/>
              </a:spcBef>
              <a:buClr>
                <a:schemeClr val="tx1"/>
              </a:buClr>
              <a:buFont typeface="Arial" charset="0"/>
              <a:buChar char="•"/>
            </a:pPr>
            <a:r>
              <a:rPr lang="en-US" sz="1350" dirty="0">
                <a:latin typeface="Calibri" charset="0"/>
                <a:ea typeface="MS PGothic" charset="0"/>
                <a:cs typeface="MS PGothic" charset="0"/>
              </a:rPr>
              <a:t>Processes that create a pragmatic, targeted and agile work environment.</a:t>
            </a:r>
          </a:p>
          <a:p>
            <a:pPr lvl="1">
              <a:spcBef>
                <a:spcPct val="20000"/>
              </a:spcBef>
              <a:buClr>
                <a:schemeClr val="tx1"/>
              </a:buClr>
              <a:buFont typeface="Arial" charset="0"/>
              <a:buChar char="•"/>
            </a:pPr>
            <a:r>
              <a:rPr lang="en-US" sz="1350" dirty="0">
                <a:latin typeface="Calibri" charset="0"/>
                <a:ea typeface="MS PGothic" charset="0"/>
                <a:cs typeface="MS PGothic" charset="0"/>
              </a:rPr>
              <a:t>Standards, templates and assets that improve consistency between implementations.</a:t>
            </a:r>
          </a:p>
          <a:p>
            <a:pPr lvl="1">
              <a:spcBef>
                <a:spcPct val="20000"/>
              </a:spcBef>
              <a:buClr>
                <a:schemeClr val="tx1"/>
              </a:buClr>
              <a:buFont typeface="Arial" charset="0"/>
              <a:buChar char="•"/>
            </a:pPr>
            <a:r>
              <a:rPr lang="en-US" sz="1350" dirty="0">
                <a:latin typeface="Calibri" charset="0"/>
                <a:ea typeface="MS PGothic" charset="0"/>
                <a:cs typeface="MS PGothic" charset="0"/>
              </a:rPr>
              <a:t>Technology that automates classification, enforcement validation, and correction of data.</a:t>
            </a:r>
            <a:endParaRPr lang="en-US" dirty="0"/>
          </a:p>
        </p:txBody>
      </p:sp>
    </p:spTree>
    <p:extLst>
      <p:ext uri="{BB962C8B-B14F-4D97-AF65-F5344CB8AC3E}">
        <p14:creationId xmlns:p14="http://schemas.microsoft.com/office/powerpoint/2010/main" val="1272530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a typeface="MS PGothic" charset="0"/>
              <a:cs typeface="MS PGothic" charset="0"/>
            </a:endParaRPr>
          </a:p>
        </p:txBody>
      </p:sp>
      <p:sp>
        <p:nvSpPr>
          <p:cNvPr id="2048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defTabSz="455613" eaLnBrk="1" fontAlgn="base" hangingPunct="1">
              <a:spcBef>
                <a:spcPct val="0"/>
              </a:spcBef>
              <a:spcAft>
                <a:spcPct val="0"/>
              </a:spcAft>
            </a:pPr>
            <a:fld id="{58E723B5-9886-2746-B05C-4B1E75CC02E0}" type="slidenum">
              <a:rPr lang="en-US" sz="1200">
                <a:ea typeface="MS PGothic" charset="0"/>
                <a:cs typeface="MS PGothic" charset="0"/>
              </a:rPr>
              <a:pPr defTabSz="455613" eaLnBrk="1" fontAlgn="base" hangingPunct="1">
                <a:spcBef>
                  <a:spcPct val="0"/>
                </a:spcBef>
                <a:spcAft>
                  <a:spcPct val="0"/>
                </a:spcAft>
              </a:pPr>
              <a:t>10</a:t>
            </a:fld>
            <a:endParaRPr lang="en-US" sz="1200">
              <a:ea typeface="MS PGothic" charset="0"/>
              <a:cs typeface="MS PGothic" charset="0"/>
            </a:endParaRPr>
          </a:p>
        </p:txBody>
      </p:sp>
    </p:spTree>
    <p:extLst>
      <p:ext uri="{BB962C8B-B14F-4D97-AF65-F5344CB8AC3E}">
        <p14:creationId xmlns:p14="http://schemas.microsoft.com/office/powerpoint/2010/main" val="966950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048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pPr eaLnBrk="1" hangingPunct="1">
              <a:spcBef>
                <a:spcPct val="0"/>
              </a:spcBef>
            </a:pPr>
            <a:endParaRPr lang="en-US">
              <a:latin typeface="Calibri" charset="0"/>
              <a:ea typeface="MS PGothic" charset="0"/>
              <a:cs typeface="MS PGothic" charset="0"/>
            </a:endParaRPr>
          </a:p>
        </p:txBody>
      </p:sp>
      <p:sp>
        <p:nvSpPr>
          <p:cNvPr id="2048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defTabSz="455613" eaLnBrk="1" fontAlgn="base" hangingPunct="1">
              <a:spcBef>
                <a:spcPct val="0"/>
              </a:spcBef>
              <a:spcAft>
                <a:spcPct val="0"/>
              </a:spcAft>
            </a:pPr>
            <a:fld id="{58E723B5-9886-2746-B05C-4B1E75CC02E0}" type="slidenum">
              <a:rPr lang="en-US" sz="1200">
                <a:ea typeface="MS PGothic" charset="0"/>
                <a:cs typeface="MS PGothic" charset="0"/>
              </a:rPr>
              <a:pPr defTabSz="455613" eaLnBrk="1" fontAlgn="base" hangingPunct="1">
                <a:spcBef>
                  <a:spcPct val="0"/>
                </a:spcBef>
                <a:spcAft>
                  <a:spcPct val="0"/>
                </a:spcAft>
              </a:pPr>
              <a:t>11</a:t>
            </a:fld>
            <a:endParaRPr lang="en-US" sz="1200">
              <a:ea typeface="MS PGothic" charset="0"/>
              <a:cs typeface="MS PGothic" charset="0"/>
            </a:endParaRPr>
          </a:p>
        </p:txBody>
      </p:sp>
    </p:spTree>
    <p:extLst>
      <p:ext uri="{BB962C8B-B14F-4D97-AF65-F5344CB8AC3E}">
        <p14:creationId xmlns:p14="http://schemas.microsoft.com/office/powerpoint/2010/main" val="3352619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https://github.com/odpi/data-governance/tree/master/docs/roles</a:t>
            </a:r>
          </a:p>
        </p:txBody>
      </p:sp>
    </p:spTree>
    <p:extLst>
      <p:ext uri="{BB962C8B-B14F-4D97-AF65-F5344CB8AC3E}">
        <p14:creationId xmlns:p14="http://schemas.microsoft.com/office/powerpoint/2010/main" val="179124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Shape 5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52" name="Shape 52"/>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noAutofit/>
          </a:bodyPr>
          <a:lstStyle/>
          <a:p>
            <a:pPr marL="0" marR="0" lvl="0" indent="0" algn="l" rtl="0">
              <a:spcBef>
                <a:spcPts val="0"/>
              </a:spcBef>
              <a:spcAft>
                <a:spcPts val="0"/>
              </a:spcAft>
              <a:buClr>
                <a:schemeClr val="dk1"/>
              </a:buClr>
              <a:buSzPct val="25000"/>
              <a:buFont typeface="Arial"/>
              <a:buNone/>
            </a:pPr>
            <a:endParaRPr lang="en-US" sz="1100" b="0" i="0" u="none" strike="sng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27979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457200" y="720725"/>
            <a:ext cx="6400800" cy="3600450"/>
          </a:xfrm>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6386"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atin typeface="Calibri" charset="0"/>
              </a:rPr>
              <a:t>AUTOMATED – Metadata is created by application at the same as the data is created in a standard manner easily consumable for all with necessary permissions</a:t>
            </a:r>
          </a:p>
          <a:p>
            <a:r>
              <a:rPr lang="en-GB">
                <a:latin typeface="Calibri" charset="0"/>
              </a:rPr>
              <a:t>Device that took the picture / name of picture / settings picture was taken at / location geo tag of picture etc – all automatic – all done at creation of data time</a:t>
            </a:r>
          </a:p>
        </p:txBody>
      </p:sp>
      <p:sp>
        <p:nvSpPr>
          <p:cNvPr id="16387"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11800">
                <a:solidFill>
                  <a:srgbClr val="000000"/>
                </a:solidFill>
                <a:latin typeface="Gill Sans" charset="0"/>
                <a:ea typeface="ヒラギノ角ゴ ProN W3" charset="0"/>
                <a:cs typeface="ヒラギノ角ゴ ProN W3" charset="0"/>
                <a:sym typeface="Gill Sans" charset="0"/>
              </a:defRPr>
            </a:lvl1pPr>
            <a:lvl2pPr marL="785372" indent="-302066">
              <a:defRPr sz="11800">
                <a:solidFill>
                  <a:srgbClr val="000000"/>
                </a:solidFill>
                <a:latin typeface="Gill Sans" charset="0"/>
                <a:ea typeface="ヒラギノ角ゴ ProN W3" charset="0"/>
                <a:cs typeface="ヒラギノ角ゴ ProN W3" charset="0"/>
                <a:sym typeface="Gill Sans" charset="0"/>
              </a:defRPr>
            </a:lvl2pPr>
            <a:lvl3pPr marL="1208265" indent="-241653">
              <a:defRPr sz="11800">
                <a:solidFill>
                  <a:srgbClr val="000000"/>
                </a:solidFill>
                <a:latin typeface="Gill Sans" charset="0"/>
                <a:ea typeface="ヒラギノ角ゴ ProN W3" charset="0"/>
                <a:cs typeface="ヒラギノ角ゴ ProN W3" charset="0"/>
                <a:sym typeface="Gill Sans" charset="0"/>
              </a:defRPr>
            </a:lvl3pPr>
            <a:lvl4pPr marL="1691571" indent="-241653">
              <a:defRPr sz="11800">
                <a:solidFill>
                  <a:srgbClr val="000000"/>
                </a:solidFill>
                <a:latin typeface="Gill Sans" charset="0"/>
                <a:ea typeface="ヒラギノ角ゴ ProN W3" charset="0"/>
                <a:cs typeface="ヒラギノ角ゴ ProN W3" charset="0"/>
                <a:sym typeface="Gill Sans" charset="0"/>
              </a:defRPr>
            </a:lvl4pPr>
            <a:lvl5pPr marL="2174878" indent="-241653">
              <a:defRPr sz="11800">
                <a:solidFill>
                  <a:srgbClr val="000000"/>
                </a:solidFill>
                <a:latin typeface="Gill Sans" charset="0"/>
                <a:ea typeface="ヒラギノ角ゴ ProN W3" charset="0"/>
                <a:cs typeface="ヒラギノ角ゴ ProN W3" charset="0"/>
                <a:sym typeface="Gill Sans" charset="0"/>
              </a:defRPr>
            </a:lvl5pPr>
            <a:lvl6pPr marL="2658184" indent="-241653" eaLnBrk="0" fontAlgn="base" hangingPunct="0">
              <a:spcBef>
                <a:spcPct val="0"/>
              </a:spcBef>
              <a:spcAft>
                <a:spcPct val="0"/>
              </a:spcAft>
              <a:defRPr sz="11800">
                <a:solidFill>
                  <a:srgbClr val="000000"/>
                </a:solidFill>
                <a:latin typeface="Gill Sans" charset="0"/>
                <a:ea typeface="ヒラギノ角ゴ ProN W3" charset="0"/>
                <a:cs typeface="ヒラギノ角ゴ ProN W3" charset="0"/>
                <a:sym typeface="Gill Sans" charset="0"/>
              </a:defRPr>
            </a:lvl6pPr>
            <a:lvl7pPr marL="3141490" indent="-241653" eaLnBrk="0" fontAlgn="base" hangingPunct="0">
              <a:spcBef>
                <a:spcPct val="0"/>
              </a:spcBef>
              <a:spcAft>
                <a:spcPct val="0"/>
              </a:spcAft>
              <a:defRPr sz="11800">
                <a:solidFill>
                  <a:srgbClr val="000000"/>
                </a:solidFill>
                <a:latin typeface="Gill Sans" charset="0"/>
                <a:ea typeface="ヒラギノ角ゴ ProN W3" charset="0"/>
                <a:cs typeface="ヒラギノ角ゴ ProN W3" charset="0"/>
                <a:sym typeface="Gill Sans" charset="0"/>
              </a:defRPr>
            </a:lvl7pPr>
            <a:lvl8pPr marL="3624796" indent="-241653" eaLnBrk="0" fontAlgn="base" hangingPunct="0">
              <a:spcBef>
                <a:spcPct val="0"/>
              </a:spcBef>
              <a:spcAft>
                <a:spcPct val="0"/>
              </a:spcAft>
              <a:defRPr sz="11800">
                <a:solidFill>
                  <a:srgbClr val="000000"/>
                </a:solidFill>
                <a:latin typeface="Gill Sans" charset="0"/>
                <a:ea typeface="ヒラギノ角ゴ ProN W3" charset="0"/>
                <a:cs typeface="ヒラギノ角ゴ ProN W3" charset="0"/>
                <a:sym typeface="Gill Sans" charset="0"/>
              </a:defRPr>
            </a:lvl8pPr>
            <a:lvl9pPr marL="4108102" indent="-241653" eaLnBrk="0" fontAlgn="base" hangingPunct="0">
              <a:spcBef>
                <a:spcPct val="0"/>
              </a:spcBef>
              <a:spcAft>
                <a:spcPct val="0"/>
              </a:spcAft>
              <a:defRPr sz="11800">
                <a:solidFill>
                  <a:srgbClr val="000000"/>
                </a:solidFill>
                <a:latin typeface="Gill Sans" charset="0"/>
                <a:ea typeface="ヒラギノ角ゴ ProN W3" charset="0"/>
                <a:cs typeface="ヒラギノ角ゴ ProN W3" charset="0"/>
                <a:sym typeface="Gill Sans" charset="0"/>
              </a:defRPr>
            </a:lvl9pPr>
          </a:lstStyle>
          <a:p>
            <a:fld id="{35B95E78-EF2A-3D41-AD0E-E0C65D2DF675}" type="slidenum">
              <a:rPr lang="en-US" sz="1300"/>
              <a:pPr/>
              <a:t>69</a:t>
            </a:fld>
            <a:endParaRPr lang="en-US" sz="1300"/>
          </a:p>
        </p:txBody>
      </p:sp>
    </p:spTree>
    <p:extLst>
      <p:ext uri="{BB962C8B-B14F-4D97-AF65-F5344CB8AC3E}">
        <p14:creationId xmlns:p14="http://schemas.microsoft.com/office/powerpoint/2010/main" val="29250512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Shape 11"/>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t="38467"/>
          <a:stretch/>
        </p:blipFill>
        <p:spPr>
          <a:xfrm>
            <a:off x="0" y="1393373"/>
            <a:ext cx="9144000" cy="3750128"/>
          </a:xfrm>
          <a:prstGeom prst="rect">
            <a:avLst/>
          </a:prstGeom>
        </p:spPr>
      </p:pic>
      <p:sp>
        <p:nvSpPr>
          <p:cNvPr id="16" name="Shape 10"/>
          <p:cNvSpPr/>
          <p:nvPr userDrawn="1"/>
        </p:nvSpPr>
        <p:spPr>
          <a:xfrm rot="10800000" flipH="1">
            <a:off x="0" y="-2"/>
            <a:ext cx="9144000" cy="1393374"/>
          </a:xfrm>
          <a:prstGeom prst="rect">
            <a:avLst/>
          </a:prstGeom>
          <a:solidFill>
            <a:srgbClr val="6DCCD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2996" y="539823"/>
            <a:ext cx="1011335" cy="631748"/>
          </a:xfrm>
          <a:prstGeom prst="rect">
            <a:avLst/>
          </a:prstGeom>
        </p:spPr>
      </p:pic>
      <p:sp>
        <p:nvSpPr>
          <p:cNvPr id="13" name="Shape 10"/>
          <p:cNvSpPr/>
          <p:nvPr userDrawn="1"/>
        </p:nvSpPr>
        <p:spPr>
          <a:xfrm rot="10800000" flipH="1">
            <a:off x="0" y="4978036"/>
            <a:ext cx="9144000" cy="165463"/>
          </a:xfrm>
          <a:prstGeom prst="rect">
            <a:avLst/>
          </a:prstGeom>
          <a:solidFill>
            <a:srgbClr val="6DCCD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23" name="Text Placeholder 4"/>
          <p:cNvSpPr>
            <a:spLocks noGrp="1"/>
          </p:cNvSpPr>
          <p:nvPr>
            <p:ph type="body" sz="quarter" idx="10" hasCustomPrompt="1"/>
          </p:nvPr>
        </p:nvSpPr>
        <p:spPr>
          <a:xfrm>
            <a:off x="328762" y="3215062"/>
            <a:ext cx="3987599" cy="691998"/>
          </a:xfrm>
        </p:spPr>
        <p:txBody>
          <a:bodyPr/>
          <a:lstStyle>
            <a:lvl1pPr>
              <a:lnSpc>
                <a:spcPct val="100000"/>
              </a:lnSpc>
              <a:spcAft>
                <a:spcPts val="0"/>
              </a:spcAft>
              <a:defRPr sz="1700" baseline="0"/>
            </a:lvl1pPr>
          </a:lstStyle>
          <a:p>
            <a:pPr lvl="0"/>
            <a:r>
              <a:rPr lang="en-US" dirty="0"/>
              <a:t>Name</a:t>
            </a:r>
          </a:p>
          <a:p>
            <a:pPr lvl="0"/>
            <a:r>
              <a:rPr lang="en-US" dirty="0"/>
              <a:t>Title</a:t>
            </a:r>
          </a:p>
        </p:txBody>
      </p:sp>
      <p:sp>
        <p:nvSpPr>
          <p:cNvPr id="25" name="Text Placeholder 2"/>
          <p:cNvSpPr>
            <a:spLocks noGrp="1"/>
          </p:cNvSpPr>
          <p:nvPr>
            <p:ph type="body" sz="quarter" idx="11" hasCustomPrompt="1"/>
          </p:nvPr>
        </p:nvSpPr>
        <p:spPr>
          <a:xfrm>
            <a:off x="328613" y="4042786"/>
            <a:ext cx="3987800" cy="452265"/>
          </a:xfrm>
        </p:spPr>
        <p:txBody>
          <a:bodyPr/>
          <a:lstStyle/>
          <a:p>
            <a:pPr lvl="0"/>
            <a:r>
              <a:rPr lang="en-US" dirty="0"/>
              <a:t>Date</a:t>
            </a:r>
          </a:p>
        </p:txBody>
      </p:sp>
      <p:sp>
        <p:nvSpPr>
          <p:cNvPr id="27" name="Shape 15"/>
          <p:cNvSpPr txBox="1">
            <a:spLocks noGrp="1"/>
          </p:cNvSpPr>
          <p:nvPr>
            <p:ph type="title" hasCustomPrompt="1"/>
          </p:nvPr>
        </p:nvSpPr>
        <p:spPr>
          <a:xfrm>
            <a:off x="328345" y="1876358"/>
            <a:ext cx="6464342" cy="1283281"/>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chemeClr val="dk1"/>
              </a:buClr>
              <a:buFont typeface="Arial"/>
              <a:buNone/>
              <a:defRPr sz="3600" b="0" i="0" u="none" strike="noStrike" cap="none">
                <a:solidFill>
                  <a:schemeClr val="dk2"/>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r>
              <a:rPr lang="en-US" dirty="0"/>
              <a:t>Title</a:t>
            </a:r>
          </a:p>
        </p:txBody>
      </p:sp>
      <p:pic>
        <p:nvPicPr>
          <p:cNvPr id="9" name="Picture 8" descr="Screen Shot 2018-08-17 at 14.46.50.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27725" y="443874"/>
            <a:ext cx="1395971" cy="616824"/>
          </a:xfrm>
          <a:prstGeom prst="rect">
            <a:avLst/>
          </a:prstGeom>
        </p:spPr>
      </p:pic>
      <p:sp>
        <p:nvSpPr>
          <p:cNvPr id="10" name="Shape 8">
            <a:extLst>
              <a:ext uri="{FF2B5EF4-FFF2-40B4-BE49-F238E27FC236}">
                <a16:creationId xmlns:a16="http://schemas.microsoft.com/office/drawing/2014/main" id="{30782772-9EE8-BC4D-B671-350F57E81848}"/>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3972270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Shape 11"/>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t="15605"/>
          <a:stretch/>
        </p:blipFill>
        <p:spPr>
          <a:xfrm>
            <a:off x="0" y="0"/>
            <a:ext cx="9144000" cy="5143500"/>
          </a:xfrm>
          <a:prstGeom prst="rect">
            <a:avLst/>
          </a:prstGeom>
        </p:spPr>
      </p:pic>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42996" y="535880"/>
            <a:ext cx="1011335" cy="631748"/>
          </a:xfrm>
          <a:prstGeom prst="rect">
            <a:avLst/>
          </a:prstGeom>
        </p:spPr>
      </p:pic>
      <p:sp>
        <p:nvSpPr>
          <p:cNvPr id="16" name="Shape 10"/>
          <p:cNvSpPr/>
          <p:nvPr userDrawn="1"/>
        </p:nvSpPr>
        <p:spPr>
          <a:xfrm rot="10800000" flipH="1">
            <a:off x="0" y="4984398"/>
            <a:ext cx="9144000" cy="159102"/>
          </a:xfrm>
          <a:prstGeom prst="rect">
            <a:avLst/>
          </a:prstGeom>
          <a:solidFill>
            <a:srgbClr val="6DCCDE"/>
          </a:solidFill>
          <a:ln>
            <a:noFill/>
          </a:ln>
        </p:spPr>
        <p:txBody>
          <a:bodyPr lIns="91425" tIns="45700" rIns="91425" bIns="45700" anchor="ctr" anchorCtr="0">
            <a:noAutofit/>
          </a:bodyPr>
          <a:lstStyle/>
          <a:p>
            <a:pPr marL="0" marR="0" lvl="0" indent="0" algn="ctr" rtl="0">
              <a:lnSpc>
                <a:spcPct val="100000"/>
              </a:lnSpc>
              <a:spcBef>
                <a:spcPts val="0"/>
              </a:spcBef>
              <a:spcAft>
                <a:spcPts val="0"/>
              </a:spcAft>
              <a:buClr>
                <a:srgbClr val="000000"/>
              </a:buClr>
              <a:buFont typeface="Arial"/>
              <a:buNone/>
            </a:pPr>
            <a:endParaRPr sz="1400" b="0" i="0" u="none" strike="noStrike" cap="none">
              <a:solidFill>
                <a:schemeClr val="lt1"/>
              </a:solidFill>
              <a:latin typeface="Arial"/>
              <a:ea typeface="Arial"/>
              <a:cs typeface="Arial"/>
              <a:sym typeface="Arial"/>
            </a:endParaRPr>
          </a:p>
        </p:txBody>
      </p:sp>
      <p:sp>
        <p:nvSpPr>
          <p:cNvPr id="26" name="Shape 15"/>
          <p:cNvSpPr txBox="1">
            <a:spLocks noGrp="1"/>
          </p:cNvSpPr>
          <p:nvPr>
            <p:ph type="title" hasCustomPrompt="1"/>
          </p:nvPr>
        </p:nvSpPr>
        <p:spPr>
          <a:xfrm>
            <a:off x="328344" y="1876358"/>
            <a:ext cx="8118191" cy="1283281"/>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chemeClr val="dk1"/>
              </a:buClr>
              <a:buFont typeface="Arial"/>
              <a:buNone/>
              <a:defRPr sz="3600" b="0" i="0" u="none" strike="noStrike" cap="small">
                <a:solidFill>
                  <a:schemeClr val="dk2"/>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r>
              <a:rPr lang="en-US" dirty="0"/>
              <a:t>Title</a:t>
            </a:r>
            <a:endParaRPr dirty="0"/>
          </a:p>
        </p:txBody>
      </p:sp>
      <p:pic>
        <p:nvPicPr>
          <p:cNvPr id="7" name="Picture 6" descr="Screen Shot 2018-08-17 at 14.46.50.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427725" y="443874"/>
            <a:ext cx="1395971" cy="616824"/>
          </a:xfrm>
          <a:prstGeom prst="rect">
            <a:avLst/>
          </a:prstGeom>
        </p:spPr>
      </p:pic>
      <p:sp>
        <p:nvSpPr>
          <p:cNvPr id="8" name="Shape 8">
            <a:extLst>
              <a:ext uri="{FF2B5EF4-FFF2-40B4-BE49-F238E27FC236}">
                <a16:creationId xmlns:a16="http://schemas.microsoft.com/office/drawing/2014/main" id="{63848344-E58E-1C48-89A1-C7DC8AFDE558}"/>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2218161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bove) + content (1-colum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9200" y="1088135"/>
            <a:ext cx="8541385" cy="3560115"/>
          </a:xfrm>
        </p:spPr>
        <p:txBody>
          <a:bodyPr/>
          <a:lstStyle>
            <a:lvl1pPr marL="285750" indent="-285750">
              <a:buClr>
                <a:schemeClr val="accent6">
                  <a:lumMod val="50000"/>
                </a:schemeClr>
              </a:buClr>
              <a:buFont typeface="Wingdings" pitchFamily="2" charset="2"/>
              <a:buChar char="§"/>
              <a:defRPr>
                <a:solidFill>
                  <a:schemeClr val="accent6">
                    <a:lumMod val="50000"/>
                  </a:schemeClr>
                </a:solidFill>
              </a:defRPr>
            </a:lvl1pPr>
            <a:lvl2pPr marL="742950" indent="-285750">
              <a:buClr>
                <a:schemeClr val="accent6">
                  <a:lumMod val="50000"/>
                </a:schemeClr>
              </a:buClr>
              <a:buFont typeface="Wingdings" pitchFamily="2" charset="2"/>
              <a:buChar char="§"/>
              <a:defRPr>
                <a:solidFill>
                  <a:schemeClr val="accent6">
                    <a:lumMod val="50000"/>
                  </a:schemeClr>
                </a:solidFill>
              </a:defRPr>
            </a:lvl2pPr>
            <a:lvl3pPr marL="1200150" indent="-285750">
              <a:buClr>
                <a:schemeClr val="accent6">
                  <a:lumMod val="50000"/>
                </a:schemeClr>
              </a:buClr>
              <a:buFont typeface="Wingdings" pitchFamily="2" charset="2"/>
              <a:buChar char="§"/>
              <a:defRPr>
                <a:solidFill>
                  <a:schemeClr val="accent6">
                    <a:lumMod val="50000"/>
                  </a:schemeClr>
                </a:solidFill>
              </a:defRPr>
            </a:lvl3pPr>
            <a:lvl4pPr marL="1657350" indent="-285750">
              <a:buClr>
                <a:schemeClr val="accent6">
                  <a:lumMod val="50000"/>
                </a:schemeClr>
              </a:buClr>
              <a:buFont typeface="Wingdings" pitchFamily="2" charset="2"/>
              <a:buChar char="§"/>
              <a:defRPr>
                <a:solidFill>
                  <a:schemeClr val="accent6">
                    <a:lumMod val="50000"/>
                  </a:schemeClr>
                </a:solidFill>
              </a:defRPr>
            </a:lvl4pPr>
            <a:lvl5pPr marL="2114550" indent="-285750">
              <a:buClr>
                <a:schemeClr val="accent6">
                  <a:lumMod val="50000"/>
                </a:schemeClr>
              </a:buClr>
              <a:buFont typeface="Wingdings" pitchFamily="2" charset="2"/>
              <a:buChar char="§"/>
              <a:defRPr>
                <a:solidFill>
                  <a:schemeClr val="accent6">
                    <a:lumMod val="50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Title 6"/>
          <p:cNvSpPr>
            <a:spLocks noGrp="1"/>
          </p:cNvSpPr>
          <p:nvPr>
            <p:ph type="title"/>
          </p:nvPr>
        </p:nvSpPr>
        <p:spPr>
          <a:xfrm>
            <a:off x="359200" y="144708"/>
            <a:ext cx="4474777" cy="859023"/>
          </a:xfrm>
          <a:prstGeom prst="rect">
            <a:avLst/>
          </a:prstGeom>
        </p:spPr>
        <p:txBody>
          <a:bodyPr>
            <a:normAutofit/>
          </a:bodyPr>
          <a:lstStyle>
            <a:lvl1pPr>
              <a:defRPr sz="2400"/>
            </a:lvl1pPr>
          </a:lstStyle>
          <a:p>
            <a:r>
              <a:rPr lang="en-US" noProof="0"/>
              <a:t>Click to edit Master title style</a:t>
            </a:r>
          </a:p>
        </p:txBody>
      </p:sp>
      <p:sp>
        <p:nvSpPr>
          <p:cNvPr id="8" name="Rectangle 7"/>
          <p:cNvSpPr/>
          <p:nvPr userDrawn="1"/>
        </p:nvSpPr>
        <p:spPr>
          <a:xfrm>
            <a:off x="0" y="391275"/>
            <a:ext cx="359200" cy="357214"/>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hape 9">
            <a:extLst>
              <a:ext uri="{FF2B5EF4-FFF2-40B4-BE49-F238E27FC236}">
                <a16:creationId xmlns:a16="http://schemas.microsoft.com/office/drawing/2014/main" id="{89CCB5E2-86B7-DF4F-95FF-16227AB8F676}"/>
              </a:ext>
            </a:extLst>
          </p:cNvPr>
          <p:cNvSpPr txBox="1">
            <a:spLocks noGrp="1"/>
          </p:cNvSpPr>
          <p:nvPr>
            <p:ph type="ftr" idx="11"/>
          </p:nvPr>
        </p:nvSpPr>
        <p:spPr>
          <a:xfrm>
            <a:off x="2387016" y="4703626"/>
            <a:ext cx="4369961" cy="274636"/>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chemeClr val="lt2"/>
              </a:buClr>
              <a:buFont typeface="Arial"/>
              <a:buNone/>
              <a:defRPr sz="1000" b="0" i="0" u="none" strike="noStrike" cap="none">
                <a:solidFill>
                  <a:schemeClr val="lt2"/>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1" name="Shape 8">
            <a:extLst>
              <a:ext uri="{FF2B5EF4-FFF2-40B4-BE49-F238E27FC236}">
                <a16:creationId xmlns:a16="http://schemas.microsoft.com/office/drawing/2014/main" id="{EE930199-1DB9-E040-9099-9A8B2D5601A9}"/>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363171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9200" y="280673"/>
            <a:ext cx="8473099" cy="572699"/>
          </a:xfrm>
          <a:prstGeom prst="rect">
            <a:avLst/>
          </a:prstGeom>
        </p:spPr>
        <p:txBody>
          <a:bodyPr>
            <a:normAutofit/>
          </a:bodyPr>
          <a:lstStyle>
            <a:lvl1pPr>
              <a:defRPr sz="2400"/>
            </a:lvl1pPr>
          </a:lstStyle>
          <a:p>
            <a:r>
              <a:rPr lang="en-US"/>
              <a:t>Click to edit Master title style</a:t>
            </a:r>
          </a:p>
        </p:txBody>
      </p:sp>
      <p:sp>
        <p:nvSpPr>
          <p:cNvPr id="3" name="Content Placeholder 2"/>
          <p:cNvSpPr>
            <a:spLocks noGrp="1"/>
          </p:cNvSpPr>
          <p:nvPr>
            <p:ph idx="1"/>
          </p:nvPr>
        </p:nvSpPr>
        <p:spPr>
          <a:xfrm>
            <a:off x="359200" y="965874"/>
            <a:ext cx="8473100" cy="3603001"/>
          </a:xfrm>
        </p:spPr>
        <p:txBody>
          <a:bodyPr/>
          <a:lstStyle>
            <a:lvl1pPr marL="285750" indent="-285750">
              <a:spcAft>
                <a:spcPts val="400"/>
              </a:spcAft>
              <a:buClr>
                <a:schemeClr val="accent6">
                  <a:lumMod val="75000"/>
                </a:schemeClr>
              </a:buClr>
              <a:buFont typeface="Wingdings" pitchFamily="2" charset="2"/>
              <a:buChar char="§"/>
              <a:defRPr>
                <a:solidFill>
                  <a:schemeClr val="accent6">
                    <a:lumMod val="50000"/>
                  </a:schemeClr>
                </a:solidFill>
              </a:defRPr>
            </a:lvl1pPr>
            <a:lvl2pPr marL="742950" indent="-285750">
              <a:spcAft>
                <a:spcPts val="400"/>
              </a:spcAft>
              <a:buClr>
                <a:schemeClr val="accent6">
                  <a:lumMod val="75000"/>
                </a:schemeClr>
              </a:buClr>
              <a:buFont typeface="Wingdings" pitchFamily="2" charset="2"/>
              <a:buChar char="§"/>
              <a:defRPr>
                <a:solidFill>
                  <a:schemeClr val="accent6">
                    <a:lumMod val="50000"/>
                  </a:schemeClr>
                </a:solidFill>
              </a:defRPr>
            </a:lvl2pPr>
            <a:lvl3pPr marL="1200150" indent="-285750">
              <a:spcAft>
                <a:spcPts val="400"/>
              </a:spcAft>
              <a:buClr>
                <a:schemeClr val="accent6">
                  <a:lumMod val="75000"/>
                </a:schemeClr>
              </a:buClr>
              <a:buFont typeface="Wingdings" pitchFamily="2" charset="2"/>
              <a:buChar char="§"/>
              <a:defRPr>
                <a:solidFill>
                  <a:schemeClr val="accent6">
                    <a:lumMod val="50000"/>
                  </a:schemeClr>
                </a:solidFill>
              </a:defRPr>
            </a:lvl3pPr>
            <a:lvl4pPr marL="1657350" indent="-285750">
              <a:spcAft>
                <a:spcPts val="400"/>
              </a:spcAft>
              <a:buClr>
                <a:schemeClr val="accent6">
                  <a:lumMod val="75000"/>
                </a:schemeClr>
              </a:buClr>
              <a:buFont typeface="Wingdings" pitchFamily="2" charset="2"/>
              <a:buChar char="§"/>
              <a:defRPr>
                <a:solidFill>
                  <a:schemeClr val="accent6">
                    <a:lumMod val="50000"/>
                  </a:schemeClr>
                </a:solidFill>
              </a:defRPr>
            </a:lvl4pPr>
            <a:lvl5pPr marL="2114550" indent="-285750">
              <a:spcAft>
                <a:spcPts val="400"/>
              </a:spcAft>
              <a:buClr>
                <a:schemeClr val="accent6">
                  <a:lumMod val="75000"/>
                </a:schemeClr>
              </a:buClr>
              <a:buFont typeface="Wingdings" pitchFamily="2" charset="2"/>
              <a:buChar char="§"/>
              <a:defRPr>
                <a:solidFill>
                  <a:schemeClr val="accent6">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
          <p:cNvSpPr/>
          <p:nvPr userDrawn="1"/>
        </p:nvSpPr>
        <p:spPr>
          <a:xfrm>
            <a:off x="0" y="391275"/>
            <a:ext cx="359200" cy="357214"/>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hape 9">
            <a:extLst>
              <a:ext uri="{FF2B5EF4-FFF2-40B4-BE49-F238E27FC236}">
                <a16:creationId xmlns:a16="http://schemas.microsoft.com/office/drawing/2014/main" id="{54F62638-0F6C-9E44-ABE3-F347A745845A}"/>
              </a:ext>
            </a:extLst>
          </p:cNvPr>
          <p:cNvSpPr txBox="1">
            <a:spLocks noGrp="1"/>
          </p:cNvSpPr>
          <p:nvPr>
            <p:ph type="ftr" idx="11"/>
          </p:nvPr>
        </p:nvSpPr>
        <p:spPr>
          <a:xfrm>
            <a:off x="2387016" y="4703626"/>
            <a:ext cx="4369961" cy="274636"/>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chemeClr val="lt2"/>
              </a:buClr>
              <a:buFont typeface="Arial"/>
              <a:buNone/>
              <a:defRPr sz="1000" b="0" i="0" u="none" strike="noStrike" cap="none">
                <a:solidFill>
                  <a:schemeClr val="lt2"/>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7" name="Shape 8">
            <a:extLst>
              <a:ext uri="{FF2B5EF4-FFF2-40B4-BE49-F238E27FC236}">
                <a16:creationId xmlns:a16="http://schemas.microsoft.com/office/drawing/2014/main" id="{7E1EFA56-B995-2E4A-ADBD-A8A9FD436916}"/>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34508769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Shape 16"/>
        <p:cNvGrpSpPr/>
        <p:nvPr/>
      </p:nvGrpSpPr>
      <p:grpSpPr>
        <a:xfrm>
          <a:off x="0" y="0"/>
          <a:ext cx="0" cy="0"/>
          <a:chOff x="0" y="0"/>
          <a:chExt cx="0" cy="0"/>
        </a:xfrm>
      </p:grpSpPr>
      <p:sp>
        <p:nvSpPr>
          <p:cNvPr id="17" name="Shape 17"/>
          <p:cNvSpPr txBox="1">
            <a:spLocks noGrp="1"/>
          </p:cNvSpPr>
          <p:nvPr>
            <p:ph type="title" hasCustomPrompt="1"/>
          </p:nvPr>
        </p:nvSpPr>
        <p:spPr>
          <a:xfrm>
            <a:off x="359200" y="289077"/>
            <a:ext cx="8473099" cy="564772"/>
          </a:xfrm>
          <a:prstGeom prst="rect">
            <a:avLst/>
          </a:prstGeom>
          <a:noFill/>
          <a:ln>
            <a:noFill/>
          </a:ln>
        </p:spPr>
        <p:txBody>
          <a:bodyPr lIns="91425" tIns="91425" rIns="91425" bIns="91425" anchor="t" anchorCtr="0">
            <a:noAutofit/>
          </a:bodyPr>
          <a:lstStyle>
            <a:lvl1pPr marL="0" marR="0" lvl="0" indent="0" algn="l" rtl="0">
              <a:lnSpc>
                <a:spcPct val="100000"/>
              </a:lnSpc>
              <a:spcBef>
                <a:spcPts val="0"/>
              </a:spcBef>
              <a:spcAft>
                <a:spcPts val="0"/>
              </a:spcAft>
              <a:buClr>
                <a:schemeClr val="dk1"/>
              </a:buClr>
              <a:buFont typeface="Arial"/>
              <a:buNone/>
              <a:defRPr sz="2400" b="0" i="0" u="none" strike="noStrike" cap="none">
                <a:solidFill>
                  <a:srgbClr val="333333"/>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r>
              <a:rPr lang="en-US" dirty="0"/>
              <a:t>Click to add title</a:t>
            </a:r>
            <a:endParaRPr dirty="0"/>
          </a:p>
        </p:txBody>
      </p:sp>
      <p:sp>
        <p:nvSpPr>
          <p:cNvPr id="6" name="Rectangle 5"/>
          <p:cNvSpPr/>
          <p:nvPr userDrawn="1"/>
        </p:nvSpPr>
        <p:spPr>
          <a:xfrm>
            <a:off x="0" y="391275"/>
            <a:ext cx="359200" cy="357214"/>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hape 9">
            <a:extLst>
              <a:ext uri="{FF2B5EF4-FFF2-40B4-BE49-F238E27FC236}">
                <a16:creationId xmlns:a16="http://schemas.microsoft.com/office/drawing/2014/main" id="{45FB6608-D6CB-1E47-97E0-946893699D85}"/>
              </a:ext>
            </a:extLst>
          </p:cNvPr>
          <p:cNvSpPr txBox="1">
            <a:spLocks noGrp="1"/>
          </p:cNvSpPr>
          <p:nvPr>
            <p:ph type="ftr" idx="11"/>
          </p:nvPr>
        </p:nvSpPr>
        <p:spPr>
          <a:xfrm>
            <a:off x="2387016" y="4703626"/>
            <a:ext cx="4369961" cy="274636"/>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chemeClr val="lt2"/>
              </a:buClr>
              <a:buFont typeface="Arial"/>
              <a:buNone/>
              <a:defRPr sz="1000" b="0" i="0" u="none" strike="noStrike" cap="none">
                <a:solidFill>
                  <a:schemeClr val="lt2"/>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9" name="Shape 8">
            <a:extLst>
              <a:ext uri="{FF2B5EF4-FFF2-40B4-BE49-F238E27FC236}">
                <a16:creationId xmlns:a16="http://schemas.microsoft.com/office/drawing/2014/main" id="{30689E75-890B-DE48-8C2D-0BE1828F9386}"/>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18107841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Custom Layout">
    <p:spTree>
      <p:nvGrpSpPr>
        <p:cNvPr id="1" name="Shape 16"/>
        <p:cNvGrpSpPr/>
        <p:nvPr/>
      </p:nvGrpSpPr>
      <p:grpSpPr>
        <a:xfrm>
          <a:off x="0" y="0"/>
          <a:ext cx="0" cy="0"/>
          <a:chOff x="0" y="0"/>
          <a:chExt cx="0" cy="0"/>
        </a:xfrm>
      </p:grpSpPr>
      <p:sp>
        <p:nvSpPr>
          <p:cNvPr id="17" name="Shape 17"/>
          <p:cNvSpPr txBox="1">
            <a:spLocks noGrp="1"/>
          </p:cNvSpPr>
          <p:nvPr>
            <p:ph type="title" hasCustomPrompt="1"/>
          </p:nvPr>
        </p:nvSpPr>
        <p:spPr>
          <a:xfrm>
            <a:off x="359200" y="289077"/>
            <a:ext cx="8473100" cy="564772"/>
          </a:xfrm>
          <a:prstGeom prst="rect">
            <a:avLst/>
          </a:prstGeom>
          <a:noFill/>
          <a:ln>
            <a:noFill/>
          </a:ln>
        </p:spPr>
        <p:txBody>
          <a:bodyPr lIns="91425" tIns="91425" rIns="91425" bIns="91425" anchor="t" anchorCtr="0">
            <a:noAutofit/>
          </a:bodyPr>
          <a:lstStyle>
            <a:lvl1pPr marL="0" marR="0" lvl="0" indent="0" algn="l" rtl="0">
              <a:lnSpc>
                <a:spcPct val="100000"/>
              </a:lnSpc>
              <a:spcBef>
                <a:spcPts val="0"/>
              </a:spcBef>
              <a:spcAft>
                <a:spcPts val="0"/>
              </a:spcAft>
              <a:buClr>
                <a:schemeClr val="dk1"/>
              </a:buClr>
              <a:buFont typeface="Arial"/>
              <a:buNone/>
              <a:defRPr sz="2400" b="0" i="0" u="none" strike="noStrike" cap="none">
                <a:solidFill>
                  <a:srgbClr val="C00000"/>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r>
              <a:rPr lang="en-US" dirty="0"/>
              <a:t>Click to add title</a:t>
            </a:r>
            <a:endParaRPr dirty="0"/>
          </a:p>
        </p:txBody>
      </p:sp>
      <p:sp>
        <p:nvSpPr>
          <p:cNvPr id="20" name="Shape 20"/>
          <p:cNvSpPr txBox="1">
            <a:spLocks noGrp="1"/>
          </p:cNvSpPr>
          <p:nvPr>
            <p:ph type="body" idx="1"/>
          </p:nvPr>
        </p:nvSpPr>
        <p:spPr>
          <a:xfrm>
            <a:off x="359200" y="1037771"/>
            <a:ext cx="8473096" cy="3737429"/>
          </a:xfrm>
          <a:prstGeom prst="rect">
            <a:avLst/>
          </a:prstGeom>
          <a:noFill/>
          <a:ln>
            <a:noFill/>
          </a:ln>
        </p:spPr>
        <p:txBody>
          <a:bodyPr lIns="91425" tIns="91425" rIns="91425" bIns="91425" anchor="t" anchorCtr="0"/>
          <a:lstStyle>
            <a:lvl1pPr marL="0" marR="0" lvl="0" indent="0" algn="l" rtl="0">
              <a:lnSpc>
                <a:spcPct val="115000"/>
              </a:lnSpc>
              <a:spcBef>
                <a:spcPts val="0"/>
              </a:spcBef>
              <a:spcAft>
                <a:spcPts val="1600"/>
              </a:spcAft>
              <a:buClr>
                <a:schemeClr val="dk2"/>
              </a:buClr>
              <a:buFont typeface="Arial"/>
              <a:buNone/>
              <a:defRPr sz="1800" b="0" i="0" u="none" strike="noStrike" cap="none">
                <a:solidFill>
                  <a:srgbClr val="C00000"/>
                </a:solidFill>
                <a:latin typeface="Arial"/>
                <a:ea typeface="Arial"/>
                <a:cs typeface="Arial"/>
                <a:sym typeface="Arial"/>
              </a:defRPr>
            </a:lvl1pPr>
            <a:lvl2pPr marL="457189" marR="0" lvl="1"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2pPr>
            <a:lvl3pPr marL="914378" marR="0" lvl="2"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3pPr>
            <a:lvl4pPr marL="1371566" marR="0" lvl="3"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4pPr>
            <a:lvl5pPr marL="1828754" marR="0" lvl="4"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5pPr>
            <a:lvl6pPr marL="2285943" marR="0" lvl="5"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6pPr>
            <a:lvl7pPr marL="2743132" marR="0" lvl="6"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7pPr>
            <a:lvl8pPr marL="3200320" marR="0" lvl="7"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8pPr>
            <a:lvl9pPr marL="3657509" marR="0" lvl="8"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9pPr>
          </a:lstStyle>
          <a:p>
            <a:endParaRPr dirty="0"/>
          </a:p>
        </p:txBody>
      </p:sp>
      <p:sp>
        <p:nvSpPr>
          <p:cNvPr id="6" name="Rectangle 5"/>
          <p:cNvSpPr/>
          <p:nvPr userDrawn="1"/>
        </p:nvSpPr>
        <p:spPr>
          <a:xfrm>
            <a:off x="0" y="391275"/>
            <a:ext cx="359200" cy="357214"/>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Shape 8">
            <a:extLst>
              <a:ext uri="{FF2B5EF4-FFF2-40B4-BE49-F238E27FC236}">
                <a16:creationId xmlns:a16="http://schemas.microsoft.com/office/drawing/2014/main" id="{83C6D269-4A47-0542-B90B-2670FFD97F35}"/>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263495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2_Custom Layout">
    <p:spTree>
      <p:nvGrpSpPr>
        <p:cNvPr id="1" name="Shape 16"/>
        <p:cNvGrpSpPr/>
        <p:nvPr/>
      </p:nvGrpSpPr>
      <p:grpSpPr>
        <a:xfrm>
          <a:off x="0" y="0"/>
          <a:ext cx="0" cy="0"/>
          <a:chOff x="0" y="0"/>
          <a:chExt cx="0" cy="0"/>
        </a:xfrm>
      </p:grpSpPr>
      <p:sp>
        <p:nvSpPr>
          <p:cNvPr id="17" name="Shape 17"/>
          <p:cNvSpPr txBox="1">
            <a:spLocks noGrp="1"/>
          </p:cNvSpPr>
          <p:nvPr>
            <p:ph type="title" hasCustomPrompt="1"/>
          </p:nvPr>
        </p:nvSpPr>
        <p:spPr>
          <a:xfrm>
            <a:off x="311701" y="290285"/>
            <a:ext cx="8520599" cy="505507"/>
          </a:xfrm>
          <a:prstGeom prst="rect">
            <a:avLst/>
          </a:prstGeom>
          <a:noFill/>
          <a:ln>
            <a:noFill/>
          </a:ln>
        </p:spPr>
        <p:txBody>
          <a:bodyPr lIns="91425" tIns="91425" rIns="91425" bIns="91425" anchor="t" anchorCtr="0">
            <a:noAutofit/>
          </a:bodyPr>
          <a:lstStyle>
            <a:lvl1pPr marL="0" marR="0" lvl="0" indent="0" algn="l" rtl="0">
              <a:lnSpc>
                <a:spcPct val="100000"/>
              </a:lnSpc>
              <a:spcBef>
                <a:spcPts val="0"/>
              </a:spcBef>
              <a:spcAft>
                <a:spcPts val="0"/>
              </a:spcAft>
              <a:buClr>
                <a:schemeClr val="dk1"/>
              </a:buClr>
              <a:buFont typeface="Arial"/>
              <a:buNone/>
              <a:defRPr sz="2400" b="0" i="0" u="none" strike="noStrike" cap="none">
                <a:solidFill>
                  <a:srgbClr val="C00000"/>
                </a:solidFill>
                <a:latin typeface="Arial"/>
                <a:ea typeface="Arial"/>
                <a:cs typeface="Arial"/>
                <a:sym typeface="Arial"/>
              </a:defRPr>
            </a:lvl1pPr>
            <a:lvl2pPr lvl="1" indent="0">
              <a:spcBef>
                <a:spcPts val="0"/>
              </a:spcBef>
              <a:buClr>
                <a:schemeClr val="dk1"/>
              </a:buClr>
              <a:buFont typeface="Arial"/>
              <a:buNone/>
              <a:defRPr sz="2800">
                <a:solidFill>
                  <a:schemeClr val="dk1"/>
                </a:solidFill>
              </a:defRPr>
            </a:lvl2pPr>
            <a:lvl3pPr lvl="2" indent="0">
              <a:spcBef>
                <a:spcPts val="0"/>
              </a:spcBef>
              <a:buClr>
                <a:schemeClr val="dk1"/>
              </a:buClr>
              <a:buFont typeface="Arial"/>
              <a:buNone/>
              <a:defRPr sz="2800">
                <a:solidFill>
                  <a:schemeClr val="dk1"/>
                </a:solidFill>
              </a:defRPr>
            </a:lvl3pPr>
            <a:lvl4pPr lvl="3" indent="0">
              <a:spcBef>
                <a:spcPts val="0"/>
              </a:spcBef>
              <a:buClr>
                <a:schemeClr val="dk1"/>
              </a:buClr>
              <a:buFont typeface="Arial"/>
              <a:buNone/>
              <a:defRPr sz="2800">
                <a:solidFill>
                  <a:schemeClr val="dk1"/>
                </a:solidFill>
              </a:defRPr>
            </a:lvl4pPr>
            <a:lvl5pPr lvl="4" indent="0">
              <a:spcBef>
                <a:spcPts val="0"/>
              </a:spcBef>
              <a:buClr>
                <a:schemeClr val="dk1"/>
              </a:buClr>
              <a:buFont typeface="Arial"/>
              <a:buNone/>
              <a:defRPr sz="2800">
                <a:solidFill>
                  <a:schemeClr val="dk1"/>
                </a:solidFill>
              </a:defRPr>
            </a:lvl5pPr>
            <a:lvl6pPr lvl="5" indent="0">
              <a:spcBef>
                <a:spcPts val="0"/>
              </a:spcBef>
              <a:buClr>
                <a:schemeClr val="dk1"/>
              </a:buClr>
              <a:buFont typeface="Arial"/>
              <a:buNone/>
              <a:defRPr sz="2800">
                <a:solidFill>
                  <a:schemeClr val="dk1"/>
                </a:solidFill>
              </a:defRPr>
            </a:lvl6pPr>
            <a:lvl7pPr lvl="6" indent="0">
              <a:spcBef>
                <a:spcPts val="0"/>
              </a:spcBef>
              <a:buClr>
                <a:schemeClr val="dk1"/>
              </a:buClr>
              <a:buFont typeface="Arial"/>
              <a:buNone/>
              <a:defRPr sz="2800">
                <a:solidFill>
                  <a:schemeClr val="dk1"/>
                </a:solidFill>
              </a:defRPr>
            </a:lvl7pPr>
            <a:lvl8pPr lvl="7" indent="0">
              <a:spcBef>
                <a:spcPts val="0"/>
              </a:spcBef>
              <a:buClr>
                <a:schemeClr val="dk1"/>
              </a:buClr>
              <a:buFont typeface="Arial"/>
              <a:buNone/>
              <a:defRPr sz="2800">
                <a:solidFill>
                  <a:schemeClr val="dk1"/>
                </a:solidFill>
              </a:defRPr>
            </a:lvl8pPr>
            <a:lvl9pPr lvl="8" indent="0">
              <a:spcBef>
                <a:spcPts val="0"/>
              </a:spcBef>
              <a:buClr>
                <a:schemeClr val="dk1"/>
              </a:buClr>
              <a:buFont typeface="Arial"/>
              <a:buNone/>
              <a:defRPr sz="2800">
                <a:solidFill>
                  <a:schemeClr val="dk1"/>
                </a:solidFill>
              </a:defRPr>
            </a:lvl9pPr>
          </a:lstStyle>
          <a:p>
            <a:r>
              <a:rPr lang="en-US" dirty="0"/>
              <a:t>Click to add title</a:t>
            </a:r>
            <a:endParaRPr dirty="0"/>
          </a:p>
        </p:txBody>
      </p:sp>
      <p:sp>
        <p:nvSpPr>
          <p:cNvPr id="20" name="Shape 20"/>
          <p:cNvSpPr txBox="1">
            <a:spLocks noGrp="1"/>
          </p:cNvSpPr>
          <p:nvPr>
            <p:ph type="body" idx="1"/>
          </p:nvPr>
        </p:nvSpPr>
        <p:spPr>
          <a:xfrm>
            <a:off x="311147" y="1204912"/>
            <a:ext cx="8521149" cy="3182030"/>
          </a:xfrm>
          <a:prstGeom prst="rect">
            <a:avLst/>
          </a:prstGeom>
          <a:noFill/>
          <a:ln>
            <a:noFill/>
          </a:ln>
        </p:spPr>
        <p:txBody>
          <a:bodyPr lIns="91425" tIns="91425" rIns="91425" bIns="91425" anchor="t" anchorCtr="0"/>
          <a:lstStyle>
            <a:lvl1pPr marL="0" marR="0" lvl="0" indent="0" algn="l" rtl="0">
              <a:lnSpc>
                <a:spcPct val="115000"/>
              </a:lnSpc>
              <a:spcBef>
                <a:spcPts val="0"/>
              </a:spcBef>
              <a:spcAft>
                <a:spcPts val="1600"/>
              </a:spcAft>
              <a:buClr>
                <a:schemeClr val="dk2"/>
              </a:buClr>
              <a:buFont typeface="Arial"/>
              <a:buNone/>
              <a:defRPr sz="1800" b="0" i="0" u="none" strike="noStrike" cap="none">
                <a:solidFill>
                  <a:srgbClr val="C00000"/>
                </a:solidFill>
                <a:latin typeface="Arial"/>
                <a:ea typeface="Arial"/>
                <a:cs typeface="Arial"/>
                <a:sym typeface="Arial"/>
              </a:defRPr>
            </a:lvl1pPr>
            <a:lvl2pPr marL="457189" marR="0" lvl="1"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2pPr>
            <a:lvl3pPr marL="914378" marR="0" lvl="2"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3pPr>
            <a:lvl4pPr marL="1371566" marR="0" lvl="3"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4pPr>
            <a:lvl5pPr marL="1828754" marR="0" lvl="4" indent="0" algn="l" rtl="0">
              <a:lnSpc>
                <a:spcPct val="115000"/>
              </a:lnSpc>
              <a:spcBef>
                <a:spcPts val="0"/>
              </a:spcBef>
              <a:spcAft>
                <a:spcPts val="1600"/>
              </a:spcAft>
              <a:buClr>
                <a:schemeClr val="dk2"/>
              </a:buClr>
              <a:buFont typeface="Arial"/>
              <a:buNone/>
              <a:defRPr sz="1400" b="0" i="0" u="none" strike="noStrike" cap="none">
                <a:solidFill>
                  <a:schemeClr val="lt2"/>
                </a:solidFill>
                <a:latin typeface="Arial"/>
                <a:ea typeface="Arial"/>
                <a:cs typeface="Arial"/>
                <a:sym typeface="Arial"/>
              </a:defRPr>
            </a:lvl5pPr>
            <a:lvl6pPr marL="2285943" marR="0" lvl="5"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6pPr>
            <a:lvl7pPr marL="2743132" marR="0" lvl="6"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7pPr>
            <a:lvl8pPr marL="3200320" marR="0" lvl="7"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8pPr>
            <a:lvl9pPr marL="3657509" marR="0" lvl="8"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9pPr>
          </a:lstStyle>
          <a:p>
            <a:endParaRPr dirty="0"/>
          </a:p>
        </p:txBody>
      </p:sp>
      <p:sp>
        <p:nvSpPr>
          <p:cNvPr id="6" name="Rectangle 5"/>
          <p:cNvSpPr/>
          <p:nvPr userDrawn="1"/>
        </p:nvSpPr>
        <p:spPr>
          <a:xfrm>
            <a:off x="0" y="391275"/>
            <a:ext cx="359200" cy="357214"/>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7" name="Shape 8">
            <a:extLst>
              <a:ext uri="{FF2B5EF4-FFF2-40B4-BE49-F238E27FC236}">
                <a16:creationId xmlns:a16="http://schemas.microsoft.com/office/drawing/2014/main" id="{1B1A3FF0-47D0-6D46-9D37-CB8959363757}"/>
              </a:ext>
            </a:extLst>
          </p:cNvPr>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1088276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86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42436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
        <p:nvSpPr>
          <p:cNvPr id="7" name="Shape 7"/>
          <p:cNvSpPr txBox="1">
            <a:spLocks noGrp="1"/>
          </p:cNvSpPr>
          <p:nvPr>
            <p:ph type="body" idx="1"/>
          </p:nvPr>
        </p:nvSpPr>
        <p:spPr>
          <a:xfrm>
            <a:off x="311701" y="1152475"/>
            <a:ext cx="8520599" cy="3416400"/>
          </a:xfrm>
          <a:prstGeom prst="rect">
            <a:avLst/>
          </a:prstGeom>
          <a:noFill/>
          <a:ln>
            <a:noFill/>
          </a:ln>
        </p:spPr>
        <p:txBody>
          <a:bodyPr lIns="91425" tIns="91425" rIns="91425" bIns="91425" anchor="t" anchorCtr="0"/>
          <a:lstStyle>
            <a:lvl1pPr marL="0" marR="0" lvl="0" indent="0" algn="l" rtl="0">
              <a:lnSpc>
                <a:spcPct val="115000"/>
              </a:lnSpc>
              <a:spcBef>
                <a:spcPts val="0"/>
              </a:spcBef>
              <a:spcAft>
                <a:spcPts val="1600"/>
              </a:spcAft>
              <a:buClr>
                <a:schemeClr val="dk2"/>
              </a:buClr>
              <a:buFont typeface="Arial"/>
              <a:buNone/>
              <a:defRPr sz="1800" b="0" i="0" u="none" strike="noStrike" cap="none">
                <a:solidFill>
                  <a:schemeClr val="dk2"/>
                </a:solidFill>
                <a:latin typeface="Arial"/>
                <a:ea typeface="Arial"/>
                <a:cs typeface="Arial"/>
                <a:sym typeface="Arial"/>
              </a:defRPr>
            </a:lvl1pPr>
            <a:lvl2pPr marL="457200" marR="0" lvl="1"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2pPr>
            <a:lvl3pPr marL="914400" marR="0" lvl="2"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3pPr>
            <a:lvl4pPr marL="1371600" marR="0" lvl="3"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4pPr>
            <a:lvl5pPr marL="1828800" marR="0" lvl="4"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5pPr>
            <a:lvl6pPr marL="2286000" marR="0" lvl="5"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6pPr>
            <a:lvl7pPr marL="2743200" marR="0" lvl="6"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7pPr>
            <a:lvl8pPr marL="3200400" marR="0" lvl="7"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8pPr>
            <a:lvl9pPr marL="3657600" marR="0" lvl="8" indent="0" algn="l" rtl="0">
              <a:lnSpc>
                <a:spcPct val="115000"/>
              </a:lnSpc>
              <a:spcBef>
                <a:spcPts val="0"/>
              </a:spcBef>
              <a:spcAft>
                <a:spcPts val="1600"/>
              </a:spcAft>
              <a:buClr>
                <a:schemeClr val="dk2"/>
              </a:buClr>
              <a:buFont typeface="Arial"/>
              <a:buNone/>
              <a:defRPr sz="1400" b="0" i="0" u="none" strike="noStrike" cap="none">
                <a:solidFill>
                  <a:schemeClr val="dk2"/>
                </a:solidFill>
                <a:latin typeface="Arial"/>
                <a:ea typeface="Arial"/>
                <a:cs typeface="Arial"/>
                <a:sym typeface="Arial"/>
              </a:defRPr>
            </a:lvl9pPr>
          </a:lstStyle>
          <a:p>
            <a:endParaRPr dirty="0"/>
          </a:p>
        </p:txBody>
      </p:sp>
      <p:sp>
        <p:nvSpPr>
          <p:cNvPr id="9" name="Shape 9"/>
          <p:cNvSpPr txBox="1">
            <a:spLocks noGrp="1"/>
          </p:cNvSpPr>
          <p:nvPr>
            <p:ph type="ftr" idx="11"/>
          </p:nvPr>
        </p:nvSpPr>
        <p:spPr>
          <a:xfrm>
            <a:off x="2387016" y="4703626"/>
            <a:ext cx="4369961" cy="274636"/>
          </a:xfrm>
          <a:prstGeom prst="rect">
            <a:avLst/>
          </a:prstGeom>
          <a:noFill/>
          <a:ln>
            <a:noFill/>
          </a:ln>
        </p:spPr>
        <p:txBody>
          <a:bodyPr lIns="91425" tIns="91425" rIns="91425" bIns="91425" anchor="ctr" anchorCtr="0"/>
          <a:lstStyle>
            <a:lvl1pPr marL="0" marR="0" lvl="0" indent="0" algn="ctr" rtl="0">
              <a:lnSpc>
                <a:spcPct val="100000"/>
              </a:lnSpc>
              <a:spcBef>
                <a:spcPts val="0"/>
              </a:spcBef>
              <a:spcAft>
                <a:spcPts val="0"/>
              </a:spcAft>
              <a:buClr>
                <a:schemeClr val="lt2"/>
              </a:buClr>
              <a:buFont typeface="Arial"/>
              <a:buNone/>
              <a:defRPr sz="1000" b="0" i="0" u="none" strike="noStrike" cap="none">
                <a:solidFill>
                  <a:schemeClr val="lt2"/>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dirty="0"/>
          </a:p>
        </p:txBody>
      </p:sp>
      <p:sp>
        <p:nvSpPr>
          <p:cNvPr id="10" name="Shape 10"/>
          <p:cNvSpPr/>
          <p:nvPr/>
        </p:nvSpPr>
        <p:spPr>
          <a:xfrm rot="10800000" flipH="1" flipV="1">
            <a:off x="0" y="4956626"/>
            <a:ext cx="9144000" cy="180169"/>
          </a:xfrm>
          <a:prstGeom prst="rect">
            <a:avLst/>
          </a:prstGeom>
          <a:solidFill>
            <a:srgbClr val="6DCCDE"/>
          </a:solidFill>
          <a:ln>
            <a:noFill/>
          </a:ln>
        </p:spPr>
        <p:txBody>
          <a:bodyPr lIns="91425" tIns="45700" rIns="91425" bIns="45700" anchor="ctr" anchorCtr="0">
            <a:noAutofit/>
          </a:bodyPr>
          <a:lstStyle/>
          <a:p>
            <a:pPr algn="ctr"/>
            <a:r>
              <a:rPr lang="en-US" sz="1050" dirty="0"/>
              <a:t>https://github.com/odpi/egeria</a:t>
            </a:r>
          </a:p>
        </p:txBody>
      </p:sp>
      <p:sp>
        <p:nvSpPr>
          <p:cNvPr id="2" name="Title Placeholder 1"/>
          <p:cNvSpPr>
            <a:spLocks noGrp="1"/>
          </p:cNvSpPr>
          <p:nvPr>
            <p:ph type="title"/>
          </p:nvPr>
        </p:nvSpPr>
        <p:spPr>
          <a:xfrm>
            <a:off x="325859" y="215849"/>
            <a:ext cx="8520599" cy="85725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8" name="Shape 8"/>
          <p:cNvSpPr txBox="1">
            <a:spLocks noGrp="1"/>
          </p:cNvSpPr>
          <p:nvPr>
            <p:ph type="sldNum" idx="12"/>
          </p:nvPr>
        </p:nvSpPr>
        <p:spPr>
          <a:xfrm>
            <a:off x="8556782" y="4956626"/>
            <a:ext cx="548699" cy="180170"/>
          </a:xfrm>
          <a:prstGeom prst="rect">
            <a:avLst/>
          </a:prstGeom>
          <a:noFill/>
          <a:ln>
            <a:noFill/>
          </a:ln>
        </p:spPr>
        <p:txBody>
          <a:bodyPr lIns="91425" tIns="91425" rIns="91425" bIns="91425" anchor="ctr" anchorCtr="0">
            <a:noAutofit/>
          </a:bodyPr>
          <a:lstStyle>
            <a:lvl1pPr>
              <a:defRPr>
                <a:solidFill>
                  <a:schemeClr val="accent6">
                    <a:lumMod val="50000"/>
                  </a:schemeClr>
                </a:solidFill>
              </a:defRPr>
            </a:lvl1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a:t>
            </a:fld>
            <a:endParaRPr lang="en-US" sz="1000"/>
          </a:p>
        </p:txBody>
      </p:sp>
    </p:spTree>
    <p:extLst>
      <p:ext uri="{BB962C8B-B14F-4D97-AF65-F5344CB8AC3E}">
        <p14:creationId xmlns:p14="http://schemas.microsoft.com/office/powerpoint/2010/main" val="3722838945"/>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5" r:id="rId3"/>
    <p:sldLayoutId id="2147483676" r:id="rId4"/>
    <p:sldLayoutId id="2147483677" r:id="rId5"/>
    <p:sldLayoutId id="2147483678" r:id="rId6"/>
    <p:sldLayoutId id="2147483679" r:id="rId7"/>
    <p:sldLayoutId id="2147483682" r:id="rId8"/>
    <p:sldLayoutId id="2147483683"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28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85750" marR="0" lvl="0" indent="-285750" algn="l" rtl="0">
        <a:lnSpc>
          <a:spcPct val="100000"/>
        </a:lnSpc>
        <a:spcBef>
          <a:spcPts val="0"/>
        </a:spcBef>
        <a:spcAft>
          <a:spcPts val="0"/>
        </a:spcAft>
        <a:buClr>
          <a:schemeClr val="accent6">
            <a:lumMod val="50000"/>
          </a:schemeClr>
        </a:buClr>
        <a:buFont typeface="Wingdings" pitchFamily="2" charset="2"/>
        <a:buChar char="§"/>
        <a:defRPr sz="1400" b="0" i="0" u="none" strike="noStrike" cap="none">
          <a:solidFill>
            <a:schemeClr val="accent6">
              <a:lumMod val="50000"/>
            </a:schemeClr>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image" Target="../media/image5.emf"/><Relationship Id="rId1" Type="http://schemas.openxmlformats.org/officeDocument/2006/relationships/slideLayout" Target="../slideLayouts/slideLayout5.xml"/><Relationship Id="rId6" Type="http://schemas.openxmlformats.org/officeDocument/2006/relationships/image" Target="../media/image9.emf"/><Relationship Id="rId5" Type="http://schemas.openxmlformats.org/officeDocument/2006/relationships/image" Target="../media/image8.emf"/><Relationship Id="rId10" Type="http://schemas.openxmlformats.org/officeDocument/2006/relationships/hyperlink" Target="https://odpi.github.io/data-governance/coco-pharmaceuticals/personas/" TargetMode="External"/><Relationship Id="rId4" Type="http://schemas.openxmlformats.org/officeDocument/2006/relationships/image" Target="../media/image7.emf"/><Relationship Id="rId9" Type="http://schemas.openxmlformats.org/officeDocument/2006/relationships/image" Target="../media/image12.emf"/></Relationships>
</file>

<file path=ppt/slides/_rels/slide4.xml.rels><?xml version="1.0" encoding="UTF-8" standalone="yes"?>
<Relationships xmlns="http://schemas.openxmlformats.org/package/2006/relationships"><Relationship Id="rId3" Type="http://schemas.openxmlformats.org/officeDocument/2006/relationships/hyperlink" Target="https://odpi.github.io/data-governance/coco-pharmaceuticals/personas/" TargetMode="External"/><Relationship Id="rId2" Type="http://schemas.openxmlformats.org/officeDocument/2006/relationships/image" Target="../media/image5.emf"/><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36.emf"/><Relationship Id="rId3" Type="http://schemas.openxmlformats.org/officeDocument/2006/relationships/image" Target="../media/image31.emf"/><Relationship Id="rId7" Type="http://schemas.openxmlformats.org/officeDocument/2006/relationships/image" Target="../media/image35.emf"/><Relationship Id="rId2" Type="http://schemas.openxmlformats.org/officeDocument/2006/relationships/image" Target="../media/image30.emf"/><Relationship Id="rId1" Type="http://schemas.openxmlformats.org/officeDocument/2006/relationships/slideLayout" Target="../slideLayouts/slideLayout5.xml"/><Relationship Id="rId6" Type="http://schemas.openxmlformats.org/officeDocument/2006/relationships/image" Target="../media/image34.emf"/><Relationship Id="rId5" Type="http://schemas.openxmlformats.org/officeDocument/2006/relationships/image" Target="../media/image33.emf"/><Relationship Id="rId4" Type="http://schemas.openxmlformats.org/officeDocument/2006/relationships/image" Target="../media/image32.emf"/><Relationship Id="rId9" Type="http://schemas.openxmlformats.org/officeDocument/2006/relationships/image" Target="../media/image37.emf"/></Relationships>
</file>

<file path=ppt/slides/_rels/slide4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emf"/><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emf"/><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emf"/><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emf"/><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39.emf"/><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image" Target="../media/image51.emf"/><Relationship Id="rId1" Type="http://schemas.openxmlformats.org/officeDocument/2006/relationships/slideLayout" Target="../slideLayouts/slideLayout4.xml"/><Relationship Id="rId4" Type="http://schemas.openxmlformats.org/officeDocument/2006/relationships/image" Target="../media/image53.emf"/></Relationships>
</file>

<file path=ppt/slides/_rels/slide60.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9.png"/><Relationship Id="rId7" Type="http://schemas.openxmlformats.org/officeDocument/2006/relationships/image" Target="../media/image3.png"/><Relationship Id="rId2" Type="http://schemas.openxmlformats.org/officeDocument/2006/relationships/image" Target="../media/image58.png"/><Relationship Id="rId1" Type="http://schemas.openxmlformats.org/officeDocument/2006/relationships/slideLayout" Target="../slideLayouts/slideLayout4.xml"/><Relationship Id="rId6" Type="http://schemas.openxmlformats.org/officeDocument/2006/relationships/hyperlink" Target="https://hortonworks.com/" TargetMode="External"/><Relationship Id="rId5" Type="http://schemas.openxmlformats.org/officeDocument/2006/relationships/image" Target="../media/image61.png"/><Relationship Id="rId4" Type="http://schemas.openxmlformats.org/officeDocument/2006/relationships/image" Target="../media/image60.png"/></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3" Type="http://schemas.openxmlformats.org/officeDocument/2006/relationships/hyperlink" Target="https://github.com/odpi/egeria" TargetMode="External"/><Relationship Id="rId2" Type="http://schemas.openxmlformats.org/officeDocument/2006/relationships/hyperlink" Target="https://github.com/odpi/data-governance" TargetMode="External"/><Relationship Id="rId1" Type="http://schemas.openxmlformats.org/officeDocument/2006/relationships/slideLayout" Target="../slideLayouts/slideLayout4.xml"/><Relationship Id="rId6" Type="http://schemas.openxmlformats.org/officeDocument/2006/relationships/hyperlink" Target="https://youtu.be/ryd3KFWT1mc" TargetMode="External"/><Relationship Id="rId5" Type="http://schemas.openxmlformats.org/officeDocument/2006/relationships/hyperlink" Target="https://roaringelephant.org/2018/09/25/episode-107-open-metadata-and-governance-masterclass-with-mandy-chessell-part-1/" TargetMode="External"/><Relationship Id="rId4" Type="http://schemas.openxmlformats.org/officeDocument/2006/relationships/hyperlink" Target="https://odpi.github.io/data-governance/roles/" TargetMode="Externa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Governance Examples and Practices</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1</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a:t>
            </a:r>
          </a:p>
        </p:txBody>
      </p:sp>
    </p:spTree>
    <p:extLst>
      <p:ext uri="{BB962C8B-B14F-4D97-AF65-F5344CB8AC3E}">
        <p14:creationId xmlns:p14="http://schemas.microsoft.com/office/powerpoint/2010/main" val="601748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AC66BD-32CE-8B4F-B6F9-277F70B6B2BD}"/>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46636FCE-4529-8743-A4B8-C88A054DC864}"/>
              </a:ext>
            </a:extLst>
          </p:cNvPr>
          <p:cNvSpPr>
            <a:spLocks noGrp="1"/>
          </p:cNvSpPr>
          <p:nvPr>
            <p:ph idx="1"/>
          </p:nvPr>
        </p:nvSpPr>
        <p:spPr/>
        <p:txBody>
          <a:bodyPr/>
          <a:lstStyle/>
          <a:p>
            <a:r>
              <a:rPr lang="en-US" dirty="0"/>
              <a:t>Governance and information/data management is a big space and can be broken down in many ways.</a:t>
            </a:r>
          </a:p>
          <a:p>
            <a:r>
              <a:rPr lang="en-US" dirty="0"/>
              <a:t>Use the contents of the deck as ideas to build on the model you have.</a:t>
            </a:r>
          </a:p>
          <a:p>
            <a:r>
              <a:rPr lang="en-US" dirty="0"/>
              <a:t>Content</a:t>
            </a:r>
          </a:p>
          <a:p>
            <a:pPr lvl="1"/>
            <a:r>
              <a:rPr lang="en-US" dirty="0"/>
              <a:t>Data Strategy</a:t>
            </a:r>
          </a:p>
          <a:p>
            <a:pPr lvl="1"/>
            <a:r>
              <a:rPr lang="en-US" dirty="0"/>
              <a:t>Multi-faceted Governance</a:t>
            </a:r>
          </a:p>
          <a:p>
            <a:pPr lvl="1"/>
            <a:r>
              <a:rPr lang="en-US" dirty="0"/>
              <a:t>Designing Governance</a:t>
            </a:r>
          </a:p>
          <a:p>
            <a:pPr lvl="1"/>
            <a:r>
              <a:rPr lang="en-US" dirty="0"/>
              <a:t>Governance Definitions</a:t>
            </a:r>
          </a:p>
          <a:p>
            <a:pPr lvl="1"/>
            <a:r>
              <a:rPr lang="en-US" dirty="0"/>
              <a:t>Information supply chain design</a:t>
            </a:r>
          </a:p>
          <a:p>
            <a:pPr lvl="1"/>
            <a:r>
              <a:rPr lang="en-US" dirty="0"/>
              <a:t>Maturity model</a:t>
            </a:r>
          </a:p>
          <a:p>
            <a:pPr lvl="1"/>
            <a:r>
              <a:rPr lang="en-US" dirty="0"/>
              <a:t>Data models and metadata</a:t>
            </a:r>
          </a:p>
          <a:p>
            <a:pPr lvl="1"/>
            <a:r>
              <a:rPr lang="en-US" dirty="0"/>
              <a:t>ODPi Egeria</a:t>
            </a:r>
          </a:p>
        </p:txBody>
      </p:sp>
      <p:sp>
        <p:nvSpPr>
          <p:cNvPr id="3" name="Slide Number Placeholder 2">
            <a:extLst>
              <a:ext uri="{FF2B5EF4-FFF2-40B4-BE49-F238E27FC236}">
                <a16:creationId xmlns:a16="http://schemas.microsoft.com/office/drawing/2014/main" id="{4D6279A5-6259-1540-BB1B-1CCC5F8E79AA}"/>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2</a:t>
            </a:fld>
            <a:endParaRPr lang="en-US" sz="1000"/>
          </a:p>
        </p:txBody>
      </p:sp>
    </p:spTree>
    <p:extLst>
      <p:ext uri="{BB962C8B-B14F-4D97-AF65-F5344CB8AC3E}">
        <p14:creationId xmlns:p14="http://schemas.microsoft.com/office/powerpoint/2010/main" val="3727114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Coco Pharmaceuticals persona</a:t>
            </a:r>
          </a:p>
        </p:txBody>
      </p:sp>
      <p:pic>
        <p:nvPicPr>
          <p:cNvPr id="4" name="Picture 3"/>
          <p:cNvPicPr>
            <a:picLocks noChangeAspect="1"/>
          </p:cNvPicPr>
          <p:nvPr/>
        </p:nvPicPr>
        <p:blipFill>
          <a:blip r:embed="rId2"/>
          <a:stretch>
            <a:fillRect/>
          </a:stretch>
        </p:blipFill>
        <p:spPr>
          <a:xfrm>
            <a:off x="809559" y="1104628"/>
            <a:ext cx="1295500" cy="1295500"/>
          </a:xfrm>
          <a:prstGeom prst="rect">
            <a:avLst/>
          </a:prstGeom>
        </p:spPr>
      </p:pic>
      <p:pic>
        <p:nvPicPr>
          <p:cNvPr id="5" name="Picture 4"/>
          <p:cNvPicPr>
            <a:picLocks noChangeAspect="1"/>
          </p:cNvPicPr>
          <p:nvPr/>
        </p:nvPicPr>
        <p:blipFill>
          <a:blip r:embed="rId3"/>
          <a:stretch>
            <a:fillRect/>
          </a:stretch>
        </p:blipFill>
        <p:spPr>
          <a:xfrm>
            <a:off x="2807803" y="1104628"/>
            <a:ext cx="1295500" cy="1415252"/>
          </a:xfrm>
          <a:prstGeom prst="rect">
            <a:avLst/>
          </a:prstGeom>
        </p:spPr>
      </p:pic>
      <p:pic>
        <p:nvPicPr>
          <p:cNvPr id="6" name="Picture 5"/>
          <p:cNvPicPr>
            <a:picLocks noChangeAspect="1"/>
          </p:cNvPicPr>
          <p:nvPr/>
        </p:nvPicPr>
        <p:blipFill>
          <a:blip r:embed="rId4"/>
          <a:stretch>
            <a:fillRect/>
          </a:stretch>
        </p:blipFill>
        <p:spPr>
          <a:xfrm>
            <a:off x="587820" y="2710004"/>
            <a:ext cx="1491458" cy="1513231"/>
          </a:xfrm>
          <a:prstGeom prst="rect">
            <a:avLst/>
          </a:prstGeom>
        </p:spPr>
      </p:pic>
      <p:pic>
        <p:nvPicPr>
          <p:cNvPr id="7" name="Picture 6"/>
          <p:cNvPicPr>
            <a:picLocks noChangeAspect="1"/>
          </p:cNvPicPr>
          <p:nvPr/>
        </p:nvPicPr>
        <p:blipFill>
          <a:blip r:embed="rId5"/>
          <a:stretch>
            <a:fillRect/>
          </a:stretch>
        </p:blipFill>
        <p:spPr>
          <a:xfrm>
            <a:off x="4806047" y="1104628"/>
            <a:ext cx="1393479" cy="1545891"/>
          </a:xfrm>
          <a:prstGeom prst="rect">
            <a:avLst/>
          </a:prstGeom>
        </p:spPr>
      </p:pic>
      <p:pic>
        <p:nvPicPr>
          <p:cNvPr id="8" name="Picture 7"/>
          <p:cNvPicPr>
            <a:picLocks noChangeAspect="1"/>
          </p:cNvPicPr>
          <p:nvPr/>
        </p:nvPicPr>
        <p:blipFill>
          <a:blip r:embed="rId6"/>
          <a:stretch>
            <a:fillRect/>
          </a:stretch>
        </p:blipFill>
        <p:spPr>
          <a:xfrm>
            <a:off x="2556835" y="2802019"/>
            <a:ext cx="1654756" cy="1437025"/>
          </a:xfrm>
          <a:prstGeom prst="rect">
            <a:avLst/>
          </a:prstGeom>
        </p:spPr>
      </p:pic>
      <p:pic>
        <p:nvPicPr>
          <p:cNvPr id="9" name="Picture 8"/>
          <p:cNvPicPr>
            <a:picLocks noChangeAspect="1"/>
          </p:cNvPicPr>
          <p:nvPr/>
        </p:nvPicPr>
        <p:blipFill>
          <a:blip r:embed="rId7"/>
          <a:stretch>
            <a:fillRect/>
          </a:stretch>
        </p:blipFill>
        <p:spPr>
          <a:xfrm>
            <a:off x="4624372" y="2857228"/>
            <a:ext cx="1781490" cy="1415252"/>
          </a:xfrm>
          <a:prstGeom prst="rect">
            <a:avLst/>
          </a:prstGeom>
        </p:spPr>
      </p:pic>
      <p:pic>
        <p:nvPicPr>
          <p:cNvPr id="10" name="Picture 9"/>
          <p:cNvPicPr>
            <a:picLocks noChangeAspect="1"/>
          </p:cNvPicPr>
          <p:nvPr/>
        </p:nvPicPr>
        <p:blipFill>
          <a:blip r:embed="rId8"/>
          <a:stretch>
            <a:fillRect/>
          </a:stretch>
        </p:blipFill>
        <p:spPr>
          <a:xfrm>
            <a:off x="6902270" y="1104628"/>
            <a:ext cx="1121315" cy="1567664"/>
          </a:xfrm>
          <a:prstGeom prst="rect">
            <a:avLst/>
          </a:prstGeom>
        </p:spPr>
      </p:pic>
      <p:pic>
        <p:nvPicPr>
          <p:cNvPr id="11" name="Picture 10"/>
          <p:cNvPicPr>
            <a:picLocks noChangeAspect="1"/>
          </p:cNvPicPr>
          <p:nvPr/>
        </p:nvPicPr>
        <p:blipFill>
          <a:blip r:embed="rId9"/>
          <a:stretch>
            <a:fillRect/>
          </a:stretch>
        </p:blipFill>
        <p:spPr>
          <a:xfrm>
            <a:off x="7046614" y="2820422"/>
            <a:ext cx="1143088" cy="1632983"/>
          </a:xfrm>
          <a:prstGeom prst="rect">
            <a:avLst/>
          </a:prstGeom>
        </p:spPr>
      </p:pic>
      <p:sp>
        <p:nvSpPr>
          <p:cNvPr id="12" name="Rectangle 11"/>
          <p:cNvSpPr/>
          <p:nvPr/>
        </p:nvSpPr>
        <p:spPr>
          <a:xfrm>
            <a:off x="587820" y="4496280"/>
            <a:ext cx="8556180" cy="369332"/>
          </a:xfrm>
          <a:prstGeom prst="rect">
            <a:avLst/>
          </a:prstGeom>
        </p:spPr>
        <p:txBody>
          <a:bodyPr wrap="square">
            <a:spAutoFit/>
          </a:bodyPr>
          <a:lstStyle/>
          <a:p>
            <a:pPr marL="457200" lvl="1">
              <a:buClr>
                <a:schemeClr val="accent1"/>
              </a:buClr>
            </a:pPr>
            <a:r>
              <a:rPr lang="en-GB" sz="1800" dirty="0">
                <a:hlinkClick r:id="rId10"/>
              </a:rPr>
              <a:t>https://odpi.github.io/data-governance/coco-pharmaceuticals/personas/</a:t>
            </a:r>
            <a:endParaRPr lang="en-GB" sz="1800" dirty="0"/>
          </a:p>
        </p:txBody>
      </p:sp>
      <p:sp>
        <p:nvSpPr>
          <p:cNvPr id="13" name="Slide Number Placeholder 2">
            <a:extLst>
              <a:ext uri="{FF2B5EF4-FFF2-40B4-BE49-F238E27FC236}">
                <a16:creationId xmlns:a16="http://schemas.microsoft.com/office/drawing/2014/main" id="{A5C27AF8-2275-634E-A0CC-89C7F6D9815A}"/>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3</a:t>
            </a:fld>
            <a:endParaRPr lang="en-US" sz="1000"/>
          </a:p>
        </p:txBody>
      </p:sp>
    </p:spTree>
    <p:extLst>
      <p:ext uri="{BB962C8B-B14F-4D97-AF65-F5344CB8AC3E}">
        <p14:creationId xmlns:p14="http://schemas.microsoft.com/office/powerpoint/2010/main" val="29091971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Coco Pharmaceuticals persona</a:t>
            </a:r>
          </a:p>
        </p:txBody>
      </p:sp>
      <p:pic>
        <p:nvPicPr>
          <p:cNvPr id="4" name="Picture 3"/>
          <p:cNvPicPr>
            <a:picLocks noChangeAspect="1"/>
          </p:cNvPicPr>
          <p:nvPr/>
        </p:nvPicPr>
        <p:blipFill>
          <a:blip r:embed="rId2"/>
          <a:stretch>
            <a:fillRect/>
          </a:stretch>
        </p:blipFill>
        <p:spPr>
          <a:xfrm>
            <a:off x="809559" y="1104628"/>
            <a:ext cx="1295500" cy="1295500"/>
          </a:xfrm>
          <a:prstGeom prst="rect">
            <a:avLst/>
          </a:prstGeom>
        </p:spPr>
      </p:pic>
      <p:sp>
        <p:nvSpPr>
          <p:cNvPr id="12" name="Rectangle 11"/>
          <p:cNvSpPr/>
          <p:nvPr/>
        </p:nvSpPr>
        <p:spPr>
          <a:xfrm>
            <a:off x="587820" y="4496280"/>
            <a:ext cx="8556180" cy="369332"/>
          </a:xfrm>
          <a:prstGeom prst="rect">
            <a:avLst/>
          </a:prstGeom>
        </p:spPr>
        <p:txBody>
          <a:bodyPr wrap="square">
            <a:spAutoFit/>
          </a:bodyPr>
          <a:lstStyle/>
          <a:p>
            <a:pPr marL="457200" lvl="1">
              <a:buClr>
                <a:schemeClr val="accent1"/>
              </a:buClr>
            </a:pPr>
            <a:r>
              <a:rPr lang="en-GB" sz="1800" dirty="0">
                <a:hlinkClick r:id="rId3"/>
              </a:rPr>
              <a:t>https://odpi.github.io/data-governance/coco-pharmaceuticals/personas/</a:t>
            </a:r>
            <a:endParaRPr lang="en-GB" sz="1800" dirty="0"/>
          </a:p>
        </p:txBody>
      </p:sp>
      <p:sp>
        <p:nvSpPr>
          <p:cNvPr id="13" name="Slide Number Placeholder 2">
            <a:extLst>
              <a:ext uri="{FF2B5EF4-FFF2-40B4-BE49-F238E27FC236}">
                <a16:creationId xmlns:a16="http://schemas.microsoft.com/office/drawing/2014/main" id="{A5C27AF8-2275-634E-A0CC-89C7F6D9815A}"/>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a:t>
            </a:fld>
            <a:endParaRPr lang="en-US" sz="1000"/>
          </a:p>
        </p:txBody>
      </p:sp>
      <p:pic>
        <p:nvPicPr>
          <p:cNvPr id="14" name="Picture 13">
            <a:extLst>
              <a:ext uri="{FF2B5EF4-FFF2-40B4-BE49-F238E27FC236}">
                <a16:creationId xmlns:a16="http://schemas.microsoft.com/office/drawing/2014/main" id="{2314F7BA-C487-E545-8F71-0CAB05FF08C2}"/>
              </a:ext>
            </a:extLst>
          </p:cNvPr>
          <p:cNvPicPr>
            <a:picLocks noChangeAspect="1"/>
          </p:cNvPicPr>
          <p:nvPr/>
        </p:nvPicPr>
        <p:blipFill>
          <a:blip r:embed="rId4"/>
          <a:stretch>
            <a:fillRect/>
          </a:stretch>
        </p:blipFill>
        <p:spPr>
          <a:xfrm>
            <a:off x="5336398" y="0"/>
            <a:ext cx="3807602" cy="5143500"/>
          </a:xfrm>
          <a:prstGeom prst="rect">
            <a:avLst/>
          </a:prstGeom>
        </p:spPr>
      </p:pic>
    </p:spTree>
    <p:extLst>
      <p:ext uri="{BB962C8B-B14F-4D97-AF65-F5344CB8AC3E}">
        <p14:creationId xmlns:p14="http://schemas.microsoft.com/office/powerpoint/2010/main" val="70907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Data Strategy</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a:t>
            </a:r>
          </a:p>
        </p:txBody>
      </p:sp>
    </p:spTree>
    <p:extLst>
      <p:ext uri="{BB962C8B-B14F-4D97-AF65-F5344CB8AC3E}">
        <p14:creationId xmlns:p14="http://schemas.microsoft.com/office/powerpoint/2010/main" val="3444664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CACB7-C555-CF48-876D-50BB7BB4F368}"/>
              </a:ext>
            </a:extLst>
          </p:cNvPr>
          <p:cNvSpPr>
            <a:spLocks noGrp="1"/>
          </p:cNvSpPr>
          <p:nvPr>
            <p:ph type="title"/>
          </p:nvPr>
        </p:nvSpPr>
        <p:spPr/>
        <p:txBody>
          <a:bodyPr/>
          <a:lstStyle/>
          <a:p>
            <a:r>
              <a:rPr lang="en-US" dirty="0"/>
              <a:t>Data Strategy</a:t>
            </a:r>
          </a:p>
        </p:txBody>
      </p:sp>
      <p:sp>
        <p:nvSpPr>
          <p:cNvPr id="3" name="Content Placeholder 2">
            <a:extLst>
              <a:ext uri="{FF2B5EF4-FFF2-40B4-BE49-F238E27FC236}">
                <a16:creationId xmlns:a16="http://schemas.microsoft.com/office/drawing/2014/main" id="{65419BBC-1F01-0A48-8AFB-43C01B4C5E30}"/>
              </a:ext>
            </a:extLst>
          </p:cNvPr>
          <p:cNvSpPr>
            <a:spLocks noGrp="1"/>
          </p:cNvSpPr>
          <p:nvPr>
            <p:ph idx="1"/>
          </p:nvPr>
        </p:nvSpPr>
        <p:spPr/>
        <p:txBody>
          <a:bodyPr/>
          <a:lstStyle/>
          <a:p>
            <a:r>
              <a:rPr lang="en-GB" dirty="0"/>
              <a:t>The fundamental question behind any data strategy is:</a:t>
            </a:r>
          </a:p>
          <a:p>
            <a:endParaRPr lang="en-GB" dirty="0"/>
          </a:p>
          <a:p>
            <a:pPr marL="0" indent="0">
              <a:buNone/>
            </a:pPr>
            <a:r>
              <a:rPr lang="en-GB" b="1" i="1" dirty="0"/>
              <a:t>    How can data assist the organization in delivering its business strategy? </a:t>
            </a:r>
          </a:p>
          <a:p>
            <a:endParaRPr lang="en-GB" b="1" i="1" dirty="0"/>
          </a:p>
          <a:p>
            <a:r>
              <a:rPr lang="en-GB" dirty="0"/>
              <a:t>The business strategy may be to move into a new geography, radically change its operations to meet competitive challenges or to develop a new product line. </a:t>
            </a:r>
          </a:p>
          <a:p>
            <a:r>
              <a:rPr lang="en-GB" dirty="0"/>
              <a:t>Whatever the direction of the business strategy, there is always an element of internal business transformation and a need for information about the new opportunity that the business strategy embraces.</a:t>
            </a:r>
          </a:p>
          <a:p>
            <a:endParaRPr lang="en-US" dirty="0"/>
          </a:p>
        </p:txBody>
      </p:sp>
      <p:sp>
        <p:nvSpPr>
          <p:cNvPr id="4" name="Slide Number Placeholder 3">
            <a:extLst>
              <a:ext uri="{FF2B5EF4-FFF2-40B4-BE49-F238E27FC236}">
                <a16:creationId xmlns:a16="http://schemas.microsoft.com/office/drawing/2014/main" id="{8E52507C-A91E-B043-80A1-667E90D8CEFD}"/>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a:t>
            </a:fld>
            <a:endParaRPr lang="en-US" sz="1000"/>
          </a:p>
        </p:txBody>
      </p:sp>
    </p:spTree>
    <p:extLst>
      <p:ext uri="{BB962C8B-B14F-4D97-AF65-F5344CB8AC3E}">
        <p14:creationId xmlns:p14="http://schemas.microsoft.com/office/powerpoint/2010/main" val="2888026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DA02B-1DE3-1C4E-9FF5-36B82FA3234F}"/>
              </a:ext>
            </a:extLst>
          </p:cNvPr>
          <p:cNvSpPr>
            <a:spLocks noGrp="1"/>
          </p:cNvSpPr>
          <p:nvPr>
            <p:ph type="title"/>
          </p:nvPr>
        </p:nvSpPr>
        <p:spPr/>
        <p:txBody>
          <a:bodyPr/>
          <a:lstStyle/>
          <a:p>
            <a:r>
              <a:rPr lang="en-US" dirty="0"/>
              <a:t>Data Strategy Framework (example)</a:t>
            </a:r>
          </a:p>
        </p:txBody>
      </p:sp>
      <p:sp>
        <p:nvSpPr>
          <p:cNvPr id="8" name="Content Placeholder 7">
            <a:extLst>
              <a:ext uri="{FF2B5EF4-FFF2-40B4-BE49-F238E27FC236}">
                <a16:creationId xmlns:a16="http://schemas.microsoft.com/office/drawing/2014/main" id="{D2EB1D17-C385-E94B-9BD2-22275EFAFAE0}"/>
              </a:ext>
            </a:extLst>
          </p:cNvPr>
          <p:cNvSpPr>
            <a:spLocks noGrp="1"/>
          </p:cNvSpPr>
          <p:nvPr>
            <p:ph idx="1"/>
          </p:nvPr>
        </p:nvSpPr>
        <p:spPr>
          <a:xfrm>
            <a:off x="6156960" y="965874"/>
            <a:ext cx="2675340" cy="3603001"/>
          </a:xfrm>
        </p:spPr>
        <p:txBody>
          <a:bodyPr/>
          <a:lstStyle/>
          <a:p>
            <a:r>
              <a:rPr lang="en-GB" dirty="0"/>
              <a:t>Each box represents an area of focus and investment.</a:t>
            </a:r>
          </a:p>
          <a:p>
            <a:r>
              <a:rPr lang="en-GB" dirty="0"/>
              <a:t>They can be led by different teams and can each deliver concrete business value.</a:t>
            </a:r>
            <a:endParaRPr lang="en-US" dirty="0"/>
          </a:p>
        </p:txBody>
      </p:sp>
      <p:sp>
        <p:nvSpPr>
          <p:cNvPr id="3" name="Slide Number Placeholder 2">
            <a:extLst>
              <a:ext uri="{FF2B5EF4-FFF2-40B4-BE49-F238E27FC236}">
                <a16:creationId xmlns:a16="http://schemas.microsoft.com/office/drawing/2014/main" id="{4549185E-DE82-224A-8006-A231759EE601}"/>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7</a:t>
            </a:fld>
            <a:endParaRPr lang="en-US" sz="1000"/>
          </a:p>
        </p:txBody>
      </p:sp>
      <p:pic>
        <p:nvPicPr>
          <p:cNvPr id="7" name="Picture 6">
            <a:extLst>
              <a:ext uri="{FF2B5EF4-FFF2-40B4-BE49-F238E27FC236}">
                <a16:creationId xmlns:a16="http://schemas.microsoft.com/office/drawing/2014/main" id="{C8B2BFD3-83AA-174B-AD34-FBDB2694DA1A}"/>
              </a:ext>
            </a:extLst>
          </p:cNvPr>
          <p:cNvPicPr>
            <a:picLocks noChangeAspect="1"/>
          </p:cNvPicPr>
          <p:nvPr/>
        </p:nvPicPr>
        <p:blipFill>
          <a:blip r:embed="rId2"/>
          <a:stretch>
            <a:fillRect/>
          </a:stretch>
        </p:blipFill>
        <p:spPr>
          <a:xfrm>
            <a:off x="450850" y="1078376"/>
            <a:ext cx="5397026" cy="3603001"/>
          </a:xfrm>
          <a:prstGeom prst="rect">
            <a:avLst/>
          </a:prstGeom>
        </p:spPr>
      </p:pic>
    </p:spTree>
    <p:extLst>
      <p:ext uri="{BB962C8B-B14F-4D97-AF65-F5344CB8AC3E}">
        <p14:creationId xmlns:p14="http://schemas.microsoft.com/office/powerpoint/2010/main" val="735127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sosceles Triangle 2"/>
          <p:cNvSpPr/>
          <p:nvPr/>
        </p:nvSpPr>
        <p:spPr>
          <a:xfrm>
            <a:off x="1077651" y="987655"/>
            <a:ext cx="6940588" cy="3732565"/>
          </a:xfrm>
          <a:prstGeom prst="triangle">
            <a:avLst/>
          </a:prstGeom>
          <a:solidFill>
            <a:schemeClr val="accent1">
              <a:lumMod val="20000"/>
              <a:lumOff val="80000"/>
            </a:schemeClr>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6" name="Isosceles Triangle 5"/>
          <p:cNvSpPr/>
          <p:nvPr/>
        </p:nvSpPr>
        <p:spPr>
          <a:xfrm>
            <a:off x="1808914" y="986134"/>
            <a:ext cx="5478061" cy="2938831"/>
          </a:xfrm>
          <a:prstGeom prst="triangle">
            <a:avLst/>
          </a:prstGeom>
          <a:solidFill>
            <a:schemeClr val="accent4">
              <a:lumMod val="20000"/>
              <a:lumOff val="80000"/>
            </a:schemeClr>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5" name="Isosceles Triangle 4"/>
          <p:cNvSpPr/>
          <p:nvPr/>
        </p:nvSpPr>
        <p:spPr>
          <a:xfrm>
            <a:off x="2488862" y="986135"/>
            <a:ext cx="4092510" cy="2194881"/>
          </a:xfrm>
          <a:prstGeom prst="triangle">
            <a:avLst/>
          </a:prstGeom>
          <a:solidFill>
            <a:srgbClr val="92D050"/>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13" name="Isosceles Triangle 12"/>
          <p:cNvSpPr/>
          <p:nvPr/>
        </p:nvSpPr>
        <p:spPr>
          <a:xfrm>
            <a:off x="3091833" y="971789"/>
            <a:ext cx="2886566" cy="1555068"/>
          </a:xfrm>
          <a:prstGeom prst="triangle">
            <a:avLst/>
          </a:prstGeom>
          <a:solidFill>
            <a:schemeClr val="accent5">
              <a:lumMod val="20000"/>
              <a:lumOff val="80000"/>
            </a:schemeClr>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2" name="Title 1"/>
          <p:cNvSpPr>
            <a:spLocks noGrp="1"/>
          </p:cNvSpPr>
          <p:nvPr>
            <p:ph type="title"/>
          </p:nvPr>
        </p:nvSpPr>
        <p:spPr/>
        <p:txBody>
          <a:bodyPr/>
          <a:lstStyle/>
          <a:p>
            <a:r>
              <a:rPr lang="en-GB" dirty="0"/>
              <a:t>Structure of a governance program</a:t>
            </a:r>
          </a:p>
        </p:txBody>
      </p:sp>
      <p:sp>
        <p:nvSpPr>
          <p:cNvPr id="4" name="Isosceles Triangle 3"/>
          <p:cNvSpPr/>
          <p:nvPr/>
        </p:nvSpPr>
        <p:spPr>
          <a:xfrm>
            <a:off x="3707634" y="973309"/>
            <a:ext cx="1667794" cy="886559"/>
          </a:xfrm>
          <a:prstGeom prst="triangle">
            <a:avLst/>
          </a:prstGeom>
          <a:solidFill>
            <a:srgbClr val="F8CBAD"/>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7" name="Rounded Rectangle 6"/>
          <p:cNvSpPr/>
          <p:nvPr/>
        </p:nvSpPr>
        <p:spPr>
          <a:xfrm>
            <a:off x="4116617" y="1436589"/>
            <a:ext cx="885214"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Business</a:t>
            </a:r>
          </a:p>
          <a:p>
            <a:pPr algn="ctr"/>
            <a:r>
              <a:rPr lang="en-GB" sz="1000" dirty="0">
                <a:solidFill>
                  <a:srgbClr val="1F497D"/>
                </a:solidFill>
                <a:latin typeface="Calibri"/>
                <a:cs typeface="Calibri"/>
              </a:rPr>
              <a:t>Imperatives</a:t>
            </a:r>
          </a:p>
        </p:txBody>
      </p:sp>
      <p:sp>
        <p:nvSpPr>
          <p:cNvPr id="9" name="Rounded Rectangle 8"/>
          <p:cNvSpPr/>
          <p:nvPr/>
        </p:nvSpPr>
        <p:spPr>
          <a:xfrm>
            <a:off x="4706758" y="2063575"/>
            <a:ext cx="809788"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Regulations</a:t>
            </a:r>
          </a:p>
        </p:txBody>
      </p:sp>
      <p:sp>
        <p:nvSpPr>
          <p:cNvPr id="10" name="Rounded Rectangle 9"/>
          <p:cNvSpPr/>
          <p:nvPr/>
        </p:nvSpPr>
        <p:spPr>
          <a:xfrm>
            <a:off x="3106214" y="2743392"/>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Governance</a:t>
            </a:r>
          </a:p>
          <a:p>
            <a:pPr algn="ctr"/>
            <a:r>
              <a:rPr lang="en-GB" sz="1000" dirty="0">
                <a:solidFill>
                  <a:srgbClr val="1F497D"/>
                </a:solidFill>
                <a:latin typeface="Calibri"/>
                <a:cs typeface="Calibri"/>
              </a:rPr>
              <a:t>Principles</a:t>
            </a:r>
          </a:p>
        </p:txBody>
      </p:sp>
      <p:sp>
        <p:nvSpPr>
          <p:cNvPr id="11" name="Rounded Rectangle 10"/>
          <p:cNvSpPr/>
          <p:nvPr/>
        </p:nvSpPr>
        <p:spPr>
          <a:xfrm>
            <a:off x="4118169" y="2729044"/>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Governance</a:t>
            </a:r>
          </a:p>
          <a:p>
            <a:pPr algn="ctr"/>
            <a:r>
              <a:rPr lang="en-GB" sz="1000" dirty="0">
                <a:solidFill>
                  <a:srgbClr val="1F497D"/>
                </a:solidFill>
                <a:latin typeface="Calibri"/>
                <a:cs typeface="Calibri"/>
              </a:rPr>
              <a:t>Obligations</a:t>
            </a:r>
          </a:p>
        </p:txBody>
      </p:sp>
      <p:sp>
        <p:nvSpPr>
          <p:cNvPr id="12" name="Rounded Rectangle 11"/>
          <p:cNvSpPr/>
          <p:nvPr/>
        </p:nvSpPr>
        <p:spPr>
          <a:xfrm>
            <a:off x="5181442" y="2727522"/>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Governance</a:t>
            </a:r>
          </a:p>
          <a:p>
            <a:pPr algn="ctr"/>
            <a:r>
              <a:rPr lang="en-GB" sz="1000" dirty="0">
                <a:solidFill>
                  <a:srgbClr val="1F497D"/>
                </a:solidFill>
                <a:latin typeface="Calibri"/>
                <a:cs typeface="Calibri"/>
              </a:rPr>
              <a:t>Approaches</a:t>
            </a:r>
          </a:p>
        </p:txBody>
      </p:sp>
      <p:sp>
        <p:nvSpPr>
          <p:cNvPr id="14" name="Rounded Rectangle 13"/>
          <p:cNvSpPr/>
          <p:nvPr/>
        </p:nvSpPr>
        <p:spPr>
          <a:xfrm>
            <a:off x="2508561" y="3396033"/>
            <a:ext cx="1328916"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Technical Controls</a:t>
            </a:r>
          </a:p>
        </p:txBody>
      </p:sp>
      <p:sp>
        <p:nvSpPr>
          <p:cNvPr id="15" name="Rounded Rectangle 14"/>
          <p:cNvSpPr/>
          <p:nvPr/>
        </p:nvSpPr>
        <p:spPr>
          <a:xfrm>
            <a:off x="5298452" y="3381685"/>
            <a:ext cx="1417318"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Organizational Controls</a:t>
            </a:r>
          </a:p>
        </p:txBody>
      </p:sp>
      <p:sp>
        <p:nvSpPr>
          <p:cNvPr id="16" name="Rounded Rectangle 15"/>
          <p:cNvSpPr/>
          <p:nvPr/>
        </p:nvSpPr>
        <p:spPr>
          <a:xfrm>
            <a:off x="4118169" y="3396033"/>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Classifications</a:t>
            </a:r>
          </a:p>
        </p:txBody>
      </p:sp>
      <p:sp>
        <p:nvSpPr>
          <p:cNvPr id="17" name="Rounded Rectangle 16"/>
          <p:cNvSpPr/>
          <p:nvPr/>
        </p:nvSpPr>
        <p:spPr>
          <a:xfrm>
            <a:off x="2102437" y="4151287"/>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Project</a:t>
            </a:r>
          </a:p>
        </p:txBody>
      </p:sp>
      <p:sp>
        <p:nvSpPr>
          <p:cNvPr id="18" name="Rounded Rectangle 17"/>
          <p:cNvSpPr/>
          <p:nvPr/>
        </p:nvSpPr>
        <p:spPr>
          <a:xfrm>
            <a:off x="3524927" y="4149767"/>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Project</a:t>
            </a:r>
          </a:p>
        </p:txBody>
      </p:sp>
      <p:sp>
        <p:nvSpPr>
          <p:cNvPr id="19" name="Rounded Rectangle 18"/>
          <p:cNvSpPr/>
          <p:nvPr/>
        </p:nvSpPr>
        <p:spPr>
          <a:xfrm>
            <a:off x="4820672" y="4136940"/>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Project</a:t>
            </a:r>
          </a:p>
        </p:txBody>
      </p:sp>
      <p:sp>
        <p:nvSpPr>
          <p:cNvPr id="20" name="Rounded Rectangle 19"/>
          <p:cNvSpPr/>
          <p:nvPr/>
        </p:nvSpPr>
        <p:spPr>
          <a:xfrm>
            <a:off x="6193397" y="4136940"/>
            <a:ext cx="912420"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Project</a:t>
            </a:r>
          </a:p>
        </p:txBody>
      </p:sp>
      <p:sp>
        <p:nvSpPr>
          <p:cNvPr id="26" name="Down Arrow 25"/>
          <p:cNvSpPr/>
          <p:nvPr/>
        </p:nvSpPr>
        <p:spPr>
          <a:xfrm>
            <a:off x="3481917" y="2450042"/>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27" name="Down Arrow 26"/>
          <p:cNvSpPr/>
          <p:nvPr/>
        </p:nvSpPr>
        <p:spPr>
          <a:xfrm>
            <a:off x="4486275" y="2448984"/>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28" name="Down Arrow 27"/>
          <p:cNvSpPr/>
          <p:nvPr/>
        </p:nvSpPr>
        <p:spPr>
          <a:xfrm>
            <a:off x="5539317" y="2459567"/>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29" name="Down Arrow 28"/>
          <p:cNvSpPr/>
          <p:nvPr/>
        </p:nvSpPr>
        <p:spPr>
          <a:xfrm>
            <a:off x="4475692" y="1808692"/>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0" name="Down Arrow 29"/>
          <p:cNvSpPr/>
          <p:nvPr/>
        </p:nvSpPr>
        <p:spPr>
          <a:xfrm>
            <a:off x="3486150" y="3126317"/>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1" name="Down Arrow 30"/>
          <p:cNvSpPr/>
          <p:nvPr/>
        </p:nvSpPr>
        <p:spPr>
          <a:xfrm>
            <a:off x="4490508" y="3125259"/>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2" name="Down Arrow 31"/>
          <p:cNvSpPr/>
          <p:nvPr/>
        </p:nvSpPr>
        <p:spPr>
          <a:xfrm>
            <a:off x="5543550" y="3135842"/>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3" name="Down Arrow 32"/>
          <p:cNvSpPr/>
          <p:nvPr/>
        </p:nvSpPr>
        <p:spPr>
          <a:xfrm>
            <a:off x="3502025" y="3840692"/>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4" name="Down Arrow 33"/>
          <p:cNvSpPr/>
          <p:nvPr/>
        </p:nvSpPr>
        <p:spPr>
          <a:xfrm>
            <a:off x="4506383" y="3839634"/>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5" name="Down Arrow 34"/>
          <p:cNvSpPr/>
          <p:nvPr/>
        </p:nvSpPr>
        <p:spPr>
          <a:xfrm>
            <a:off x="5559425" y="3850217"/>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6" name="Down Arrow 35"/>
          <p:cNvSpPr/>
          <p:nvPr/>
        </p:nvSpPr>
        <p:spPr>
          <a:xfrm>
            <a:off x="2491317" y="3845984"/>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7" name="Down Arrow 36"/>
          <p:cNvSpPr/>
          <p:nvPr/>
        </p:nvSpPr>
        <p:spPr>
          <a:xfrm>
            <a:off x="6517218" y="3850218"/>
            <a:ext cx="148166" cy="185208"/>
          </a:xfrm>
          <a:prstGeom prst="down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39" name="Left-Right Arrow 38"/>
          <p:cNvSpPr/>
          <p:nvPr/>
        </p:nvSpPr>
        <p:spPr>
          <a:xfrm>
            <a:off x="4426068" y="2154883"/>
            <a:ext cx="269413" cy="153920"/>
          </a:xfrm>
          <a:prstGeom prst="leftRightArrow">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40" name="Left-Right Arrow 39"/>
          <p:cNvSpPr/>
          <p:nvPr/>
        </p:nvSpPr>
        <p:spPr>
          <a:xfrm>
            <a:off x="5001831" y="3487339"/>
            <a:ext cx="269413" cy="153920"/>
          </a:xfrm>
          <a:prstGeom prst="leftRightArrow">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41" name="Left-Right Arrow 40"/>
          <p:cNvSpPr/>
          <p:nvPr/>
        </p:nvSpPr>
        <p:spPr>
          <a:xfrm>
            <a:off x="3847204" y="3474512"/>
            <a:ext cx="269413" cy="153920"/>
          </a:xfrm>
          <a:prstGeom prst="leftRightArrow">
            <a:avLst/>
          </a:prstGeom>
          <a:solidFill>
            <a:srgbClr val="FFFFFF"/>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sp>
        <p:nvSpPr>
          <p:cNvPr id="21" name="TextBox 20">
            <a:extLst>
              <a:ext uri="{FF2B5EF4-FFF2-40B4-BE49-F238E27FC236}">
                <a16:creationId xmlns:a16="http://schemas.microsoft.com/office/drawing/2014/main" id="{E4F49464-D96F-7542-A243-8B94769BA9E8}"/>
              </a:ext>
            </a:extLst>
          </p:cNvPr>
          <p:cNvSpPr txBox="1"/>
          <p:nvPr/>
        </p:nvSpPr>
        <p:spPr>
          <a:xfrm>
            <a:off x="528678" y="1218535"/>
            <a:ext cx="1733061" cy="1169551"/>
          </a:xfrm>
          <a:prstGeom prst="rect">
            <a:avLst/>
          </a:prstGeom>
          <a:noFill/>
        </p:spPr>
        <p:txBody>
          <a:bodyPr wrap="square" rtlCol="0">
            <a:spAutoFit/>
          </a:bodyPr>
          <a:lstStyle/>
          <a:p>
            <a:r>
              <a:rPr lang="en-US" dirty="0"/>
              <a:t>Data strategy = </a:t>
            </a:r>
            <a:r>
              <a:rPr lang="en-US" b="1" i="1" dirty="0"/>
              <a:t>governance strategy </a:t>
            </a:r>
            <a:r>
              <a:rPr lang="en-US" dirty="0"/>
              <a:t>for data governance domain </a:t>
            </a:r>
          </a:p>
        </p:txBody>
      </p:sp>
      <p:sp>
        <p:nvSpPr>
          <p:cNvPr id="22" name="Rounded Rectangle 21">
            <a:extLst>
              <a:ext uri="{FF2B5EF4-FFF2-40B4-BE49-F238E27FC236}">
                <a16:creationId xmlns:a16="http://schemas.microsoft.com/office/drawing/2014/main" id="{A6CEBD4F-5138-A747-811C-154AAAD8D651}"/>
              </a:ext>
            </a:extLst>
          </p:cNvPr>
          <p:cNvSpPr/>
          <p:nvPr/>
        </p:nvSpPr>
        <p:spPr>
          <a:xfrm>
            <a:off x="3596894" y="2066684"/>
            <a:ext cx="809788" cy="333494"/>
          </a:xfrm>
          <a:prstGeom prst="roundRect">
            <a:avLst/>
          </a:prstGeom>
          <a:solidFill>
            <a:srgbClr val="FFFFFF"/>
          </a:solidFill>
          <a:ln w="3175" cmpd="sng">
            <a:solidFill>
              <a:schemeClr val="tx2"/>
            </a:solid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GB" sz="1000" dirty="0">
                <a:solidFill>
                  <a:srgbClr val="1F497D"/>
                </a:solidFill>
                <a:latin typeface="Calibri"/>
                <a:cs typeface="Calibri"/>
              </a:rPr>
              <a:t>Threats</a:t>
            </a:r>
          </a:p>
        </p:txBody>
      </p:sp>
    </p:spTree>
    <p:extLst>
      <p:ext uri="{BB962C8B-B14F-4D97-AF65-F5344CB8AC3E}">
        <p14:creationId xmlns:p14="http://schemas.microsoft.com/office/powerpoint/2010/main" val="3716780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B45B-2140-8E48-9CAC-28F1193414DA}"/>
              </a:ext>
            </a:extLst>
          </p:cNvPr>
          <p:cNvSpPr>
            <a:spLocks noGrp="1"/>
          </p:cNvSpPr>
          <p:nvPr>
            <p:ph type="title"/>
          </p:nvPr>
        </p:nvSpPr>
        <p:spPr/>
        <p:txBody>
          <a:bodyPr/>
          <a:lstStyle/>
          <a:p>
            <a:r>
              <a:rPr lang="en-US" dirty="0"/>
              <a:t>Governance program components</a:t>
            </a:r>
          </a:p>
        </p:txBody>
      </p:sp>
      <p:pic>
        <p:nvPicPr>
          <p:cNvPr id="5" name="Picture 4">
            <a:extLst>
              <a:ext uri="{FF2B5EF4-FFF2-40B4-BE49-F238E27FC236}">
                <a16:creationId xmlns:a16="http://schemas.microsoft.com/office/drawing/2014/main" id="{19E09E75-1ABA-A64F-819B-E0016B6C5F9E}"/>
              </a:ext>
            </a:extLst>
          </p:cNvPr>
          <p:cNvPicPr>
            <a:picLocks noChangeAspect="1"/>
          </p:cNvPicPr>
          <p:nvPr/>
        </p:nvPicPr>
        <p:blipFill>
          <a:blip r:embed="rId3"/>
          <a:stretch>
            <a:fillRect/>
          </a:stretch>
        </p:blipFill>
        <p:spPr>
          <a:xfrm>
            <a:off x="1856272" y="979509"/>
            <a:ext cx="5358660" cy="3647967"/>
          </a:xfrm>
          <a:prstGeom prst="rect">
            <a:avLst/>
          </a:prstGeom>
        </p:spPr>
      </p:pic>
      <p:sp>
        <p:nvSpPr>
          <p:cNvPr id="4" name="Slide Number Placeholder 2">
            <a:extLst>
              <a:ext uri="{FF2B5EF4-FFF2-40B4-BE49-F238E27FC236}">
                <a16:creationId xmlns:a16="http://schemas.microsoft.com/office/drawing/2014/main" id="{F4202DBB-77FE-A04E-BF21-C9D8DA218E74}"/>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9</a:t>
            </a:fld>
            <a:endParaRPr lang="en-US" sz="1000"/>
          </a:p>
        </p:txBody>
      </p:sp>
    </p:spTree>
    <p:extLst>
      <p:ext uri="{BB962C8B-B14F-4D97-AF65-F5344CB8AC3E}">
        <p14:creationId xmlns:p14="http://schemas.microsoft.com/office/powerpoint/2010/main" val="38229322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4441031" y="2662238"/>
            <a:ext cx="1610916" cy="1610916"/>
          </a:xfrm>
          <a:prstGeom prst="ellipse">
            <a:avLst/>
          </a:prstGeom>
          <a:solidFill>
            <a:srgbClr val="6DCCDE"/>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Policy</a:t>
            </a:r>
          </a:p>
        </p:txBody>
      </p:sp>
      <p:sp>
        <p:nvSpPr>
          <p:cNvPr id="19458" name="Title 1"/>
          <p:cNvSpPr>
            <a:spLocks noGrp="1"/>
          </p:cNvSpPr>
          <p:nvPr>
            <p:ph type="title"/>
          </p:nvPr>
        </p:nvSpPr>
        <p:spPr/>
        <p:txBody>
          <a:bodyPr>
            <a:normAutofit/>
          </a:bodyPr>
          <a:lstStyle/>
          <a:p>
            <a:r>
              <a:rPr lang="en-US" dirty="0">
                <a:latin typeface="Arial" charset="0"/>
                <a:ea typeface="MS PGothic" charset="0"/>
              </a:rPr>
              <a:t>Three interlocking lifecycles of governance</a:t>
            </a:r>
          </a:p>
        </p:txBody>
      </p:sp>
      <p:sp>
        <p:nvSpPr>
          <p:cNvPr id="4" name="Oval 3"/>
          <p:cNvSpPr/>
          <p:nvPr/>
        </p:nvSpPr>
        <p:spPr>
          <a:xfrm>
            <a:off x="3915967" y="1313260"/>
            <a:ext cx="1610915" cy="1610915"/>
          </a:xfrm>
          <a:prstGeom prst="ellipse">
            <a:avLst/>
          </a:prstGeom>
          <a:solidFill>
            <a:srgbClr val="C0504D"/>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Policy</a:t>
            </a:r>
          </a:p>
        </p:txBody>
      </p:sp>
      <p:sp>
        <p:nvSpPr>
          <p:cNvPr id="6" name="Oval 5"/>
          <p:cNvSpPr/>
          <p:nvPr/>
        </p:nvSpPr>
        <p:spPr>
          <a:xfrm>
            <a:off x="4051697" y="1464469"/>
            <a:ext cx="1308497" cy="1308497"/>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1350" dirty="0">
                <a:solidFill>
                  <a:srgbClr val="1F497D"/>
                </a:solidFill>
                <a:latin typeface="Calibri"/>
                <a:cs typeface="Calibri"/>
              </a:rPr>
              <a:t>Program</a:t>
            </a:r>
          </a:p>
          <a:p>
            <a:pPr algn="ctr" defTabSz="342883">
              <a:defRPr/>
            </a:pPr>
            <a:r>
              <a:rPr lang="en-US" sz="1350" dirty="0">
                <a:solidFill>
                  <a:srgbClr val="1F497D"/>
                </a:solidFill>
                <a:latin typeface="Calibri"/>
                <a:cs typeface="Calibri"/>
              </a:rPr>
              <a:t>Office</a:t>
            </a:r>
          </a:p>
        </p:txBody>
      </p:sp>
      <p:grpSp>
        <p:nvGrpSpPr>
          <p:cNvPr id="19461" name="Group 17"/>
          <p:cNvGrpSpPr>
            <a:grpSpLocks/>
          </p:cNvGrpSpPr>
          <p:nvPr/>
        </p:nvGrpSpPr>
        <p:grpSpPr bwMode="auto">
          <a:xfrm>
            <a:off x="2983706" y="2450306"/>
            <a:ext cx="1610916" cy="1610916"/>
            <a:chOff x="1422292" y="3649021"/>
            <a:chExt cx="2147840" cy="2147840"/>
          </a:xfrm>
        </p:grpSpPr>
        <p:sp>
          <p:nvSpPr>
            <p:cNvPr id="7" name="Oval 6"/>
            <p:cNvSpPr/>
            <p:nvPr/>
          </p:nvSpPr>
          <p:spPr>
            <a:xfrm>
              <a:off x="1422292" y="3649021"/>
              <a:ext cx="2147840" cy="2147840"/>
            </a:xfrm>
            <a:prstGeom prst="ellipse">
              <a:avLst/>
            </a:prstGeom>
            <a:solidFill>
              <a:srgbClr val="92D05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Policy</a:t>
              </a:r>
            </a:p>
          </p:txBody>
        </p:sp>
        <p:sp>
          <p:nvSpPr>
            <p:cNvPr id="8" name="Oval 7"/>
            <p:cNvSpPr/>
            <p:nvPr/>
          </p:nvSpPr>
          <p:spPr>
            <a:xfrm>
              <a:off x="1623900" y="3850629"/>
              <a:ext cx="1744623" cy="1744623"/>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r>
                <a:rPr lang="en-US" sz="1350" dirty="0">
                  <a:solidFill>
                    <a:srgbClr val="1F497D"/>
                  </a:solidFill>
                  <a:latin typeface="Calibri"/>
                  <a:cs typeface="Calibri"/>
                </a:rPr>
                <a:t>Operations</a:t>
              </a:r>
            </a:p>
          </p:txBody>
        </p:sp>
      </p:grpSp>
      <p:sp>
        <p:nvSpPr>
          <p:cNvPr id="10" name="Oval 9"/>
          <p:cNvSpPr/>
          <p:nvPr/>
        </p:nvSpPr>
        <p:spPr>
          <a:xfrm>
            <a:off x="4592241" y="2813447"/>
            <a:ext cx="1308497" cy="1308497"/>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1350" dirty="0">
                <a:solidFill>
                  <a:srgbClr val="1F497D"/>
                </a:solidFill>
                <a:latin typeface="Calibri"/>
                <a:cs typeface="Calibri"/>
              </a:rPr>
              <a:t>Development</a:t>
            </a:r>
          </a:p>
        </p:txBody>
      </p:sp>
      <p:grpSp>
        <p:nvGrpSpPr>
          <p:cNvPr id="19463" name="Group 13"/>
          <p:cNvGrpSpPr>
            <a:grpSpLocks/>
          </p:cNvGrpSpPr>
          <p:nvPr/>
        </p:nvGrpSpPr>
        <p:grpSpPr bwMode="auto">
          <a:xfrm>
            <a:off x="4438650" y="2667000"/>
            <a:ext cx="1610916" cy="1610916"/>
            <a:chOff x="5729274" y="3864140"/>
            <a:chExt cx="2147840" cy="2147840"/>
          </a:xfrm>
        </p:grpSpPr>
        <p:sp>
          <p:nvSpPr>
            <p:cNvPr id="11" name="Oval 10"/>
            <p:cNvSpPr/>
            <p:nvPr/>
          </p:nvSpPr>
          <p:spPr>
            <a:xfrm>
              <a:off x="5729274" y="3864140"/>
              <a:ext cx="2147840" cy="2147840"/>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12" name="Oval 11"/>
            <p:cNvSpPr/>
            <p:nvPr/>
          </p:nvSpPr>
          <p:spPr>
            <a:xfrm>
              <a:off x="5930882" y="4065748"/>
              <a:ext cx="1744623" cy="1744623"/>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endParaRPr lang="en-US" sz="1350" dirty="0">
                <a:solidFill>
                  <a:srgbClr val="1F497D"/>
                </a:solidFill>
                <a:latin typeface="Calibri"/>
                <a:cs typeface="Calibri"/>
              </a:endParaRPr>
            </a:p>
          </p:txBody>
        </p:sp>
      </p:grpSp>
      <p:grpSp>
        <p:nvGrpSpPr>
          <p:cNvPr id="19464" name="Group 14"/>
          <p:cNvGrpSpPr>
            <a:grpSpLocks/>
          </p:cNvGrpSpPr>
          <p:nvPr/>
        </p:nvGrpSpPr>
        <p:grpSpPr bwMode="auto">
          <a:xfrm>
            <a:off x="3906442" y="1314450"/>
            <a:ext cx="1610915" cy="1610916"/>
            <a:chOff x="5729274" y="3864140"/>
            <a:chExt cx="2147840" cy="2147840"/>
          </a:xfrm>
        </p:grpSpPr>
        <p:sp>
          <p:nvSpPr>
            <p:cNvPr id="16" name="Oval 15"/>
            <p:cNvSpPr/>
            <p:nvPr/>
          </p:nvSpPr>
          <p:spPr>
            <a:xfrm>
              <a:off x="5729274" y="3864140"/>
              <a:ext cx="2147840" cy="2147840"/>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17" name="Oval 16"/>
            <p:cNvSpPr/>
            <p:nvPr/>
          </p:nvSpPr>
          <p:spPr>
            <a:xfrm>
              <a:off x="5930882" y="4065748"/>
              <a:ext cx="1744625" cy="1744623"/>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endParaRPr lang="en-US" sz="1350" dirty="0">
                <a:solidFill>
                  <a:srgbClr val="1F497D"/>
                </a:solidFill>
                <a:latin typeface="Calibri"/>
                <a:cs typeface="Calibri"/>
              </a:endParaRPr>
            </a:p>
          </p:txBody>
        </p:sp>
      </p:grpSp>
      <p:sp>
        <p:nvSpPr>
          <p:cNvPr id="20" name="Chevron 19"/>
          <p:cNvSpPr/>
          <p:nvPr/>
        </p:nvSpPr>
        <p:spPr>
          <a:xfrm rot="19112267">
            <a:off x="4015978" y="1519237"/>
            <a:ext cx="366713" cy="18692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28" name="Chevron 27"/>
          <p:cNvSpPr/>
          <p:nvPr/>
        </p:nvSpPr>
        <p:spPr>
          <a:xfrm rot="10019057">
            <a:off x="3361135" y="2470548"/>
            <a:ext cx="422672" cy="177403"/>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29" name="Chevron 28"/>
          <p:cNvSpPr/>
          <p:nvPr/>
        </p:nvSpPr>
        <p:spPr>
          <a:xfrm rot="8020254">
            <a:off x="5534620" y="3893939"/>
            <a:ext cx="433388" cy="15835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0" name="Chevron 29"/>
          <p:cNvSpPr/>
          <p:nvPr/>
        </p:nvSpPr>
        <p:spPr>
          <a:xfrm rot="14925411">
            <a:off x="4358879" y="3589735"/>
            <a:ext cx="391715" cy="172640"/>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1" name="Chevron 30"/>
          <p:cNvSpPr/>
          <p:nvPr/>
        </p:nvSpPr>
        <p:spPr>
          <a:xfrm rot="2630240">
            <a:off x="5585222" y="2865835"/>
            <a:ext cx="341709" cy="176213"/>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2" name="Chevron 31"/>
          <p:cNvSpPr/>
          <p:nvPr/>
        </p:nvSpPr>
        <p:spPr>
          <a:xfrm rot="7732965">
            <a:off x="5118497" y="2414588"/>
            <a:ext cx="408385" cy="20835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3" name="Chevron 32"/>
          <p:cNvSpPr/>
          <p:nvPr/>
        </p:nvSpPr>
        <p:spPr>
          <a:xfrm rot="13782074">
            <a:off x="3888582" y="2413397"/>
            <a:ext cx="428625" cy="17859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5" name="Chevron 4"/>
          <p:cNvSpPr/>
          <p:nvPr/>
        </p:nvSpPr>
        <p:spPr>
          <a:xfrm rot="2574294">
            <a:off x="5044678" y="1519237"/>
            <a:ext cx="366713" cy="18692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4" name="Chevron 33"/>
          <p:cNvSpPr/>
          <p:nvPr/>
        </p:nvSpPr>
        <p:spPr>
          <a:xfrm rot="19973145">
            <a:off x="3867150" y="3817144"/>
            <a:ext cx="519113" cy="175022"/>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5" name="Oval 34"/>
          <p:cNvSpPr/>
          <p:nvPr/>
        </p:nvSpPr>
        <p:spPr>
          <a:xfrm>
            <a:off x="4386262" y="2747962"/>
            <a:ext cx="376238" cy="376238"/>
          </a:xfrm>
          <a:prstGeom prst="ellipse">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675" dirty="0">
                <a:solidFill>
                  <a:schemeClr val="bg1"/>
                </a:solidFill>
                <a:latin typeface="Calibri"/>
                <a:cs typeface="Calibri"/>
              </a:rPr>
              <a:t>Metadata</a:t>
            </a:r>
          </a:p>
        </p:txBody>
      </p:sp>
      <p:sp>
        <p:nvSpPr>
          <p:cNvPr id="19475" name="TextBox 49"/>
          <p:cNvSpPr txBox="1">
            <a:spLocks noChangeArrowheads="1"/>
          </p:cNvSpPr>
          <p:nvPr/>
        </p:nvSpPr>
        <p:spPr bwMode="auto">
          <a:xfrm rot="19878537" flipH="1">
            <a:off x="3904418" y="3804219"/>
            <a:ext cx="476725"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Remediate</a:t>
            </a:r>
          </a:p>
        </p:txBody>
      </p:sp>
      <p:sp>
        <p:nvSpPr>
          <p:cNvPr id="19476" name="TextBox 50"/>
          <p:cNvSpPr txBox="1">
            <a:spLocks noChangeArrowheads="1"/>
          </p:cNvSpPr>
          <p:nvPr/>
        </p:nvSpPr>
        <p:spPr bwMode="auto">
          <a:xfrm rot="4186485" flipH="1">
            <a:off x="4376279" y="3569667"/>
            <a:ext cx="358103"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Deploy</a:t>
            </a:r>
          </a:p>
        </p:txBody>
      </p:sp>
      <p:sp>
        <p:nvSpPr>
          <p:cNvPr id="19477" name="TextBox 51"/>
          <p:cNvSpPr txBox="1">
            <a:spLocks noChangeArrowheads="1"/>
          </p:cNvSpPr>
          <p:nvPr/>
        </p:nvSpPr>
        <p:spPr bwMode="auto">
          <a:xfrm rot="18847926" flipH="1">
            <a:off x="5535167" y="3897683"/>
            <a:ext cx="396575"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Develop</a:t>
            </a:r>
          </a:p>
        </p:txBody>
      </p:sp>
      <p:sp>
        <p:nvSpPr>
          <p:cNvPr id="19478" name="TextBox 52"/>
          <p:cNvSpPr txBox="1">
            <a:spLocks noChangeArrowheads="1"/>
          </p:cNvSpPr>
          <p:nvPr/>
        </p:nvSpPr>
        <p:spPr bwMode="auto">
          <a:xfrm rot="20849530" flipH="1">
            <a:off x="3365370" y="2477863"/>
            <a:ext cx="372530"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Classify</a:t>
            </a:r>
          </a:p>
        </p:txBody>
      </p:sp>
      <p:sp>
        <p:nvSpPr>
          <p:cNvPr id="19479" name="TextBox 53"/>
          <p:cNvSpPr txBox="1">
            <a:spLocks noChangeArrowheads="1"/>
          </p:cNvSpPr>
          <p:nvPr/>
        </p:nvSpPr>
        <p:spPr bwMode="auto">
          <a:xfrm rot="18610994" flipH="1">
            <a:off x="5110597" y="2460003"/>
            <a:ext cx="37894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Roll out</a:t>
            </a:r>
          </a:p>
        </p:txBody>
      </p:sp>
      <p:sp>
        <p:nvSpPr>
          <p:cNvPr id="19480" name="TextBox 54"/>
          <p:cNvSpPr txBox="1">
            <a:spLocks noChangeArrowheads="1"/>
          </p:cNvSpPr>
          <p:nvPr/>
        </p:nvSpPr>
        <p:spPr bwMode="auto">
          <a:xfrm rot="3045222" flipH="1">
            <a:off x="3894693" y="2401068"/>
            <a:ext cx="39497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Monitor</a:t>
            </a:r>
          </a:p>
        </p:txBody>
      </p:sp>
      <p:sp>
        <p:nvSpPr>
          <p:cNvPr id="19481" name="TextBox 55"/>
          <p:cNvSpPr txBox="1">
            <a:spLocks noChangeArrowheads="1"/>
          </p:cNvSpPr>
          <p:nvPr/>
        </p:nvSpPr>
        <p:spPr bwMode="auto">
          <a:xfrm rot="18886076" flipH="1">
            <a:off x="4049502" y="1507504"/>
            <a:ext cx="306807"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Audit</a:t>
            </a:r>
          </a:p>
        </p:txBody>
      </p:sp>
      <p:sp>
        <p:nvSpPr>
          <p:cNvPr id="19482" name="TextBox 56"/>
          <p:cNvSpPr txBox="1">
            <a:spLocks noChangeArrowheads="1"/>
          </p:cNvSpPr>
          <p:nvPr/>
        </p:nvSpPr>
        <p:spPr bwMode="auto">
          <a:xfrm rot="2593117" flipH="1">
            <a:off x="5076231" y="1542032"/>
            <a:ext cx="345279"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Define</a:t>
            </a:r>
          </a:p>
        </p:txBody>
      </p:sp>
      <p:sp>
        <p:nvSpPr>
          <p:cNvPr id="19483" name="TextBox 57"/>
          <p:cNvSpPr txBox="1">
            <a:spLocks noChangeArrowheads="1"/>
          </p:cNvSpPr>
          <p:nvPr/>
        </p:nvSpPr>
        <p:spPr bwMode="auto">
          <a:xfrm rot="2506401" flipH="1">
            <a:off x="5600678" y="2877318"/>
            <a:ext cx="350088"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Design</a:t>
            </a:r>
          </a:p>
        </p:txBody>
      </p:sp>
      <p:sp>
        <p:nvSpPr>
          <p:cNvPr id="73" name="Chevron 72"/>
          <p:cNvSpPr/>
          <p:nvPr/>
        </p:nvSpPr>
        <p:spPr>
          <a:xfrm rot="2548638">
            <a:off x="3099197" y="3712369"/>
            <a:ext cx="422672" cy="17740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19485" name="TextBox 73"/>
          <p:cNvSpPr txBox="1">
            <a:spLocks noChangeArrowheads="1"/>
          </p:cNvSpPr>
          <p:nvPr/>
        </p:nvSpPr>
        <p:spPr bwMode="auto">
          <a:xfrm rot="2403541" flipH="1">
            <a:off x="3157928" y="3725043"/>
            <a:ext cx="34688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Detect</a:t>
            </a:r>
          </a:p>
        </p:txBody>
      </p:sp>
      <p:sp>
        <p:nvSpPr>
          <p:cNvPr id="37" name="Chevron 36"/>
          <p:cNvSpPr/>
          <p:nvPr/>
        </p:nvSpPr>
        <p:spPr>
          <a:xfrm rot="6165947">
            <a:off x="2872978" y="3011091"/>
            <a:ext cx="422672" cy="17740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19487" name="TextBox 52"/>
          <p:cNvSpPr txBox="1">
            <a:spLocks noChangeArrowheads="1"/>
          </p:cNvSpPr>
          <p:nvPr/>
        </p:nvSpPr>
        <p:spPr bwMode="auto">
          <a:xfrm rot="16996420" flipH="1">
            <a:off x="2880532" y="3041029"/>
            <a:ext cx="383751"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Execute</a:t>
            </a:r>
          </a:p>
        </p:txBody>
      </p:sp>
    </p:spTree>
    <p:extLst>
      <p:ext uri="{BB962C8B-B14F-4D97-AF65-F5344CB8AC3E}">
        <p14:creationId xmlns:p14="http://schemas.microsoft.com/office/powerpoint/2010/main" val="1931449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4441031" y="2662238"/>
            <a:ext cx="1610916" cy="1610916"/>
          </a:xfrm>
          <a:prstGeom prst="ellipse">
            <a:avLst/>
          </a:prstGeom>
          <a:solidFill>
            <a:srgbClr val="6DCCDE"/>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Policy</a:t>
            </a:r>
          </a:p>
        </p:txBody>
      </p:sp>
      <p:sp>
        <p:nvSpPr>
          <p:cNvPr id="19458" name="Title 1"/>
          <p:cNvSpPr>
            <a:spLocks noGrp="1"/>
          </p:cNvSpPr>
          <p:nvPr>
            <p:ph type="title"/>
          </p:nvPr>
        </p:nvSpPr>
        <p:spPr/>
        <p:txBody>
          <a:bodyPr>
            <a:normAutofit/>
          </a:bodyPr>
          <a:lstStyle/>
          <a:p>
            <a:r>
              <a:rPr lang="en-US" dirty="0">
                <a:latin typeface="Arial" charset="0"/>
                <a:ea typeface="MS PGothic" charset="0"/>
              </a:rPr>
              <a:t>Three interlocking lifecycles of data/information governance</a:t>
            </a:r>
          </a:p>
        </p:txBody>
      </p:sp>
      <p:sp>
        <p:nvSpPr>
          <p:cNvPr id="4" name="Oval 3"/>
          <p:cNvSpPr/>
          <p:nvPr/>
        </p:nvSpPr>
        <p:spPr>
          <a:xfrm>
            <a:off x="3915967" y="1313260"/>
            <a:ext cx="1610915" cy="1610915"/>
          </a:xfrm>
          <a:prstGeom prst="ellipse">
            <a:avLst/>
          </a:prstGeom>
          <a:solidFill>
            <a:srgbClr val="C0504D"/>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Policy</a:t>
            </a:r>
          </a:p>
        </p:txBody>
      </p:sp>
      <p:sp>
        <p:nvSpPr>
          <p:cNvPr id="6" name="Oval 5"/>
          <p:cNvSpPr/>
          <p:nvPr/>
        </p:nvSpPr>
        <p:spPr>
          <a:xfrm>
            <a:off x="4051697" y="1464469"/>
            <a:ext cx="1308497" cy="1308497"/>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1350" dirty="0">
                <a:solidFill>
                  <a:srgbClr val="1F497D"/>
                </a:solidFill>
                <a:latin typeface="Calibri"/>
                <a:cs typeface="Calibri"/>
              </a:rPr>
              <a:t>Program</a:t>
            </a:r>
          </a:p>
          <a:p>
            <a:pPr algn="ctr" defTabSz="342883">
              <a:defRPr/>
            </a:pPr>
            <a:r>
              <a:rPr lang="en-US" sz="1350" dirty="0">
                <a:solidFill>
                  <a:srgbClr val="1F497D"/>
                </a:solidFill>
                <a:latin typeface="Calibri"/>
                <a:cs typeface="Calibri"/>
              </a:rPr>
              <a:t>Office</a:t>
            </a:r>
          </a:p>
        </p:txBody>
      </p:sp>
      <p:grpSp>
        <p:nvGrpSpPr>
          <p:cNvPr id="19461" name="Group 17"/>
          <p:cNvGrpSpPr>
            <a:grpSpLocks/>
          </p:cNvGrpSpPr>
          <p:nvPr/>
        </p:nvGrpSpPr>
        <p:grpSpPr bwMode="auto">
          <a:xfrm>
            <a:off x="2983706" y="2450306"/>
            <a:ext cx="1610916" cy="1610916"/>
            <a:chOff x="1422292" y="3649021"/>
            <a:chExt cx="2147840" cy="2147840"/>
          </a:xfrm>
        </p:grpSpPr>
        <p:sp>
          <p:nvSpPr>
            <p:cNvPr id="7" name="Oval 6"/>
            <p:cNvSpPr/>
            <p:nvPr/>
          </p:nvSpPr>
          <p:spPr>
            <a:xfrm>
              <a:off x="1422292" y="3649021"/>
              <a:ext cx="2147840" cy="2147840"/>
            </a:xfrm>
            <a:prstGeom prst="ellipse">
              <a:avLst/>
            </a:prstGeom>
            <a:solidFill>
              <a:srgbClr val="92D05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Policy</a:t>
              </a:r>
            </a:p>
          </p:txBody>
        </p:sp>
        <p:sp>
          <p:nvSpPr>
            <p:cNvPr id="8" name="Oval 7"/>
            <p:cNvSpPr/>
            <p:nvPr/>
          </p:nvSpPr>
          <p:spPr>
            <a:xfrm>
              <a:off x="1623900" y="3850629"/>
              <a:ext cx="1744623" cy="1744623"/>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r>
                <a:rPr lang="en-US" sz="1350" dirty="0">
                  <a:solidFill>
                    <a:srgbClr val="1F497D"/>
                  </a:solidFill>
                  <a:latin typeface="Calibri"/>
                  <a:cs typeface="Calibri"/>
                </a:rPr>
                <a:t>Operations</a:t>
              </a:r>
            </a:p>
          </p:txBody>
        </p:sp>
      </p:grpSp>
      <p:sp>
        <p:nvSpPr>
          <p:cNvPr id="10" name="Oval 9"/>
          <p:cNvSpPr/>
          <p:nvPr/>
        </p:nvSpPr>
        <p:spPr>
          <a:xfrm>
            <a:off x="4592241" y="2813447"/>
            <a:ext cx="1308497" cy="1308497"/>
          </a:xfrm>
          <a:prstGeom prst="ellips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1350" dirty="0">
                <a:solidFill>
                  <a:srgbClr val="1F497D"/>
                </a:solidFill>
                <a:latin typeface="Calibri"/>
                <a:cs typeface="Calibri"/>
              </a:rPr>
              <a:t>Development</a:t>
            </a:r>
          </a:p>
        </p:txBody>
      </p:sp>
      <p:grpSp>
        <p:nvGrpSpPr>
          <p:cNvPr id="19463" name="Group 13"/>
          <p:cNvGrpSpPr>
            <a:grpSpLocks/>
          </p:cNvGrpSpPr>
          <p:nvPr/>
        </p:nvGrpSpPr>
        <p:grpSpPr bwMode="auto">
          <a:xfrm>
            <a:off x="4438650" y="2667000"/>
            <a:ext cx="1610916" cy="1610916"/>
            <a:chOff x="5729274" y="3864140"/>
            <a:chExt cx="2147840" cy="2147840"/>
          </a:xfrm>
        </p:grpSpPr>
        <p:sp>
          <p:nvSpPr>
            <p:cNvPr id="11" name="Oval 10"/>
            <p:cNvSpPr/>
            <p:nvPr/>
          </p:nvSpPr>
          <p:spPr>
            <a:xfrm>
              <a:off x="5729274" y="3864140"/>
              <a:ext cx="2147840" cy="2147840"/>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12" name="Oval 11"/>
            <p:cNvSpPr/>
            <p:nvPr/>
          </p:nvSpPr>
          <p:spPr>
            <a:xfrm>
              <a:off x="5930882" y="4065748"/>
              <a:ext cx="1744623" cy="1744623"/>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endParaRPr lang="en-US" sz="1350" dirty="0">
                <a:solidFill>
                  <a:srgbClr val="1F497D"/>
                </a:solidFill>
                <a:latin typeface="Calibri"/>
                <a:cs typeface="Calibri"/>
              </a:endParaRPr>
            </a:p>
          </p:txBody>
        </p:sp>
      </p:grpSp>
      <p:grpSp>
        <p:nvGrpSpPr>
          <p:cNvPr id="19464" name="Group 14"/>
          <p:cNvGrpSpPr>
            <a:grpSpLocks/>
          </p:cNvGrpSpPr>
          <p:nvPr/>
        </p:nvGrpSpPr>
        <p:grpSpPr bwMode="auto">
          <a:xfrm>
            <a:off x="3906442" y="1314450"/>
            <a:ext cx="1610915" cy="1610916"/>
            <a:chOff x="5729274" y="3864140"/>
            <a:chExt cx="2147840" cy="2147840"/>
          </a:xfrm>
        </p:grpSpPr>
        <p:sp>
          <p:nvSpPr>
            <p:cNvPr id="16" name="Oval 15"/>
            <p:cNvSpPr/>
            <p:nvPr/>
          </p:nvSpPr>
          <p:spPr>
            <a:xfrm>
              <a:off x="5729274" y="3864140"/>
              <a:ext cx="2147840" cy="2147840"/>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17" name="Oval 16"/>
            <p:cNvSpPr/>
            <p:nvPr/>
          </p:nvSpPr>
          <p:spPr>
            <a:xfrm>
              <a:off x="5930882" y="4065748"/>
              <a:ext cx="1744625" cy="1744623"/>
            </a:xfrm>
            <a:prstGeom prst="ellipse">
              <a:avLst/>
            </a:pr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endParaRPr lang="en-US" sz="1350" dirty="0">
                <a:solidFill>
                  <a:srgbClr val="1F497D"/>
                </a:solidFill>
                <a:latin typeface="Calibri"/>
                <a:cs typeface="Calibri"/>
              </a:endParaRPr>
            </a:p>
          </p:txBody>
        </p:sp>
      </p:grpSp>
      <p:sp>
        <p:nvSpPr>
          <p:cNvPr id="20" name="Chevron 19"/>
          <p:cNvSpPr/>
          <p:nvPr/>
        </p:nvSpPr>
        <p:spPr>
          <a:xfrm rot="19112267">
            <a:off x="4015978" y="1519237"/>
            <a:ext cx="366713" cy="18692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28" name="Chevron 27"/>
          <p:cNvSpPr/>
          <p:nvPr/>
        </p:nvSpPr>
        <p:spPr>
          <a:xfrm rot="10019057">
            <a:off x="3361135" y="2470548"/>
            <a:ext cx="422672" cy="177403"/>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29" name="Chevron 28"/>
          <p:cNvSpPr/>
          <p:nvPr/>
        </p:nvSpPr>
        <p:spPr>
          <a:xfrm rot="8020254">
            <a:off x="5534620" y="3893939"/>
            <a:ext cx="433388" cy="15835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0" name="Chevron 29"/>
          <p:cNvSpPr/>
          <p:nvPr/>
        </p:nvSpPr>
        <p:spPr>
          <a:xfrm rot="14925411">
            <a:off x="4358879" y="3589735"/>
            <a:ext cx="391715" cy="172640"/>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1" name="Chevron 30"/>
          <p:cNvSpPr/>
          <p:nvPr/>
        </p:nvSpPr>
        <p:spPr>
          <a:xfrm rot="2630240">
            <a:off x="5585222" y="2865835"/>
            <a:ext cx="341709" cy="176213"/>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2" name="Chevron 31"/>
          <p:cNvSpPr/>
          <p:nvPr/>
        </p:nvSpPr>
        <p:spPr>
          <a:xfrm rot="7732965">
            <a:off x="5118497" y="2414588"/>
            <a:ext cx="408385" cy="20835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3" name="Chevron 32"/>
          <p:cNvSpPr/>
          <p:nvPr/>
        </p:nvSpPr>
        <p:spPr>
          <a:xfrm rot="13782074">
            <a:off x="3888582" y="2413397"/>
            <a:ext cx="428625" cy="17859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5" name="Chevron 4"/>
          <p:cNvSpPr/>
          <p:nvPr/>
        </p:nvSpPr>
        <p:spPr>
          <a:xfrm rot="2574294">
            <a:off x="5044678" y="1519237"/>
            <a:ext cx="366713" cy="186929"/>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4" name="Chevron 33"/>
          <p:cNvSpPr/>
          <p:nvPr/>
        </p:nvSpPr>
        <p:spPr>
          <a:xfrm rot="19973145">
            <a:off x="3867150" y="3817144"/>
            <a:ext cx="519113" cy="175022"/>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5" name="Oval 34"/>
          <p:cNvSpPr/>
          <p:nvPr/>
        </p:nvSpPr>
        <p:spPr>
          <a:xfrm>
            <a:off x="4386262" y="2747962"/>
            <a:ext cx="376238" cy="376238"/>
          </a:xfrm>
          <a:prstGeom prst="ellipse">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lIns="68576" tIns="34289" rIns="68576" bIns="34289" anchor="ctr"/>
          <a:lstStyle/>
          <a:p>
            <a:pPr algn="ctr" defTabSz="342883">
              <a:defRPr/>
            </a:pPr>
            <a:r>
              <a:rPr lang="en-US" sz="675" dirty="0">
                <a:solidFill>
                  <a:schemeClr val="bg1"/>
                </a:solidFill>
                <a:latin typeface="Calibri"/>
                <a:cs typeface="Calibri"/>
              </a:rPr>
              <a:t>Metadata</a:t>
            </a:r>
          </a:p>
        </p:txBody>
      </p:sp>
      <p:sp>
        <p:nvSpPr>
          <p:cNvPr id="19475" name="TextBox 49"/>
          <p:cNvSpPr txBox="1">
            <a:spLocks noChangeArrowheads="1"/>
          </p:cNvSpPr>
          <p:nvPr/>
        </p:nvSpPr>
        <p:spPr bwMode="auto">
          <a:xfrm rot="19878537" flipH="1">
            <a:off x="3904418" y="3804219"/>
            <a:ext cx="476725"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Remediate</a:t>
            </a:r>
          </a:p>
        </p:txBody>
      </p:sp>
      <p:sp>
        <p:nvSpPr>
          <p:cNvPr id="19476" name="TextBox 50"/>
          <p:cNvSpPr txBox="1">
            <a:spLocks noChangeArrowheads="1"/>
          </p:cNvSpPr>
          <p:nvPr/>
        </p:nvSpPr>
        <p:spPr bwMode="auto">
          <a:xfrm rot="4186485" flipH="1">
            <a:off x="4376279" y="3569667"/>
            <a:ext cx="358103"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Deploy</a:t>
            </a:r>
          </a:p>
        </p:txBody>
      </p:sp>
      <p:sp>
        <p:nvSpPr>
          <p:cNvPr id="19477" name="TextBox 51"/>
          <p:cNvSpPr txBox="1">
            <a:spLocks noChangeArrowheads="1"/>
          </p:cNvSpPr>
          <p:nvPr/>
        </p:nvSpPr>
        <p:spPr bwMode="auto">
          <a:xfrm rot="18847926" flipH="1">
            <a:off x="5535167" y="3897683"/>
            <a:ext cx="396575"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Develop</a:t>
            </a:r>
          </a:p>
        </p:txBody>
      </p:sp>
      <p:sp>
        <p:nvSpPr>
          <p:cNvPr id="19478" name="TextBox 52"/>
          <p:cNvSpPr txBox="1">
            <a:spLocks noChangeArrowheads="1"/>
          </p:cNvSpPr>
          <p:nvPr/>
        </p:nvSpPr>
        <p:spPr bwMode="auto">
          <a:xfrm rot="20849530" flipH="1">
            <a:off x="3365370" y="2477863"/>
            <a:ext cx="372530"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Classify</a:t>
            </a:r>
          </a:p>
        </p:txBody>
      </p:sp>
      <p:sp>
        <p:nvSpPr>
          <p:cNvPr id="19479" name="TextBox 53"/>
          <p:cNvSpPr txBox="1">
            <a:spLocks noChangeArrowheads="1"/>
          </p:cNvSpPr>
          <p:nvPr/>
        </p:nvSpPr>
        <p:spPr bwMode="auto">
          <a:xfrm rot="18610994" flipH="1">
            <a:off x="5110597" y="2460003"/>
            <a:ext cx="37894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Roll out</a:t>
            </a:r>
          </a:p>
        </p:txBody>
      </p:sp>
      <p:sp>
        <p:nvSpPr>
          <p:cNvPr id="19480" name="TextBox 54"/>
          <p:cNvSpPr txBox="1">
            <a:spLocks noChangeArrowheads="1"/>
          </p:cNvSpPr>
          <p:nvPr/>
        </p:nvSpPr>
        <p:spPr bwMode="auto">
          <a:xfrm rot="3045222" flipH="1">
            <a:off x="3894693" y="2401068"/>
            <a:ext cx="39497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Monitor</a:t>
            </a:r>
          </a:p>
        </p:txBody>
      </p:sp>
      <p:sp>
        <p:nvSpPr>
          <p:cNvPr id="19481" name="TextBox 55"/>
          <p:cNvSpPr txBox="1">
            <a:spLocks noChangeArrowheads="1"/>
          </p:cNvSpPr>
          <p:nvPr/>
        </p:nvSpPr>
        <p:spPr bwMode="auto">
          <a:xfrm rot="18886076" flipH="1">
            <a:off x="4049502" y="1507504"/>
            <a:ext cx="306807"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Audit</a:t>
            </a:r>
          </a:p>
        </p:txBody>
      </p:sp>
      <p:sp>
        <p:nvSpPr>
          <p:cNvPr id="19482" name="TextBox 56"/>
          <p:cNvSpPr txBox="1">
            <a:spLocks noChangeArrowheads="1"/>
          </p:cNvSpPr>
          <p:nvPr/>
        </p:nvSpPr>
        <p:spPr bwMode="auto">
          <a:xfrm rot="2593117" flipH="1">
            <a:off x="5076231" y="1542032"/>
            <a:ext cx="345279"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Define</a:t>
            </a:r>
          </a:p>
        </p:txBody>
      </p:sp>
      <p:sp>
        <p:nvSpPr>
          <p:cNvPr id="19483" name="TextBox 57"/>
          <p:cNvSpPr txBox="1">
            <a:spLocks noChangeArrowheads="1"/>
          </p:cNvSpPr>
          <p:nvPr/>
        </p:nvSpPr>
        <p:spPr bwMode="auto">
          <a:xfrm rot="2506401" flipH="1">
            <a:off x="5600678" y="2877318"/>
            <a:ext cx="350088"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Design</a:t>
            </a:r>
          </a:p>
        </p:txBody>
      </p:sp>
      <p:sp>
        <p:nvSpPr>
          <p:cNvPr id="73" name="Chevron 72"/>
          <p:cNvSpPr/>
          <p:nvPr/>
        </p:nvSpPr>
        <p:spPr>
          <a:xfrm rot="2548638">
            <a:off x="3099197" y="3712369"/>
            <a:ext cx="422672" cy="17740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19485" name="TextBox 73"/>
          <p:cNvSpPr txBox="1">
            <a:spLocks noChangeArrowheads="1"/>
          </p:cNvSpPr>
          <p:nvPr/>
        </p:nvSpPr>
        <p:spPr bwMode="auto">
          <a:xfrm rot="2403541" flipH="1">
            <a:off x="3157928" y="3725043"/>
            <a:ext cx="346882"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Detect</a:t>
            </a:r>
          </a:p>
        </p:txBody>
      </p:sp>
      <p:sp>
        <p:nvSpPr>
          <p:cNvPr id="37" name="Chevron 36"/>
          <p:cNvSpPr/>
          <p:nvPr/>
        </p:nvSpPr>
        <p:spPr>
          <a:xfrm rot="6165947">
            <a:off x="2872978" y="3011091"/>
            <a:ext cx="422672" cy="177404"/>
          </a:xfrm>
          <a:prstGeom prst="chevro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19487" name="TextBox 52"/>
          <p:cNvSpPr txBox="1">
            <a:spLocks noChangeArrowheads="1"/>
          </p:cNvSpPr>
          <p:nvPr/>
        </p:nvSpPr>
        <p:spPr bwMode="auto">
          <a:xfrm rot="16996420" flipH="1">
            <a:off x="2880532" y="3041029"/>
            <a:ext cx="383751" cy="1615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600">
                <a:latin typeface="Calibri" charset="0"/>
                <a:ea typeface="MS PGothic" charset="0"/>
                <a:cs typeface="MS PGothic" charset="0"/>
              </a:rPr>
              <a:t>Execute</a:t>
            </a:r>
          </a:p>
        </p:txBody>
      </p:sp>
      <p:sp>
        <p:nvSpPr>
          <p:cNvPr id="39" name="TextBox 38">
            <a:extLst>
              <a:ext uri="{FF2B5EF4-FFF2-40B4-BE49-F238E27FC236}">
                <a16:creationId xmlns:a16="http://schemas.microsoft.com/office/drawing/2014/main" id="{1C3E905C-708D-4A4E-8F39-78713A455C19}"/>
              </a:ext>
            </a:extLst>
          </p:cNvPr>
          <p:cNvSpPr txBox="1"/>
          <p:nvPr/>
        </p:nvSpPr>
        <p:spPr bwMode="auto">
          <a:xfrm>
            <a:off x="5785557" y="1665111"/>
            <a:ext cx="2060222" cy="536222"/>
          </a:xfrm>
          <a:prstGeom prst="rect">
            <a:avLst/>
          </a:prstGeom>
          <a:noFill/>
          <a:ln w="9525">
            <a:noFill/>
            <a:miter lim="800000"/>
            <a:headEnd/>
            <a:tailEnd/>
          </a:ln>
        </p:spPr>
        <p:txBody>
          <a:bodyPr wrap="square" rtlCol="0">
            <a:prstTxWarp prst="textNoShape">
              <a:avLst/>
            </a:prstTxWarp>
            <a:spAutoFit/>
          </a:bodyPr>
          <a:lstStyle/>
          <a:p>
            <a:r>
              <a:rPr lang="en-US" sz="1400" dirty="0">
                <a:latin typeface="Calibri" pitchFamily="-1" charset="0"/>
              </a:rPr>
              <a:t>Managing policies, rules and classifications.</a:t>
            </a:r>
          </a:p>
        </p:txBody>
      </p:sp>
      <p:sp>
        <p:nvSpPr>
          <p:cNvPr id="40" name="TextBox 39">
            <a:extLst>
              <a:ext uri="{FF2B5EF4-FFF2-40B4-BE49-F238E27FC236}">
                <a16:creationId xmlns:a16="http://schemas.microsoft.com/office/drawing/2014/main" id="{234C21BB-492B-A649-B8C8-E00C1B4A8B1B}"/>
              </a:ext>
            </a:extLst>
          </p:cNvPr>
          <p:cNvSpPr txBox="1"/>
          <p:nvPr/>
        </p:nvSpPr>
        <p:spPr bwMode="auto">
          <a:xfrm>
            <a:off x="6101954" y="3407955"/>
            <a:ext cx="2060222" cy="954107"/>
          </a:xfrm>
          <a:prstGeom prst="rect">
            <a:avLst/>
          </a:prstGeom>
          <a:noFill/>
          <a:ln w="9525">
            <a:noFill/>
            <a:miter lim="800000"/>
            <a:headEnd/>
            <a:tailEnd/>
          </a:ln>
        </p:spPr>
        <p:txBody>
          <a:bodyPr wrap="square" rtlCol="0">
            <a:prstTxWarp prst="textNoShape">
              <a:avLst/>
            </a:prstTxWarp>
            <a:spAutoFit/>
          </a:bodyPr>
          <a:lstStyle/>
          <a:p>
            <a:r>
              <a:rPr lang="en-US" sz="1400" dirty="0">
                <a:latin typeface="Calibri" pitchFamily="-1" charset="0"/>
              </a:rPr>
              <a:t>Managing common information models and related rule implementations.</a:t>
            </a:r>
          </a:p>
        </p:txBody>
      </p:sp>
      <p:sp>
        <p:nvSpPr>
          <p:cNvPr id="41" name="TextBox 40">
            <a:extLst>
              <a:ext uri="{FF2B5EF4-FFF2-40B4-BE49-F238E27FC236}">
                <a16:creationId xmlns:a16="http://schemas.microsoft.com/office/drawing/2014/main" id="{2ABCEBB1-CFA9-6641-86CA-1F94C286EBE8}"/>
              </a:ext>
            </a:extLst>
          </p:cNvPr>
          <p:cNvSpPr txBox="1"/>
          <p:nvPr/>
        </p:nvSpPr>
        <p:spPr bwMode="auto">
          <a:xfrm>
            <a:off x="728135" y="3063897"/>
            <a:ext cx="2060222" cy="738664"/>
          </a:xfrm>
          <a:prstGeom prst="rect">
            <a:avLst/>
          </a:prstGeom>
          <a:noFill/>
          <a:ln w="9525">
            <a:noFill/>
            <a:miter lim="800000"/>
            <a:headEnd/>
            <a:tailEnd/>
          </a:ln>
        </p:spPr>
        <p:txBody>
          <a:bodyPr wrap="square" rtlCol="0">
            <a:prstTxWarp prst="textNoShape">
              <a:avLst/>
            </a:prstTxWarp>
            <a:spAutoFit/>
          </a:bodyPr>
          <a:lstStyle/>
          <a:p>
            <a:r>
              <a:rPr lang="en-US" sz="1400" dirty="0">
                <a:latin typeface="Calibri" pitchFamily="-1" charset="0"/>
              </a:rPr>
              <a:t>Managing and curating information sources and business terms</a:t>
            </a:r>
          </a:p>
        </p:txBody>
      </p:sp>
    </p:spTree>
    <p:extLst>
      <p:ext uri="{BB962C8B-B14F-4D97-AF65-F5344CB8AC3E}">
        <p14:creationId xmlns:p14="http://schemas.microsoft.com/office/powerpoint/2010/main" val="2051772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26EA7-E337-BE4F-9877-58B796ADF62B}"/>
              </a:ext>
            </a:extLst>
          </p:cNvPr>
          <p:cNvSpPr>
            <a:spLocks noGrp="1"/>
          </p:cNvSpPr>
          <p:nvPr>
            <p:ph type="title"/>
          </p:nvPr>
        </p:nvSpPr>
        <p:spPr/>
        <p:txBody>
          <a:bodyPr>
            <a:normAutofit/>
          </a:bodyPr>
          <a:lstStyle/>
          <a:p>
            <a:r>
              <a:rPr lang="en-US" dirty="0"/>
              <a:t>Governance Program Office</a:t>
            </a:r>
          </a:p>
        </p:txBody>
      </p:sp>
      <p:sp>
        <p:nvSpPr>
          <p:cNvPr id="3" name="Slide Number Placeholder 2">
            <a:extLst>
              <a:ext uri="{FF2B5EF4-FFF2-40B4-BE49-F238E27FC236}">
                <a16:creationId xmlns:a16="http://schemas.microsoft.com/office/drawing/2014/main" id="{F950CEE2-0AD7-AE47-9BFF-21C4F9D3A1B8}"/>
              </a:ext>
            </a:extLst>
          </p:cNvPr>
          <p:cNvSpPr>
            <a:spLocks noGrp="1"/>
          </p:cNvSpPr>
          <p:nvPr>
            <p:ph type="sldNum" idx="12"/>
          </p:nvPr>
        </p:nvSpPr>
        <p:spPr/>
        <p:txBody>
          <a:bodyPr/>
          <a:lstStyle/>
          <a:p>
            <a:pPr marL="0" marR="0" lvl="0" indent="0" algn="l" rtl="0">
              <a:lnSpc>
                <a:spcPct val="100000"/>
              </a:lnSpc>
              <a:spcBef>
                <a:spcPts val="0"/>
              </a:spcBef>
              <a:spcAft>
                <a:spcPts val="0"/>
              </a:spcAft>
              <a:buClr>
                <a:srgbClr val="434343"/>
              </a:buClr>
              <a:buSzPct val="25000"/>
              <a:buFont typeface="Arial"/>
              <a:buNone/>
            </a:pPr>
            <a:fld id="{00000000-1234-1234-1234-123412341234}" type="slidenum">
              <a:rPr lang="en-US" sz="1000" b="0" i="0" u="none" strike="noStrike" cap="none" smtClean="0">
                <a:solidFill>
                  <a:srgbClr val="434343"/>
                </a:solidFill>
                <a:latin typeface="Arial"/>
                <a:ea typeface="Arial"/>
                <a:cs typeface="Arial"/>
                <a:sym typeface="Arial"/>
              </a:rPr>
              <a:pPr marL="0" marR="0" lvl="0" indent="0" algn="l" rtl="0">
                <a:lnSpc>
                  <a:spcPct val="100000"/>
                </a:lnSpc>
                <a:spcBef>
                  <a:spcPts val="0"/>
                </a:spcBef>
                <a:spcAft>
                  <a:spcPts val="0"/>
                </a:spcAft>
                <a:buClr>
                  <a:srgbClr val="434343"/>
                </a:buClr>
                <a:buSzPct val="25000"/>
                <a:buFont typeface="Arial"/>
                <a:buNone/>
              </a:pPr>
              <a:t>12</a:t>
            </a:fld>
            <a:endParaRPr lang="en-US" sz="1000" b="0" i="0" u="none" strike="noStrike" cap="none" dirty="0">
              <a:solidFill>
                <a:srgbClr val="434343"/>
              </a:solidFill>
              <a:latin typeface="Arial"/>
              <a:ea typeface="Arial"/>
              <a:cs typeface="Arial"/>
              <a:sym typeface="Arial"/>
            </a:endParaRPr>
          </a:p>
        </p:txBody>
      </p:sp>
      <p:graphicFrame>
        <p:nvGraphicFramePr>
          <p:cNvPr id="5" name="Diagram 4">
            <a:extLst>
              <a:ext uri="{FF2B5EF4-FFF2-40B4-BE49-F238E27FC236}">
                <a16:creationId xmlns:a16="http://schemas.microsoft.com/office/drawing/2014/main" id="{C414BF28-4621-C94D-9DD4-7883C88C7F6C}"/>
              </a:ext>
            </a:extLst>
          </p:cNvPr>
          <p:cNvGraphicFramePr/>
          <p:nvPr>
            <p:extLst>
              <p:ext uri="{D42A27DB-BD31-4B8C-83A1-F6EECF244321}">
                <p14:modId xmlns:p14="http://schemas.microsoft.com/office/powerpoint/2010/main" val="2761957601"/>
              </p:ext>
            </p:extLst>
          </p:nvPr>
        </p:nvGraphicFramePr>
        <p:xfrm>
          <a:off x="2717533" y="1328654"/>
          <a:ext cx="3356008" cy="24861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72599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dirty="0">
                <a:latin typeface="Arial" charset="0"/>
                <a:ea typeface="MS PGothic" charset="0"/>
              </a:rPr>
              <a:t>Governance Program Office Activity Types</a:t>
            </a:r>
          </a:p>
        </p:txBody>
      </p:sp>
      <p:graphicFrame>
        <p:nvGraphicFramePr>
          <p:cNvPr id="3" name="Table 2"/>
          <p:cNvGraphicFramePr>
            <a:graphicFrameLocks noGrp="1"/>
          </p:cNvGraphicFramePr>
          <p:nvPr>
            <p:extLst>
              <p:ext uri="{D42A27DB-BD31-4B8C-83A1-F6EECF244321}">
                <p14:modId xmlns:p14="http://schemas.microsoft.com/office/powerpoint/2010/main" val="1085280545"/>
              </p:ext>
            </p:extLst>
          </p:nvPr>
        </p:nvGraphicFramePr>
        <p:xfrm>
          <a:off x="359200" y="1525417"/>
          <a:ext cx="8321040" cy="2544984"/>
        </p:xfrm>
        <a:graphic>
          <a:graphicData uri="http://schemas.openxmlformats.org/drawingml/2006/table">
            <a:tbl>
              <a:tblPr firstRow="1" bandRow="1">
                <a:tableStyleId>{EB344D84-9AFB-497E-A393-DC336BA19D2E}</a:tableStyleId>
              </a:tblPr>
              <a:tblGrid>
                <a:gridCol w="1899609">
                  <a:extLst>
                    <a:ext uri="{9D8B030D-6E8A-4147-A177-3AD203B41FA5}">
                      <a16:colId xmlns:a16="http://schemas.microsoft.com/office/drawing/2014/main" val="20000"/>
                    </a:ext>
                  </a:extLst>
                </a:gridCol>
                <a:gridCol w="1974181">
                  <a:extLst>
                    <a:ext uri="{9D8B030D-6E8A-4147-A177-3AD203B41FA5}">
                      <a16:colId xmlns:a16="http://schemas.microsoft.com/office/drawing/2014/main" val="20001"/>
                    </a:ext>
                  </a:extLst>
                </a:gridCol>
                <a:gridCol w="4447250">
                  <a:extLst>
                    <a:ext uri="{9D8B030D-6E8A-4147-A177-3AD203B41FA5}">
                      <a16:colId xmlns:a16="http://schemas.microsoft.com/office/drawing/2014/main" val="20002"/>
                    </a:ext>
                  </a:extLst>
                </a:gridCol>
              </a:tblGrid>
              <a:tr h="241299">
                <a:tc>
                  <a:txBody>
                    <a:bodyPr/>
                    <a:lstStyle/>
                    <a:p>
                      <a:r>
                        <a:rPr lang="en-US" sz="1400" dirty="0"/>
                        <a:t>Governance Activity Type</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Information Exchange</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Role</a:t>
                      </a:r>
                      <a:r>
                        <a:rPr lang="en-US" sz="1400" baseline="0" dirty="0"/>
                        <a:t> that technology can play</a:t>
                      </a:r>
                      <a:endParaRPr lang="en-US" sz="1400" dirty="0"/>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00350">
                <a:tc>
                  <a:txBody>
                    <a:bodyPr/>
                    <a:lstStyle/>
                    <a:p>
                      <a:r>
                        <a:rPr lang="en-US" sz="1400" dirty="0">
                          <a:solidFill>
                            <a:schemeClr val="accent4"/>
                          </a:solidFill>
                        </a:rPr>
                        <a:t>Communication</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Policies &amp;</a:t>
                      </a:r>
                      <a:r>
                        <a:rPr lang="en-US" sz="1400" baseline="0" dirty="0">
                          <a:solidFill>
                            <a:schemeClr val="accent4"/>
                          </a:solidFill>
                        </a:rPr>
                        <a:t> </a:t>
                      </a:r>
                      <a:r>
                        <a:rPr lang="en-US" sz="1400" dirty="0">
                          <a:solidFill>
                            <a:schemeClr val="accent4"/>
                          </a:solidFill>
                        </a:rPr>
                        <a:t>Metrics</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Delivering education</a:t>
                      </a:r>
                      <a:r>
                        <a:rPr lang="en-US" sz="1400" baseline="0" dirty="0">
                          <a:solidFill>
                            <a:schemeClr val="accent4"/>
                          </a:solidFill>
                        </a:rPr>
                        <a:t>, best practices, assessments, templates.</a:t>
                      </a:r>
                      <a:endParaRPr lang="en-US" sz="1400" dirty="0">
                        <a:solidFill>
                          <a:schemeClr val="accent4"/>
                        </a:solidFill>
                      </a:endParaRP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05867">
                <a:tc>
                  <a:txBody>
                    <a:bodyPr/>
                    <a:lstStyle/>
                    <a:p>
                      <a:r>
                        <a:rPr lang="en-US" sz="1400" dirty="0"/>
                        <a:t>Compliance</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Design Changes</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Implementing control points and execution points.</a:t>
                      </a:r>
                    </a:p>
                    <a:p>
                      <a:r>
                        <a:rPr lang="en-US" sz="1400" dirty="0"/>
                        <a:t>Support</a:t>
                      </a:r>
                      <a:r>
                        <a:rPr lang="en-US" sz="1400" baseline="0" dirty="0"/>
                        <a:t> for design and code reviews.</a:t>
                      </a:r>
                    </a:p>
                    <a:p>
                      <a:r>
                        <a:rPr lang="en-US" sz="1400" baseline="0" dirty="0"/>
                        <a:t>Test Data Management.</a:t>
                      </a:r>
                      <a:endParaRPr lang="en-US" sz="1400" dirty="0"/>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41796">
                <a:tc>
                  <a:txBody>
                    <a:bodyPr/>
                    <a:lstStyle/>
                    <a:p>
                      <a:r>
                        <a:rPr lang="en-US" sz="1400" dirty="0">
                          <a:solidFill>
                            <a:schemeClr val="accent4"/>
                          </a:solidFill>
                        </a:rPr>
                        <a:t>Exception</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Exception Requests</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Exception process management, incident reporting.</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56305">
                <a:tc>
                  <a:txBody>
                    <a:bodyPr/>
                    <a:lstStyle/>
                    <a:p>
                      <a:r>
                        <a:rPr lang="en-US" sz="1400" dirty="0"/>
                        <a:t>Feedback</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Measurements</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Dashboards and reports on compliance.</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51762">
                <a:tc>
                  <a:txBody>
                    <a:bodyPr/>
                    <a:lstStyle/>
                    <a:p>
                      <a:r>
                        <a:rPr lang="en-US" sz="1400" dirty="0">
                          <a:solidFill>
                            <a:schemeClr val="accent4"/>
                          </a:solidFill>
                        </a:rPr>
                        <a:t>Vitality</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New Requirements</a:t>
                      </a: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solidFill>
                            <a:schemeClr val="accent4"/>
                          </a:solidFill>
                        </a:rPr>
                        <a:t>Change</a:t>
                      </a:r>
                      <a:r>
                        <a:rPr lang="en-US" sz="1400" baseline="0" dirty="0">
                          <a:solidFill>
                            <a:schemeClr val="accent4"/>
                          </a:solidFill>
                        </a:rPr>
                        <a:t> process management</a:t>
                      </a:r>
                      <a:endParaRPr lang="en-US" sz="1400" dirty="0">
                        <a:solidFill>
                          <a:schemeClr val="accent4"/>
                        </a:solidFill>
                      </a:endParaRPr>
                    </a:p>
                  </a:txBody>
                  <a:tcPr marL="68580" marR="68580" marT="34282" marB="3428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6408" name="Content Placeholder 2"/>
          <p:cNvSpPr txBox="1">
            <a:spLocks/>
          </p:cNvSpPr>
          <p:nvPr/>
        </p:nvSpPr>
        <p:spPr bwMode="auto">
          <a:xfrm>
            <a:off x="873760" y="1073099"/>
            <a:ext cx="6999844" cy="152603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lstStyle>
            <a:lvl1pPr marL="342900" indent="-342900" eaLnBrk="0" hangingPunct="0">
              <a:defRPr sz="2400">
                <a:solidFill>
                  <a:schemeClr val="tx1"/>
                </a:solidFill>
                <a:latin typeface="Arial" charset="0"/>
                <a:ea typeface="ＭＳ Ｐゴシック" charset="0"/>
                <a:cs typeface="ＭＳ Ｐゴシック" charset="0"/>
              </a:defRPr>
            </a:lvl1pPr>
            <a:lvl2pPr marL="515938" indent="-173038"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a:spcBef>
                <a:spcPct val="20000"/>
              </a:spcBef>
              <a:buClr>
                <a:schemeClr val="tx1"/>
              </a:buClr>
              <a:buFont typeface="Wingdings" charset="0"/>
              <a:buChar char="§"/>
            </a:pPr>
            <a:endParaRPr lang="en-US" sz="1350" dirty="0">
              <a:latin typeface="Calibri" charset="0"/>
              <a:ea typeface="MS PGothic" charset="0"/>
              <a:cs typeface="MS PGothic" charset="0"/>
            </a:endParaRPr>
          </a:p>
        </p:txBody>
      </p:sp>
    </p:spTree>
    <p:extLst>
      <p:ext uri="{BB962C8B-B14F-4D97-AF65-F5344CB8AC3E}">
        <p14:creationId xmlns:p14="http://schemas.microsoft.com/office/powerpoint/2010/main" val="3268542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Multi-faceted Governance</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14</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736521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Digital Service Lifecycle</a:t>
            </a:r>
          </a:p>
        </p:txBody>
      </p:sp>
      <p:pic>
        <p:nvPicPr>
          <p:cNvPr id="9" name="Picture 8" descr="ODPI - Data Privacy - Process Flow.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961" y="0"/>
            <a:ext cx="7720039" cy="5143500"/>
          </a:xfrm>
          <a:prstGeom prst="rect">
            <a:avLst/>
          </a:prstGeom>
        </p:spPr>
      </p:pic>
    </p:spTree>
    <p:extLst>
      <p:ext uri="{BB962C8B-B14F-4D97-AF65-F5344CB8AC3E}">
        <p14:creationId xmlns:p14="http://schemas.microsoft.com/office/powerpoint/2010/main" val="14678497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a:bodyPr>
          <a:lstStyle/>
          <a:p>
            <a:r>
              <a:rPr lang="en-US" dirty="0">
                <a:latin typeface="Arial" charset="0"/>
                <a:ea typeface="MS PGothic" charset="0"/>
                <a:cs typeface="MS PGothic" charset="0"/>
              </a:rPr>
              <a:t>Governance in the enterprise</a:t>
            </a:r>
          </a:p>
        </p:txBody>
      </p:sp>
      <p:sp>
        <p:nvSpPr>
          <p:cNvPr id="12" name="Content Placeholder 11">
            <a:extLst>
              <a:ext uri="{FF2B5EF4-FFF2-40B4-BE49-F238E27FC236}">
                <a16:creationId xmlns:a16="http://schemas.microsoft.com/office/drawing/2014/main" id="{6D97D716-751F-8F46-8FD7-10AC59702A01}"/>
              </a:ext>
            </a:extLst>
          </p:cNvPr>
          <p:cNvSpPr>
            <a:spLocks noGrp="1"/>
          </p:cNvSpPr>
          <p:nvPr>
            <p:ph idx="1"/>
          </p:nvPr>
        </p:nvSpPr>
        <p:spPr/>
        <p:txBody>
          <a:bodyPr/>
          <a:lstStyle/>
          <a:p>
            <a:r>
              <a:rPr lang="en-GB" dirty="0"/>
              <a:t>Minimal - need agreements on obligations and delegations</a:t>
            </a:r>
          </a:p>
          <a:p>
            <a:r>
              <a:rPr lang="en-GB" dirty="0"/>
              <a:t>Ideal - shared tools, approaches with regular collaboration</a:t>
            </a:r>
            <a:endParaRPr lang="en-US" dirty="0"/>
          </a:p>
        </p:txBody>
      </p:sp>
      <p:pic>
        <p:nvPicPr>
          <p:cNvPr id="11" name="Picture 10">
            <a:extLst>
              <a:ext uri="{FF2B5EF4-FFF2-40B4-BE49-F238E27FC236}">
                <a16:creationId xmlns:a16="http://schemas.microsoft.com/office/drawing/2014/main" id="{A2C18052-99E5-7440-BBB3-F93FA9D074D1}"/>
              </a:ext>
            </a:extLst>
          </p:cNvPr>
          <p:cNvPicPr>
            <a:picLocks noChangeAspect="1"/>
          </p:cNvPicPr>
          <p:nvPr/>
        </p:nvPicPr>
        <p:blipFill>
          <a:blip r:embed="rId2"/>
          <a:stretch>
            <a:fillRect/>
          </a:stretch>
        </p:blipFill>
        <p:spPr>
          <a:xfrm>
            <a:off x="1898650" y="2028875"/>
            <a:ext cx="5346700" cy="2540000"/>
          </a:xfrm>
          <a:prstGeom prst="rect">
            <a:avLst/>
          </a:prstGeom>
        </p:spPr>
      </p:pic>
    </p:spTree>
    <p:extLst>
      <p:ext uri="{BB962C8B-B14F-4D97-AF65-F5344CB8AC3E}">
        <p14:creationId xmlns:p14="http://schemas.microsoft.com/office/powerpoint/2010/main" val="419368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Designing Governance</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17</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31617780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p:txBody>
          <a:bodyPr>
            <a:normAutofit fontScale="90000"/>
          </a:bodyPr>
          <a:lstStyle/>
          <a:p>
            <a:r>
              <a:rPr lang="en-US">
                <a:latin typeface="Arial" charset="0"/>
                <a:ea typeface="MS PGothic" charset="0"/>
              </a:rPr>
              <a:t>Example: Supporting the Use of Authoritative Sources</a:t>
            </a:r>
          </a:p>
        </p:txBody>
      </p:sp>
      <p:sp>
        <p:nvSpPr>
          <p:cNvPr id="18434" name="TextBox 2"/>
          <p:cNvSpPr txBox="1">
            <a:spLocks noChangeArrowheads="1"/>
          </p:cNvSpPr>
          <p:nvPr/>
        </p:nvSpPr>
        <p:spPr bwMode="auto">
          <a:xfrm>
            <a:off x="4860132" y="1333500"/>
            <a:ext cx="1470422" cy="553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Control Points in Sprint and Design Review Processes</a:t>
            </a:r>
          </a:p>
        </p:txBody>
      </p:sp>
      <p:sp>
        <p:nvSpPr>
          <p:cNvPr id="18435" name="TextBox 3"/>
          <p:cNvSpPr txBox="1">
            <a:spLocks noChangeArrowheads="1"/>
          </p:cNvSpPr>
          <p:nvPr/>
        </p:nvSpPr>
        <p:spPr bwMode="auto">
          <a:xfrm>
            <a:off x="6157912" y="2308622"/>
            <a:ext cx="1463279" cy="553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Pre-built </a:t>
            </a:r>
            <a:r>
              <a:rPr lang="en-GB" sz="1050">
                <a:latin typeface="Calibri" charset="0"/>
              </a:rPr>
              <a:t>data structures</a:t>
            </a:r>
            <a:r>
              <a:rPr lang="en-US" sz="1050">
                <a:latin typeface="Calibri" charset="0"/>
              </a:rPr>
              <a:t> implementing standards.</a:t>
            </a:r>
          </a:p>
        </p:txBody>
      </p:sp>
      <p:sp>
        <p:nvSpPr>
          <p:cNvPr id="18436" name="TextBox 4"/>
          <p:cNvSpPr txBox="1">
            <a:spLocks noChangeArrowheads="1"/>
          </p:cNvSpPr>
          <p:nvPr/>
        </p:nvSpPr>
        <p:spPr bwMode="auto">
          <a:xfrm>
            <a:off x="5626894" y="3367087"/>
            <a:ext cx="1725216" cy="553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1050">
                <a:latin typeface="Calibri" charset="0"/>
              </a:rPr>
              <a:t>Data refinery services for common re-engineering tasks.</a:t>
            </a:r>
            <a:endParaRPr lang="en-US" sz="1050">
              <a:latin typeface="Calibri" charset="0"/>
            </a:endParaRPr>
          </a:p>
        </p:txBody>
      </p:sp>
      <p:sp>
        <p:nvSpPr>
          <p:cNvPr id="18437" name="TextBox 5"/>
          <p:cNvSpPr txBox="1">
            <a:spLocks noChangeArrowheads="1"/>
          </p:cNvSpPr>
          <p:nvPr/>
        </p:nvSpPr>
        <p:spPr bwMode="auto">
          <a:xfrm>
            <a:off x="1726406" y="2308623"/>
            <a:ext cx="1339454" cy="715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Definitions of policies, rules and processes around the use of  authoritative sources</a:t>
            </a:r>
          </a:p>
        </p:txBody>
      </p:sp>
      <p:sp>
        <p:nvSpPr>
          <p:cNvPr id="18438" name="TextBox 6"/>
          <p:cNvSpPr txBox="1">
            <a:spLocks noChangeArrowheads="1"/>
          </p:cNvSpPr>
          <p:nvPr/>
        </p:nvSpPr>
        <p:spPr bwMode="auto">
          <a:xfrm>
            <a:off x="1984773" y="3582591"/>
            <a:ext cx="1339453" cy="715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Enforcement in build, automated test cases and configuration management</a:t>
            </a:r>
          </a:p>
        </p:txBody>
      </p:sp>
      <p:sp>
        <p:nvSpPr>
          <p:cNvPr id="18439" name="TextBox 7"/>
          <p:cNvSpPr txBox="1">
            <a:spLocks noChangeArrowheads="1"/>
          </p:cNvSpPr>
          <p:nvPr/>
        </p:nvSpPr>
        <p:spPr bwMode="auto">
          <a:xfrm>
            <a:off x="3065860" y="1351360"/>
            <a:ext cx="1338263" cy="715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Definitions of authoritative sources and where they are used.</a:t>
            </a:r>
          </a:p>
        </p:txBody>
      </p:sp>
      <p:sp>
        <p:nvSpPr>
          <p:cNvPr id="18440" name="TextBox 8"/>
          <p:cNvSpPr txBox="1">
            <a:spLocks noChangeArrowheads="1"/>
          </p:cNvSpPr>
          <p:nvPr/>
        </p:nvSpPr>
        <p:spPr bwMode="auto">
          <a:xfrm>
            <a:off x="4287441" y="4298156"/>
            <a:ext cx="1339453" cy="392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Easy access to compliant  test data.</a:t>
            </a:r>
          </a:p>
        </p:txBody>
      </p:sp>
      <p:sp>
        <p:nvSpPr>
          <p:cNvPr id="18441" name="TextBox 9"/>
          <p:cNvSpPr txBox="1">
            <a:spLocks noChangeArrowheads="1"/>
          </p:cNvSpPr>
          <p:nvPr/>
        </p:nvSpPr>
        <p:spPr bwMode="auto">
          <a:xfrm>
            <a:off x="3065860" y="2983707"/>
            <a:ext cx="1059656" cy="484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b="1" i="1">
                <a:solidFill>
                  <a:srgbClr val="1F497D"/>
                </a:solidFill>
                <a:latin typeface="Calibri" charset="0"/>
              </a:rPr>
              <a:t>Make it Unavoidable</a:t>
            </a:r>
          </a:p>
        </p:txBody>
      </p:sp>
      <p:sp>
        <p:nvSpPr>
          <p:cNvPr id="18442" name="TextBox 10"/>
          <p:cNvSpPr txBox="1">
            <a:spLocks noChangeArrowheads="1"/>
          </p:cNvSpPr>
          <p:nvPr/>
        </p:nvSpPr>
        <p:spPr bwMode="auto">
          <a:xfrm>
            <a:off x="3307557" y="2185987"/>
            <a:ext cx="1059656" cy="484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b="1" i="1">
                <a:solidFill>
                  <a:srgbClr val="1F497D"/>
                </a:solidFill>
                <a:latin typeface="Calibri" charset="0"/>
              </a:rPr>
              <a:t>Make it Clear</a:t>
            </a:r>
          </a:p>
        </p:txBody>
      </p:sp>
      <p:sp>
        <p:nvSpPr>
          <p:cNvPr id="18443" name="TextBox 11"/>
          <p:cNvSpPr txBox="1">
            <a:spLocks noChangeArrowheads="1"/>
          </p:cNvSpPr>
          <p:nvPr/>
        </p:nvSpPr>
        <p:spPr bwMode="auto">
          <a:xfrm>
            <a:off x="4816079" y="2020491"/>
            <a:ext cx="1059656" cy="484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b="1" i="1">
                <a:solidFill>
                  <a:srgbClr val="1F497D"/>
                </a:solidFill>
                <a:latin typeface="Calibri" charset="0"/>
              </a:rPr>
              <a:t>Make it Visible</a:t>
            </a:r>
          </a:p>
        </p:txBody>
      </p:sp>
      <p:sp>
        <p:nvSpPr>
          <p:cNvPr id="18444" name="TextBox 12"/>
          <p:cNvSpPr txBox="1">
            <a:spLocks noChangeArrowheads="1"/>
          </p:cNvSpPr>
          <p:nvPr/>
        </p:nvSpPr>
        <p:spPr bwMode="auto">
          <a:xfrm>
            <a:off x="4536282" y="3092054"/>
            <a:ext cx="1059656" cy="69249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350" b="1" i="1">
                <a:solidFill>
                  <a:srgbClr val="1F497D"/>
                </a:solidFill>
                <a:latin typeface="Calibri" charset="0"/>
              </a:rPr>
              <a:t>Make it Easy to do the right thing</a:t>
            </a:r>
          </a:p>
        </p:txBody>
      </p:sp>
    </p:spTree>
    <p:extLst>
      <p:ext uri="{BB962C8B-B14F-4D97-AF65-F5344CB8AC3E}">
        <p14:creationId xmlns:p14="http://schemas.microsoft.com/office/powerpoint/2010/main" val="90011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p:cNvSpPr>
          <p:nvPr>
            <p:ph type="title"/>
          </p:nvPr>
        </p:nvSpPr>
        <p:spPr/>
        <p:txBody>
          <a:bodyPr/>
          <a:lstStyle/>
          <a:p>
            <a:r>
              <a:rPr lang="en-US">
                <a:latin typeface="Arial" charset="0"/>
                <a:ea typeface="MS PGothic" charset="0"/>
              </a:rPr>
              <a:t>Setting Up a Governance Program</a:t>
            </a:r>
          </a:p>
        </p:txBody>
      </p:sp>
      <p:sp>
        <p:nvSpPr>
          <p:cNvPr id="17410" name="Content Placeholder 2"/>
          <p:cNvSpPr>
            <a:spLocks noGrp="1"/>
          </p:cNvSpPr>
          <p:nvPr>
            <p:ph idx="1"/>
          </p:nvPr>
        </p:nvSpPr>
        <p:spPr/>
        <p:txBody>
          <a:bodyPr/>
          <a:lstStyle/>
          <a:p>
            <a:r>
              <a:rPr lang="en-GB">
                <a:latin typeface="Calibri" charset="0"/>
                <a:ea typeface="MS PGothic" charset="0"/>
              </a:rPr>
              <a:t>Information governance should </a:t>
            </a:r>
            <a:r>
              <a:rPr lang="en-GB" b="1">
                <a:latin typeface="Calibri" charset="0"/>
                <a:ea typeface="MS PGothic" charset="0"/>
              </a:rPr>
              <a:t>start small </a:t>
            </a:r>
            <a:r>
              <a:rPr lang="en-GB">
                <a:latin typeface="Calibri" charset="0"/>
                <a:ea typeface="MS PGothic" charset="0"/>
              </a:rPr>
              <a:t>and focus on the most important information, and then </a:t>
            </a:r>
            <a:r>
              <a:rPr lang="en-GB" b="1">
                <a:latin typeface="Calibri" charset="0"/>
                <a:ea typeface="MS PGothic" charset="0"/>
              </a:rPr>
              <a:t>expand out </a:t>
            </a:r>
            <a:r>
              <a:rPr lang="en-GB">
                <a:latin typeface="Calibri" charset="0"/>
                <a:ea typeface="MS PGothic" charset="0"/>
              </a:rPr>
              <a:t>as it demonstrates its worth. </a:t>
            </a:r>
          </a:p>
          <a:p>
            <a:r>
              <a:rPr lang="en-GB">
                <a:latin typeface="Calibri" charset="0"/>
                <a:ea typeface="MS PGothic" charset="0"/>
              </a:rPr>
              <a:t>It must evolve with the business, be responsive and accountable, while seeking to </a:t>
            </a:r>
            <a:r>
              <a:rPr lang="en-GB" b="1">
                <a:latin typeface="Calibri" charset="0"/>
                <a:ea typeface="MS PGothic" charset="0"/>
              </a:rPr>
              <a:t>communicate</a:t>
            </a:r>
            <a:r>
              <a:rPr lang="en-GB">
                <a:latin typeface="Calibri" charset="0"/>
                <a:ea typeface="MS PGothic" charset="0"/>
              </a:rPr>
              <a:t> and </a:t>
            </a:r>
            <a:r>
              <a:rPr lang="en-GB" b="1">
                <a:latin typeface="Calibri" charset="0"/>
                <a:ea typeface="MS PGothic" charset="0"/>
              </a:rPr>
              <a:t>educate</a:t>
            </a:r>
            <a:r>
              <a:rPr lang="en-GB">
                <a:latin typeface="Calibri" charset="0"/>
                <a:ea typeface="MS PGothic" charset="0"/>
              </a:rPr>
              <a:t> people in the appropriate management of information. </a:t>
            </a:r>
          </a:p>
          <a:p>
            <a:r>
              <a:rPr lang="en-GB">
                <a:latin typeface="Calibri" charset="0"/>
                <a:ea typeface="MS PGothic" charset="0"/>
              </a:rPr>
              <a:t>Most important, it needs senior stakeholders and </a:t>
            </a:r>
            <a:r>
              <a:rPr lang="en-GB" b="1">
                <a:latin typeface="Calibri" charset="0"/>
                <a:ea typeface="MS PGothic" charset="0"/>
              </a:rPr>
              <a:t>visible consequences </a:t>
            </a:r>
            <a:r>
              <a:rPr lang="en-GB">
                <a:latin typeface="Calibri" charset="0"/>
                <a:ea typeface="MS PGothic" charset="0"/>
              </a:rPr>
              <a:t>for those who ignore the requirements</a:t>
            </a:r>
            <a:r>
              <a:rPr lang="en-US">
                <a:latin typeface="Calibri" charset="0"/>
                <a:ea typeface="MS PGothic" charset="0"/>
              </a:rPr>
              <a:t>.</a:t>
            </a:r>
            <a:endParaRPr lang="en-GB">
              <a:latin typeface="Calibri" charset="0"/>
              <a:ea typeface="MS PGothic" charset="0"/>
            </a:endParaRPr>
          </a:p>
        </p:txBody>
      </p:sp>
    </p:spTree>
    <p:extLst>
      <p:ext uri="{BB962C8B-B14F-4D97-AF65-F5344CB8AC3E}">
        <p14:creationId xmlns:p14="http://schemas.microsoft.com/office/powerpoint/2010/main" val="3487483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 Success Factors</a:t>
            </a:r>
          </a:p>
        </p:txBody>
      </p:sp>
      <p:sp>
        <p:nvSpPr>
          <p:cNvPr id="3" name="Content Placeholder 2"/>
          <p:cNvSpPr>
            <a:spLocks noGrp="1"/>
          </p:cNvSpPr>
          <p:nvPr>
            <p:ph idx="1"/>
          </p:nvPr>
        </p:nvSpPr>
        <p:spPr/>
        <p:txBody>
          <a:bodyPr/>
          <a:lstStyle/>
          <a:p>
            <a:pPr lvl="0"/>
            <a:r>
              <a:rPr lang="en-GB" b="1" dirty="0"/>
              <a:t>Cost-effective </a:t>
            </a:r>
          </a:p>
          <a:p>
            <a:pPr lvl="1"/>
            <a:r>
              <a:rPr lang="en-GB" b="1" dirty="0"/>
              <a:t>Use of automation</a:t>
            </a:r>
            <a:r>
              <a:rPr lang="en-GB" dirty="0"/>
              <a:t>: particularly around the classification and characterization of information, along with the detection and notification of issues.</a:t>
            </a:r>
          </a:p>
          <a:p>
            <a:pPr lvl="1"/>
            <a:r>
              <a:rPr lang="en-GB" b="1" dirty="0"/>
              <a:t>Focus</a:t>
            </a:r>
            <a:r>
              <a:rPr lang="en-GB" dirty="0"/>
              <a:t>: ensuring that the governance program focuses on the most valuable information and applies action where the greatest impact is felt.</a:t>
            </a:r>
          </a:p>
          <a:p>
            <a:pPr lvl="0"/>
            <a:r>
              <a:rPr lang="en-GB" b="1" dirty="0"/>
              <a:t>Adaptable</a:t>
            </a:r>
          </a:p>
          <a:p>
            <a:pPr lvl="0"/>
            <a:r>
              <a:rPr lang="en-GB" b="1" dirty="0"/>
              <a:t>Measurable</a:t>
            </a:r>
            <a:endParaRPr lang="en-GB" dirty="0"/>
          </a:p>
          <a:p>
            <a:pPr lvl="0"/>
            <a:r>
              <a:rPr lang="en-GB" b="1" dirty="0"/>
              <a:t>Understandable</a:t>
            </a:r>
          </a:p>
          <a:p>
            <a:pPr lvl="0"/>
            <a:r>
              <a:rPr lang="en-GB" b="1" dirty="0"/>
              <a:t>Unavoidable</a:t>
            </a:r>
            <a:endParaRPr lang="en-US" dirty="0"/>
          </a:p>
        </p:txBody>
      </p:sp>
    </p:spTree>
    <p:extLst>
      <p:ext uri="{BB962C8B-B14F-4D97-AF65-F5344CB8AC3E}">
        <p14:creationId xmlns:p14="http://schemas.microsoft.com/office/powerpoint/2010/main" val="354956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roles and responsibilities</a:t>
            </a:r>
          </a:p>
        </p:txBody>
      </p:sp>
      <p:sp>
        <p:nvSpPr>
          <p:cNvPr id="4" name="Content Placeholder 3"/>
          <p:cNvSpPr>
            <a:spLocks noGrp="1"/>
          </p:cNvSpPr>
          <p:nvPr>
            <p:ph sz="half" idx="4294967295"/>
          </p:nvPr>
        </p:nvSpPr>
        <p:spPr>
          <a:xfrm>
            <a:off x="4838700" y="1371600"/>
            <a:ext cx="4305300" cy="3371850"/>
          </a:xfrm>
        </p:spPr>
        <p:txBody>
          <a:bodyPr/>
          <a:lstStyle/>
          <a:p>
            <a:r>
              <a:rPr lang="en-US" dirty="0"/>
              <a:t>Organized by:</a:t>
            </a:r>
          </a:p>
          <a:p>
            <a:pPr lvl="1"/>
            <a:r>
              <a:rPr lang="en-US" dirty="0"/>
              <a:t>Subject area</a:t>
            </a:r>
          </a:p>
          <a:p>
            <a:pPr lvl="1"/>
            <a:r>
              <a:rPr lang="en-US" dirty="0"/>
              <a:t>Business unit</a:t>
            </a:r>
          </a:p>
        </p:txBody>
      </p:sp>
      <p:sp>
        <p:nvSpPr>
          <p:cNvPr id="6" name="Rectangle 5">
            <a:extLst>
              <a:ext uri="{FF2B5EF4-FFF2-40B4-BE49-F238E27FC236}">
                <a16:creationId xmlns:a16="http://schemas.microsoft.com/office/drawing/2014/main" id="{9A9C1F15-FA61-FC42-8148-C47F96653ABB}"/>
              </a:ext>
            </a:extLst>
          </p:cNvPr>
          <p:cNvSpPr>
            <a:spLocks noChangeArrowheads="1"/>
          </p:cNvSpPr>
          <p:nvPr/>
        </p:nvSpPr>
        <p:spPr bwMode="auto">
          <a:xfrm>
            <a:off x="3142872" y="1092825"/>
            <a:ext cx="4860817" cy="3650625"/>
          </a:xfrm>
          <a:prstGeom prst="rect">
            <a:avLst/>
          </a:prstGeom>
          <a:solidFill>
            <a:schemeClr val="bg1"/>
          </a:solidFill>
          <a:ln w="9525">
            <a:solidFill>
              <a:srgbClr val="4A7EBB"/>
            </a:solidFill>
            <a:miter lim="800000"/>
            <a:headEnd/>
            <a:tailEnd/>
          </a:ln>
          <a:effectLst>
            <a:outerShdw blurRad="40000" dist="23000" dir="5400000" rotWithShape="0">
              <a:srgbClr val="808080">
                <a:alpha val="34999"/>
              </a:srgbClr>
            </a:outerShdw>
          </a:effectLst>
        </p:spPr>
        <p:txBody>
          <a:bodyPr wrap="none" anchor="ctr"/>
          <a:lstStyle/>
          <a:p>
            <a:pPr algn="ctr">
              <a:defRPr/>
            </a:pPr>
            <a:endParaRPr lang="en-GB" sz="1050">
              <a:solidFill>
                <a:schemeClr val="lt1"/>
              </a:solidFill>
              <a:latin typeface="+mn-lt"/>
              <a:ea typeface="+mn-ea"/>
            </a:endParaRPr>
          </a:p>
        </p:txBody>
      </p:sp>
      <p:grpSp>
        <p:nvGrpSpPr>
          <p:cNvPr id="7" name="Group 1">
            <a:extLst>
              <a:ext uri="{FF2B5EF4-FFF2-40B4-BE49-F238E27FC236}">
                <a16:creationId xmlns:a16="http://schemas.microsoft.com/office/drawing/2014/main" id="{941D568D-3E39-9F42-B79F-4F0C247D4EEB}"/>
              </a:ext>
            </a:extLst>
          </p:cNvPr>
          <p:cNvGrpSpPr>
            <a:grpSpLocks/>
          </p:cNvGrpSpPr>
          <p:nvPr/>
        </p:nvGrpSpPr>
        <p:grpSpPr bwMode="auto">
          <a:xfrm>
            <a:off x="6432391" y="2086582"/>
            <a:ext cx="346315" cy="488835"/>
            <a:chOff x="5838291" y="2040336"/>
            <a:chExt cx="576382" cy="869463"/>
          </a:xfrm>
        </p:grpSpPr>
        <p:sp>
          <p:nvSpPr>
            <p:cNvPr id="81" name="Delay 80">
              <a:extLst>
                <a:ext uri="{FF2B5EF4-FFF2-40B4-BE49-F238E27FC236}">
                  <a16:creationId xmlns:a16="http://schemas.microsoft.com/office/drawing/2014/main" id="{2BAB5139-2AD6-034C-A94F-D4110FDF1CB8}"/>
                </a:ext>
              </a:extLst>
            </p:cNvPr>
            <p:cNvSpPr/>
            <p:nvPr/>
          </p:nvSpPr>
          <p:spPr>
            <a:xfrm rot="16200000">
              <a:off x="5828520" y="2323646"/>
              <a:ext cx="595924" cy="576382"/>
            </a:xfrm>
            <a:prstGeom prst="flowChartDelay">
              <a:avLst/>
            </a:prstGeom>
            <a:solidFill>
              <a:schemeClr val="accent5"/>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82" name="Oval 81">
              <a:extLst>
                <a:ext uri="{FF2B5EF4-FFF2-40B4-BE49-F238E27FC236}">
                  <a16:creationId xmlns:a16="http://schemas.microsoft.com/office/drawing/2014/main" id="{87A38392-DC32-3543-8BFD-71A4DBAB6CA0}"/>
                </a:ext>
              </a:extLst>
            </p:cNvPr>
            <p:cNvSpPr/>
            <p:nvPr/>
          </p:nvSpPr>
          <p:spPr>
            <a:xfrm>
              <a:off x="5926209" y="2040336"/>
              <a:ext cx="390770" cy="390770"/>
            </a:xfrm>
            <a:prstGeom prst="ellipse">
              <a:avLst/>
            </a:prstGeom>
            <a:solidFill>
              <a:schemeClr val="accent5"/>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8" name="Group 3">
            <a:extLst>
              <a:ext uri="{FF2B5EF4-FFF2-40B4-BE49-F238E27FC236}">
                <a16:creationId xmlns:a16="http://schemas.microsoft.com/office/drawing/2014/main" id="{83176F60-D3CA-A34F-BE9C-C0D12E057824}"/>
              </a:ext>
            </a:extLst>
          </p:cNvPr>
          <p:cNvGrpSpPr>
            <a:grpSpLocks/>
          </p:cNvGrpSpPr>
          <p:nvPr/>
        </p:nvGrpSpPr>
        <p:grpSpPr bwMode="auto">
          <a:xfrm>
            <a:off x="6432391" y="1267984"/>
            <a:ext cx="346315" cy="488835"/>
            <a:chOff x="5830565" y="310795"/>
            <a:chExt cx="576382" cy="869463"/>
          </a:xfrm>
        </p:grpSpPr>
        <p:sp>
          <p:nvSpPr>
            <p:cNvPr id="79" name="Delay 78">
              <a:extLst>
                <a:ext uri="{FF2B5EF4-FFF2-40B4-BE49-F238E27FC236}">
                  <a16:creationId xmlns:a16="http://schemas.microsoft.com/office/drawing/2014/main" id="{368C3658-5E41-4243-983A-A17C85A9FD9A}"/>
                </a:ext>
              </a:extLst>
            </p:cNvPr>
            <p:cNvSpPr/>
            <p:nvPr/>
          </p:nvSpPr>
          <p:spPr>
            <a:xfrm rot="16200000">
              <a:off x="5820794" y="594105"/>
              <a:ext cx="595924" cy="576382"/>
            </a:xfrm>
            <a:prstGeom prst="flowChartDelay">
              <a:avLst/>
            </a:prstGeom>
            <a:solidFill>
              <a:schemeClr val="accent1"/>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80" name="Oval 79">
              <a:extLst>
                <a:ext uri="{FF2B5EF4-FFF2-40B4-BE49-F238E27FC236}">
                  <a16:creationId xmlns:a16="http://schemas.microsoft.com/office/drawing/2014/main" id="{25CA7639-B005-AE49-AC91-FC29309BD83D}"/>
                </a:ext>
              </a:extLst>
            </p:cNvPr>
            <p:cNvSpPr/>
            <p:nvPr/>
          </p:nvSpPr>
          <p:spPr>
            <a:xfrm>
              <a:off x="5918483" y="310795"/>
              <a:ext cx="390770" cy="390770"/>
            </a:xfrm>
            <a:prstGeom prst="ellipse">
              <a:avLst/>
            </a:prstGeom>
            <a:solidFill>
              <a:schemeClr val="accent1"/>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9" name="TextBox 25">
            <a:extLst>
              <a:ext uri="{FF2B5EF4-FFF2-40B4-BE49-F238E27FC236}">
                <a16:creationId xmlns:a16="http://schemas.microsoft.com/office/drawing/2014/main" id="{41EFD5C7-B2F2-914E-903C-8ED9F560AF1D}"/>
              </a:ext>
            </a:extLst>
          </p:cNvPr>
          <p:cNvSpPr txBox="1">
            <a:spLocks noChangeArrowheads="1"/>
          </p:cNvSpPr>
          <p:nvPr/>
        </p:nvSpPr>
        <p:spPr bwMode="auto">
          <a:xfrm>
            <a:off x="6287192" y="2561119"/>
            <a:ext cx="63671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Data</a:t>
            </a:r>
          </a:p>
          <a:p>
            <a:pPr algn="ctr" eaLnBrk="1" hangingPunct="1"/>
            <a:r>
              <a:rPr lang="en-GB" altLang="en-US" sz="1050" dirty="0"/>
              <a:t>Steward</a:t>
            </a:r>
          </a:p>
        </p:txBody>
      </p:sp>
      <p:sp>
        <p:nvSpPr>
          <p:cNvPr id="10" name="TextBox 26">
            <a:extLst>
              <a:ext uri="{FF2B5EF4-FFF2-40B4-BE49-F238E27FC236}">
                <a16:creationId xmlns:a16="http://schemas.microsoft.com/office/drawing/2014/main" id="{20B6B773-DA36-D744-9712-20AA904745A8}"/>
              </a:ext>
            </a:extLst>
          </p:cNvPr>
          <p:cNvSpPr txBox="1">
            <a:spLocks noChangeArrowheads="1"/>
          </p:cNvSpPr>
          <p:nvPr/>
        </p:nvSpPr>
        <p:spPr bwMode="auto">
          <a:xfrm>
            <a:off x="6383206" y="1739839"/>
            <a:ext cx="444684"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Asset</a:t>
            </a:r>
          </a:p>
          <a:p>
            <a:pPr algn="ctr" eaLnBrk="1" hangingPunct="1"/>
            <a:r>
              <a:rPr lang="en-GB" altLang="en-US" sz="1050"/>
              <a:t>Owner</a:t>
            </a:r>
          </a:p>
        </p:txBody>
      </p:sp>
      <p:sp>
        <p:nvSpPr>
          <p:cNvPr id="11" name="TextBox 28">
            <a:extLst>
              <a:ext uri="{FF2B5EF4-FFF2-40B4-BE49-F238E27FC236}">
                <a16:creationId xmlns:a16="http://schemas.microsoft.com/office/drawing/2014/main" id="{F716987E-5015-0745-B11E-4ADA62796D19}"/>
              </a:ext>
            </a:extLst>
          </p:cNvPr>
          <p:cNvSpPr txBox="1">
            <a:spLocks noChangeArrowheads="1"/>
          </p:cNvSpPr>
          <p:nvPr/>
        </p:nvSpPr>
        <p:spPr bwMode="auto">
          <a:xfrm>
            <a:off x="3266455" y="2561118"/>
            <a:ext cx="755526"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System</a:t>
            </a:r>
          </a:p>
          <a:p>
            <a:pPr algn="ctr" eaLnBrk="1" hangingPunct="1"/>
            <a:r>
              <a:rPr lang="en-GB" altLang="en-US" sz="1050" dirty="0"/>
              <a:t>Administrator</a:t>
            </a:r>
          </a:p>
        </p:txBody>
      </p:sp>
      <p:grpSp>
        <p:nvGrpSpPr>
          <p:cNvPr id="12" name="Group 29">
            <a:extLst>
              <a:ext uri="{FF2B5EF4-FFF2-40B4-BE49-F238E27FC236}">
                <a16:creationId xmlns:a16="http://schemas.microsoft.com/office/drawing/2014/main" id="{01418885-C46D-C048-AE6D-0014BA89ADF6}"/>
              </a:ext>
            </a:extLst>
          </p:cNvPr>
          <p:cNvGrpSpPr>
            <a:grpSpLocks/>
          </p:cNvGrpSpPr>
          <p:nvPr/>
        </p:nvGrpSpPr>
        <p:grpSpPr bwMode="auto">
          <a:xfrm>
            <a:off x="3471061" y="2086581"/>
            <a:ext cx="346315" cy="489729"/>
            <a:chOff x="1380644" y="3135782"/>
            <a:chExt cx="576382" cy="869463"/>
          </a:xfrm>
        </p:grpSpPr>
        <p:sp>
          <p:nvSpPr>
            <p:cNvPr id="77" name="Delay 76">
              <a:extLst>
                <a:ext uri="{FF2B5EF4-FFF2-40B4-BE49-F238E27FC236}">
                  <a16:creationId xmlns:a16="http://schemas.microsoft.com/office/drawing/2014/main" id="{9DDB9D89-0EFE-864B-8226-CA272C8197F0}"/>
                </a:ext>
              </a:extLst>
            </p:cNvPr>
            <p:cNvSpPr/>
            <p:nvPr/>
          </p:nvSpPr>
          <p:spPr>
            <a:xfrm rot="16200000">
              <a:off x="1370873" y="3419092"/>
              <a:ext cx="595924" cy="576382"/>
            </a:xfrm>
            <a:prstGeom prst="flowChartDelay">
              <a:avLst/>
            </a:prstGeom>
            <a:solidFill>
              <a:schemeClr val="accent6"/>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78" name="Oval 77">
              <a:extLst>
                <a:ext uri="{FF2B5EF4-FFF2-40B4-BE49-F238E27FC236}">
                  <a16:creationId xmlns:a16="http://schemas.microsoft.com/office/drawing/2014/main" id="{4DFFA0F3-F110-9C4A-8D8A-2310738E855E}"/>
                </a:ext>
              </a:extLst>
            </p:cNvPr>
            <p:cNvSpPr/>
            <p:nvPr/>
          </p:nvSpPr>
          <p:spPr>
            <a:xfrm>
              <a:off x="1468562" y="3135782"/>
              <a:ext cx="390770" cy="390770"/>
            </a:xfrm>
            <a:prstGeom prst="ellipse">
              <a:avLst/>
            </a:prstGeom>
            <a:solidFill>
              <a:schemeClr val="accent6"/>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13" name="Group 91">
            <a:extLst>
              <a:ext uri="{FF2B5EF4-FFF2-40B4-BE49-F238E27FC236}">
                <a16:creationId xmlns:a16="http://schemas.microsoft.com/office/drawing/2014/main" id="{D35CD93C-539B-1A48-85FC-A69EDE1B6B81}"/>
              </a:ext>
            </a:extLst>
          </p:cNvPr>
          <p:cNvGrpSpPr>
            <a:grpSpLocks/>
          </p:cNvGrpSpPr>
          <p:nvPr/>
        </p:nvGrpSpPr>
        <p:grpSpPr bwMode="auto">
          <a:xfrm>
            <a:off x="3471061" y="1267984"/>
            <a:ext cx="346315" cy="488835"/>
            <a:chOff x="907292" y="401049"/>
            <a:chExt cx="576382" cy="869463"/>
          </a:xfrm>
        </p:grpSpPr>
        <p:sp>
          <p:nvSpPr>
            <p:cNvPr id="75" name="Delay 74">
              <a:extLst>
                <a:ext uri="{FF2B5EF4-FFF2-40B4-BE49-F238E27FC236}">
                  <a16:creationId xmlns:a16="http://schemas.microsoft.com/office/drawing/2014/main" id="{10A6E828-3ABE-A74D-8D4D-E3CBAB7E6717}"/>
                </a:ext>
              </a:extLst>
            </p:cNvPr>
            <p:cNvSpPr/>
            <p:nvPr/>
          </p:nvSpPr>
          <p:spPr>
            <a:xfrm rot="16200000">
              <a:off x="897521" y="684359"/>
              <a:ext cx="595924" cy="576382"/>
            </a:xfrm>
            <a:prstGeom prst="flowChartDelay">
              <a:avLst/>
            </a:prstGeom>
            <a:solidFill>
              <a:schemeClr val="tx2"/>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76" name="Oval 75">
              <a:extLst>
                <a:ext uri="{FF2B5EF4-FFF2-40B4-BE49-F238E27FC236}">
                  <a16:creationId xmlns:a16="http://schemas.microsoft.com/office/drawing/2014/main" id="{D8B1BFFA-3F19-0A4C-8BEE-E55C34174335}"/>
                </a:ext>
              </a:extLst>
            </p:cNvPr>
            <p:cNvSpPr/>
            <p:nvPr/>
          </p:nvSpPr>
          <p:spPr>
            <a:xfrm>
              <a:off x="995210" y="401049"/>
              <a:ext cx="390770" cy="390770"/>
            </a:xfrm>
            <a:prstGeom prst="ellipse">
              <a:avLst/>
            </a:prstGeom>
            <a:solidFill>
              <a:schemeClr val="tx2"/>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14" name="TextBox 34">
            <a:extLst>
              <a:ext uri="{FF2B5EF4-FFF2-40B4-BE49-F238E27FC236}">
                <a16:creationId xmlns:a16="http://schemas.microsoft.com/office/drawing/2014/main" id="{12CF3DD0-B78C-3D43-920A-FD086804D44B}"/>
              </a:ext>
            </a:extLst>
          </p:cNvPr>
          <p:cNvSpPr txBox="1">
            <a:spLocks noChangeArrowheads="1"/>
          </p:cNvSpPr>
          <p:nvPr/>
        </p:nvSpPr>
        <p:spPr bwMode="auto">
          <a:xfrm>
            <a:off x="3427104" y="1739839"/>
            <a:ext cx="448538"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Data</a:t>
            </a:r>
          </a:p>
          <a:p>
            <a:pPr algn="ctr" eaLnBrk="1" hangingPunct="1"/>
            <a:r>
              <a:rPr lang="en-GB" altLang="en-US" sz="1050"/>
              <a:t>Officer</a:t>
            </a:r>
          </a:p>
        </p:txBody>
      </p:sp>
      <p:sp>
        <p:nvSpPr>
          <p:cNvPr id="15" name="TextBox 38">
            <a:extLst>
              <a:ext uri="{FF2B5EF4-FFF2-40B4-BE49-F238E27FC236}">
                <a16:creationId xmlns:a16="http://schemas.microsoft.com/office/drawing/2014/main" id="{C4F8079E-A967-284A-86B8-D8E5D1403FCB}"/>
              </a:ext>
            </a:extLst>
          </p:cNvPr>
          <p:cNvSpPr txBox="1">
            <a:spLocks noChangeArrowheads="1"/>
          </p:cNvSpPr>
          <p:nvPr/>
        </p:nvSpPr>
        <p:spPr bwMode="auto">
          <a:xfrm>
            <a:off x="3936314" y="4323427"/>
            <a:ext cx="59022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Data</a:t>
            </a:r>
          </a:p>
          <a:p>
            <a:pPr algn="ctr" eaLnBrk="1" hangingPunct="1"/>
            <a:r>
              <a:rPr lang="en-GB" altLang="en-US" sz="1050" dirty="0"/>
              <a:t>Subject</a:t>
            </a:r>
          </a:p>
        </p:txBody>
      </p:sp>
      <p:grpSp>
        <p:nvGrpSpPr>
          <p:cNvPr id="16" name="Group 94">
            <a:extLst>
              <a:ext uri="{FF2B5EF4-FFF2-40B4-BE49-F238E27FC236}">
                <a16:creationId xmlns:a16="http://schemas.microsoft.com/office/drawing/2014/main" id="{49D19923-726E-444F-8884-CA06FFA1EEB4}"/>
              </a:ext>
            </a:extLst>
          </p:cNvPr>
          <p:cNvGrpSpPr>
            <a:grpSpLocks/>
          </p:cNvGrpSpPr>
          <p:nvPr/>
        </p:nvGrpSpPr>
        <p:grpSpPr bwMode="auto">
          <a:xfrm>
            <a:off x="4058747" y="3823868"/>
            <a:ext cx="346315" cy="488835"/>
            <a:chOff x="1913157" y="1904431"/>
            <a:chExt cx="576382" cy="869463"/>
          </a:xfrm>
        </p:grpSpPr>
        <p:sp>
          <p:nvSpPr>
            <p:cNvPr id="73" name="Delay 72">
              <a:extLst>
                <a:ext uri="{FF2B5EF4-FFF2-40B4-BE49-F238E27FC236}">
                  <a16:creationId xmlns:a16="http://schemas.microsoft.com/office/drawing/2014/main" id="{8259FD74-6BF9-4442-9C46-0C5475262A85}"/>
                </a:ext>
              </a:extLst>
            </p:cNvPr>
            <p:cNvSpPr/>
            <p:nvPr/>
          </p:nvSpPr>
          <p:spPr>
            <a:xfrm rot="16200000">
              <a:off x="1903386" y="2187741"/>
              <a:ext cx="595924" cy="576382"/>
            </a:xfrm>
            <a:prstGeom prst="flowChartDelay">
              <a:avLst/>
            </a:prstGeom>
            <a:solidFill>
              <a:schemeClr val="accent4">
                <a:lumMod val="40000"/>
                <a:lumOff val="60000"/>
              </a:schemeClr>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74" name="Oval 73">
              <a:extLst>
                <a:ext uri="{FF2B5EF4-FFF2-40B4-BE49-F238E27FC236}">
                  <a16:creationId xmlns:a16="http://schemas.microsoft.com/office/drawing/2014/main" id="{D3CBCA76-7A04-AF4C-B835-A413CF0C122A}"/>
                </a:ext>
              </a:extLst>
            </p:cNvPr>
            <p:cNvSpPr/>
            <p:nvPr/>
          </p:nvSpPr>
          <p:spPr>
            <a:xfrm>
              <a:off x="2001075" y="1904431"/>
              <a:ext cx="390770" cy="390770"/>
            </a:xfrm>
            <a:prstGeom prst="ellipse">
              <a:avLst/>
            </a:prstGeom>
            <a:solidFill>
              <a:schemeClr val="accent4">
                <a:lumMod val="40000"/>
                <a:lumOff val="60000"/>
              </a:schemeClr>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17" name="Group 4">
            <a:extLst>
              <a:ext uri="{FF2B5EF4-FFF2-40B4-BE49-F238E27FC236}">
                <a16:creationId xmlns:a16="http://schemas.microsoft.com/office/drawing/2014/main" id="{9F61C0BB-B054-4242-A9DA-834A18D56302}"/>
              </a:ext>
            </a:extLst>
          </p:cNvPr>
          <p:cNvGrpSpPr>
            <a:grpSpLocks/>
          </p:cNvGrpSpPr>
          <p:nvPr/>
        </p:nvGrpSpPr>
        <p:grpSpPr bwMode="auto">
          <a:xfrm>
            <a:off x="7178448" y="2086582"/>
            <a:ext cx="346315" cy="488835"/>
            <a:chOff x="6953415" y="2012005"/>
            <a:chExt cx="576382" cy="869463"/>
          </a:xfrm>
        </p:grpSpPr>
        <p:sp>
          <p:nvSpPr>
            <p:cNvPr id="71" name="Delay 70">
              <a:extLst>
                <a:ext uri="{FF2B5EF4-FFF2-40B4-BE49-F238E27FC236}">
                  <a16:creationId xmlns:a16="http://schemas.microsoft.com/office/drawing/2014/main" id="{8BC6A5C7-16F7-BF49-B835-970198C6DE62}"/>
                </a:ext>
              </a:extLst>
            </p:cNvPr>
            <p:cNvSpPr/>
            <p:nvPr/>
          </p:nvSpPr>
          <p:spPr>
            <a:xfrm rot="16200000">
              <a:off x="6943644" y="2295315"/>
              <a:ext cx="595924" cy="576382"/>
            </a:xfrm>
            <a:prstGeom prst="flowChartDelay">
              <a:avLst/>
            </a:prstGeom>
            <a:solidFill>
              <a:schemeClr val="accent5">
                <a:lumMod val="40000"/>
                <a:lumOff val="60000"/>
              </a:schemeClr>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72" name="Oval 71">
              <a:extLst>
                <a:ext uri="{FF2B5EF4-FFF2-40B4-BE49-F238E27FC236}">
                  <a16:creationId xmlns:a16="http://schemas.microsoft.com/office/drawing/2014/main" id="{CC2FDC0A-2F79-C144-8A93-0E0749346C61}"/>
                </a:ext>
              </a:extLst>
            </p:cNvPr>
            <p:cNvSpPr/>
            <p:nvPr/>
          </p:nvSpPr>
          <p:spPr>
            <a:xfrm>
              <a:off x="7041333" y="2012005"/>
              <a:ext cx="390770" cy="390770"/>
            </a:xfrm>
            <a:prstGeom prst="ellipse">
              <a:avLst/>
            </a:prstGeom>
            <a:solidFill>
              <a:schemeClr val="accent5">
                <a:lumMod val="40000"/>
                <a:lumOff val="60000"/>
              </a:schemeClr>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18" name="TextBox 43">
            <a:extLst>
              <a:ext uri="{FF2B5EF4-FFF2-40B4-BE49-F238E27FC236}">
                <a16:creationId xmlns:a16="http://schemas.microsoft.com/office/drawing/2014/main" id="{799E3E23-7F1E-7B44-A2BB-349C236D118C}"/>
              </a:ext>
            </a:extLst>
          </p:cNvPr>
          <p:cNvSpPr txBox="1">
            <a:spLocks noChangeArrowheads="1"/>
          </p:cNvSpPr>
          <p:nvPr/>
        </p:nvSpPr>
        <p:spPr bwMode="auto">
          <a:xfrm>
            <a:off x="6986438" y="2561118"/>
            <a:ext cx="731289"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Data</a:t>
            </a:r>
          </a:p>
          <a:p>
            <a:pPr algn="ctr" eaLnBrk="1" hangingPunct="1"/>
            <a:r>
              <a:rPr lang="en-GB" altLang="en-US" sz="1050" dirty="0"/>
              <a:t>Custodian</a:t>
            </a:r>
          </a:p>
        </p:txBody>
      </p:sp>
      <p:grpSp>
        <p:nvGrpSpPr>
          <p:cNvPr id="19" name="Group 2">
            <a:extLst>
              <a:ext uri="{FF2B5EF4-FFF2-40B4-BE49-F238E27FC236}">
                <a16:creationId xmlns:a16="http://schemas.microsoft.com/office/drawing/2014/main" id="{0520F57D-59E2-224A-A1AC-736EA74B966E}"/>
              </a:ext>
            </a:extLst>
          </p:cNvPr>
          <p:cNvGrpSpPr>
            <a:grpSpLocks/>
          </p:cNvGrpSpPr>
          <p:nvPr/>
        </p:nvGrpSpPr>
        <p:grpSpPr bwMode="auto">
          <a:xfrm>
            <a:off x="7178448" y="1267984"/>
            <a:ext cx="346315" cy="488835"/>
            <a:chOff x="6891596" y="321166"/>
            <a:chExt cx="576382" cy="869463"/>
          </a:xfrm>
        </p:grpSpPr>
        <p:sp>
          <p:nvSpPr>
            <p:cNvPr id="69" name="Delay 68">
              <a:extLst>
                <a:ext uri="{FF2B5EF4-FFF2-40B4-BE49-F238E27FC236}">
                  <a16:creationId xmlns:a16="http://schemas.microsoft.com/office/drawing/2014/main" id="{0EEC0568-4A65-924F-8EB1-E51CE03A869F}"/>
                </a:ext>
              </a:extLst>
            </p:cNvPr>
            <p:cNvSpPr/>
            <p:nvPr/>
          </p:nvSpPr>
          <p:spPr>
            <a:xfrm rot="16200000">
              <a:off x="6881825" y="604476"/>
              <a:ext cx="595924" cy="576382"/>
            </a:xfrm>
            <a:prstGeom prst="flowChartDelay">
              <a:avLst/>
            </a:prstGeom>
            <a:solidFill>
              <a:schemeClr val="accent1">
                <a:lumMod val="60000"/>
                <a:lumOff val="40000"/>
              </a:schemeClr>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70" name="Oval 69">
              <a:extLst>
                <a:ext uri="{FF2B5EF4-FFF2-40B4-BE49-F238E27FC236}">
                  <a16:creationId xmlns:a16="http://schemas.microsoft.com/office/drawing/2014/main" id="{4410012A-927E-F046-83C1-886FD0EE49E4}"/>
                </a:ext>
              </a:extLst>
            </p:cNvPr>
            <p:cNvSpPr/>
            <p:nvPr/>
          </p:nvSpPr>
          <p:spPr>
            <a:xfrm>
              <a:off x="6979514" y="321166"/>
              <a:ext cx="390770" cy="390770"/>
            </a:xfrm>
            <a:prstGeom prst="ellipse">
              <a:avLst/>
            </a:prstGeom>
            <a:solidFill>
              <a:schemeClr val="accent1">
                <a:lumMod val="60000"/>
                <a:lumOff val="40000"/>
              </a:schemeClr>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20" name="TextBox 46">
            <a:extLst>
              <a:ext uri="{FF2B5EF4-FFF2-40B4-BE49-F238E27FC236}">
                <a16:creationId xmlns:a16="http://schemas.microsoft.com/office/drawing/2014/main" id="{C2991C49-7FE5-0A48-A168-0C136E40360E}"/>
              </a:ext>
            </a:extLst>
          </p:cNvPr>
          <p:cNvSpPr txBox="1">
            <a:spLocks noChangeArrowheads="1"/>
          </p:cNvSpPr>
          <p:nvPr/>
        </p:nvSpPr>
        <p:spPr bwMode="auto">
          <a:xfrm>
            <a:off x="7054599" y="1739839"/>
            <a:ext cx="594968"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Asset</a:t>
            </a:r>
          </a:p>
          <a:p>
            <a:pPr algn="ctr" eaLnBrk="1" hangingPunct="1"/>
            <a:r>
              <a:rPr lang="en-GB" altLang="en-US" sz="1050"/>
              <a:t>Consumer</a:t>
            </a:r>
          </a:p>
        </p:txBody>
      </p:sp>
      <p:sp>
        <p:nvSpPr>
          <p:cNvPr id="21" name="TextBox 47">
            <a:extLst>
              <a:ext uri="{FF2B5EF4-FFF2-40B4-BE49-F238E27FC236}">
                <a16:creationId xmlns:a16="http://schemas.microsoft.com/office/drawing/2014/main" id="{35151FED-8C43-BA48-83CC-81C97C33E6E1}"/>
              </a:ext>
            </a:extLst>
          </p:cNvPr>
          <p:cNvSpPr txBox="1">
            <a:spLocks noChangeArrowheads="1"/>
          </p:cNvSpPr>
          <p:nvPr/>
        </p:nvSpPr>
        <p:spPr bwMode="auto">
          <a:xfrm>
            <a:off x="4572968" y="1739839"/>
            <a:ext cx="566709"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Executive</a:t>
            </a:r>
          </a:p>
        </p:txBody>
      </p:sp>
      <p:grpSp>
        <p:nvGrpSpPr>
          <p:cNvPr id="22" name="Group 95">
            <a:extLst>
              <a:ext uri="{FF2B5EF4-FFF2-40B4-BE49-F238E27FC236}">
                <a16:creationId xmlns:a16="http://schemas.microsoft.com/office/drawing/2014/main" id="{132FC5D6-3619-9E47-81D9-5306D6DCB792}"/>
              </a:ext>
            </a:extLst>
          </p:cNvPr>
          <p:cNvGrpSpPr>
            <a:grpSpLocks/>
          </p:cNvGrpSpPr>
          <p:nvPr/>
        </p:nvGrpSpPr>
        <p:grpSpPr bwMode="auto">
          <a:xfrm>
            <a:off x="4683642" y="1267090"/>
            <a:ext cx="346315" cy="489729"/>
            <a:chOff x="2933629" y="443584"/>
            <a:chExt cx="576382" cy="869463"/>
          </a:xfrm>
        </p:grpSpPr>
        <p:sp>
          <p:nvSpPr>
            <p:cNvPr id="67" name="Delay 66">
              <a:extLst>
                <a:ext uri="{FF2B5EF4-FFF2-40B4-BE49-F238E27FC236}">
                  <a16:creationId xmlns:a16="http://schemas.microsoft.com/office/drawing/2014/main" id="{0BE792E6-A04A-5D4E-867C-2EBDAE36220B}"/>
                </a:ext>
              </a:extLst>
            </p:cNvPr>
            <p:cNvSpPr/>
            <p:nvPr/>
          </p:nvSpPr>
          <p:spPr>
            <a:xfrm rot="16200000">
              <a:off x="2923858" y="726894"/>
              <a:ext cx="595924" cy="576382"/>
            </a:xfrm>
            <a:prstGeom prst="flowChartDelay">
              <a:avLst/>
            </a:prstGeom>
            <a:solidFill>
              <a:schemeClr val="tx1">
                <a:lumMod val="50000"/>
                <a:lumOff val="50000"/>
              </a:schemeClr>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68" name="Oval 67">
              <a:extLst>
                <a:ext uri="{FF2B5EF4-FFF2-40B4-BE49-F238E27FC236}">
                  <a16:creationId xmlns:a16="http://schemas.microsoft.com/office/drawing/2014/main" id="{CDC114DE-B51D-1542-BFAE-9201FA11FEAF}"/>
                </a:ext>
              </a:extLst>
            </p:cNvPr>
            <p:cNvSpPr/>
            <p:nvPr/>
          </p:nvSpPr>
          <p:spPr>
            <a:xfrm>
              <a:off x="3021547" y="443584"/>
              <a:ext cx="390770" cy="390770"/>
            </a:xfrm>
            <a:prstGeom prst="ellipse">
              <a:avLst/>
            </a:prstGeom>
            <a:solidFill>
              <a:schemeClr val="tx1">
                <a:lumMod val="50000"/>
                <a:lumOff val="50000"/>
              </a:schemeClr>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23" name="TextBox 50">
            <a:extLst>
              <a:ext uri="{FF2B5EF4-FFF2-40B4-BE49-F238E27FC236}">
                <a16:creationId xmlns:a16="http://schemas.microsoft.com/office/drawing/2014/main" id="{25937058-7EF4-A74A-A48D-EC19EDFB2920}"/>
              </a:ext>
            </a:extLst>
          </p:cNvPr>
          <p:cNvSpPr txBox="1">
            <a:spLocks noChangeArrowheads="1"/>
          </p:cNvSpPr>
          <p:nvPr/>
        </p:nvSpPr>
        <p:spPr bwMode="auto">
          <a:xfrm>
            <a:off x="3944220" y="1739839"/>
            <a:ext cx="574416"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Regulator</a:t>
            </a:r>
          </a:p>
        </p:txBody>
      </p:sp>
      <p:grpSp>
        <p:nvGrpSpPr>
          <p:cNvPr id="24" name="Group 16">
            <a:extLst>
              <a:ext uri="{FF2B5EF4-FFF2-40B4-BE49-F238E27FC236}">
                <a16:creationId xmlns:a16="http://schemas.microsoft.com/office/drawing/2014/main" id="{473348C0-A99E-854A-B867-1BDB610C878F}"/>
              </a:ext>
            </a:extLst>
          </p:cNvPr>
          <p:cNvGrpSpPr>
            <a:grpSpLocks/>
          </p:cNvGrpSpPr>
          <p:nvPr/>
        </p:nvGrpSpPr>
        <p:grpSpPr bwMode="auto">
          <a:xfrm>
            <a:off x="4058747" y="1267984"/>
            <a:ext cx="346315" cy="488835"/>
            <a:chOff x="1913157" y="392179"/>
            <a:chExt cx="576382" cy="869463"/>
          </a:xfrm>
        </p:grpSpPr>
        <p:sp>
          <p:nvSpPr>
            <p:cNvPr id="65" name="Delay 64">
              <a:extLst>
                <a:ext uri="{FF2B5EF4-FFF2-40B4-BE49-F238E27FC236}">
                  <a16:creationId xmlns:a16="http://schemas.microsoft.com/office/drawing/2014/main" id="{D8D109E7-1003-C149-B411-CD94DA51690B}"/>
                </a:ext>
              </a:extLst>
            </p:cNvPr>
            <p:cNvSpPr/>
            <p:nvPr/>
          </p:nvSpPr>
          <p:spPr>
            <a:xfrm rot="16200000">
              <a:off x="1903386" y="675489"/>
              <a:ext cx="595924" cy="576382"/>
            </a:xfrm>
            <a:prstGeom prst="flowChartDelay">
              <a:avLst/>
            </a:prstGeom>
            <a:solidFill>
              <a:srgbClr val="800000"/>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66" name="Oval 65">
              <a:extLst>
                <a:ext uri="{FF2B5EF4-FFF2-40B4-BE49-F238E27FC236}">
                  <a16:creationId xmlns:a16="http://schemas.microsoft.com/office/drawing/2014/main" id="{5628A209-0306-864B-A5B5-C22A10CB94A1}"/>
                </a:ext>
              </a:extLst>
            </p:cNvPr>
            <p:cNvSpPr/>
            <p:nvPr/>
          </p:nvSpPr>
          <p:spPr>
            <a:xfrm>
              <a:off x="2001075" y="392179"/>
              <a:ext cx="390770" cy="390770"/>
            </a:xfrm>
            <a:prstGeom prst="ellipse">
              <a:avLst/>
            </a:prstGeom>
            <a:solidFill>
              <a:srgbClr val="800000"/>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25" name="TextBox 53">
            <a:extLst>
              <a:ext uri="{FF2B5EF4-FFF2-40B4-BE49-F238E27FC236}">
                <a16:creationId xmlns:a16="http://schemas.microsoft.com/office/drawing/2014/main" id="{D32CB275-237E-5F4C-958E-C34F01313FA6}"/>
              </a:ext>
            </a:extLst>
          </p:cNvPr>
          <p:cNvSpPr txBox="1">
            <a:spLocks noChangeArrowheads="1"/>
          </p:cNvSpPr>
          <p:nvPr/>
        </p:nvSpPr>
        <p:spPr bwMode="auto">
          <a:xfrm>
            <a:off x="3356644" y="4323427"/>
            <a:ext cx="574195"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Privacy</a:t>
            </a:r>
          </a:p>
          <a:p>
            <a:pPr algn="ctr" eaLnBrk="1" hangingPunct="1"/>
            <a:r>
              <a:rPr lang="en-GB" altLang="en-US" sz="1050" dirty="0"/>
              <a:t>Officer</a:t>
            </a:r>
          </a:p>
        </p:txBody>
      </p:sp>
      <p:grpSp>
        <p:nvGrpSpPr>
          <p:cNvPr id="26" name="Group 16">
            <a:extLst>
              <a:ext uri="{FF2B5EF4-FFF2-40B4-BE49-F238E27FC236}">
                <a16:creationId xmlns:a16="http://schemas.microsoft.com/office/drawing/2014/main" id="{CF7B3016-6411-9C4F-9CA1-0B33B7DEED02}"/>
              </a:ext>
            </a:extLst>
          </p:cNvPr>
          <p:cNvGrpSpPr>
            <a:grpSpLocks/>
          </p:cNvGrpSpPr>
          <p:nvPr/>
        </p:nvGrpSpPr>
        <p:grpSpPr bwMode="auto">
          <a:xfrm>
            <a:off x="3471061" y="3823867"/>
            <a:ext cx="346315" cy="489729"/>
            <a:chOff x="941631" y="1923105"/>
            <a:chExt cx="576382" cy="869463"/>
          </a:xfrm>
        </p:grpSpPr>
        <p:sp>
          <p:nvSpPr>
            <p:cNvPr id="63" name="Delay 62">
              <a:extLst>
                <a:ext uri="{FF2B5EF4-FFF2-40B4-BE49-F238E27FC236}">
                  <a16:creationId xmlns:a16="http://schemas.microsoft.com/office/drawing/2014/main" id="{B3031F91-9AE6-A246-ABCA-410440EE1FBC}"/>
                </a:ext>
              </a:extLst>
            </p:cNvPr>
            <p:cNvSpPr/>
            <p:nvPr/>
          </p:nvSpPr>
          <p:spPr>
            <a:xfrm rot="16200000">
              <a:off x="931860" y="2206415"/>
              <a:ext cx="595924" cy="576382"/>
            </a:xfrm>
            <a:prstGeom prst="flowChartDelay">
              <a:avLst/>
            </a:prstGeom>
            <a:solidFill>
              <a:schemeClr val="accent4"/>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64" name="Oval 63">
              <a:extLst>
                <a:ext uri="{FF2B5EF4-FFF2-40B4-BE49-F238E27FC236}">
                  <a16:creationId xmlns:a16="http://schemas.microsoft.com/office/drawing/2014/main" id="{181263BA-E8AC-2648-9BCB-4570D60E2060}"/>
                </a:ext>
              </a:extLst>
            </p:cNvPr>
            <p:cNvSpPr/>
            <p:nvPr/>
          </p:nvSpPr>
          <p:spPr>
            <a:xfrm>
              <a:off x="1029549" y="1923105"/>
              <a:ext cx="390770" cy="390770"/>
            </a:xfrm>
            <a:prstGeom prst="ellipse">
              <a:avLst/>
            </a:prstGeom>
            <a:solidFill>
              <a:schemeClr val="accent4"/>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27" name="Group 12">
            <a:extLst>
              <a:ext uri="{FF2B5EF4-FFF2-40B4-BE49-F238E27FC236}">
                <a16:creationId xmlns:a16="http://schemas.microsoft.com/office/drawing/2014/main" id="{45FBD039-BE25-5649-BBE0-33297287B14B}"/>
              </a:ext>
            </a:extLst>
          </p:cNvPr>
          <p:cNvGrpSpPr>
            <a:grpSpLocks/>
          </p:cNvGrpSpPr>
          <p:nvPr/>
        </p:nvGrpSpPr>
        <p:grpSpPr bwMode="auto">
          <a:xfrm>
            <a:off x="4683642" y="2086582"/>
            <a:ext cx="346315" cy="488835"/>
            <a:chOff x="2924902" y="1896953"/>
            <a:chExt cx="576382" cy="869463"/>
          </a:xfrm>
        </p:grpSpPr>
        <p:sp>
          <p:nvSpPr>
            <p:cNvPr id="61" name="Delay 60">
              <a:extLst>
                <a:ext uri="{FF2B5EF4-FFF2-40B4-BE49-F238E27FC236}">
                  <a16:creationId xmlns:a16="http://schemas.microsoft.com/office/drawing/2014/main" id="{5A8FF30C-10E2-DA4C-9A83-2069ED803407}"/>
                </a:ext>
              </a:extLst>
            </p:cNvPr>
            <p:cNvSpPr/>
            <p:nvPr/>
          </p:nvSpPr>
          <p:spPr>
            <a:xfrm rot="16200000">
              <a:off x="2915131" y="2180263"/>
              <a:ext cx="595924" cy="576382"/>
            </a:xfrm>
            <a:prstGeom prst="flowChartDelay">
              <a:avLst/>
            </a:prstGeom>
            <a:solidFill>
              <a:srgbClr val="FFFF00"/>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62" name="Oval 61">
              <a:extLst>
                <a:ext uri="{FF2B5EF4-FFF2-40B4-BE49-F238E27FC236}">
                  <a16:creationId xmlns:a16="http://schemas.microsoft.com/office/drawing/2014/main" id="{3FA34E52-6935-844C-908A-34E5B97BCD75}"/>
                </a:ext>
              </a:extLst>
            </p:cNvPr>
            <p:cNvSpPr/>
            <p:nvPr/>
          </p:nvSpPr>
          <p:spPr>
            <a:xfrm>
              <a:off x="3012820" y="1896953"/>
              <a:ext cx="390770" cy="390770"/>
            </a:xfrm>
            <a:prstGeom prst="ellipse">
              <a:avLst/>
            </a:prstGeom>
            <a:solidFill>
              <a:srgbClr val="FFFF00"/>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28" name="TextBox 58">
            <a:extLst>
              <a:ext uri="{FF2B5EF4-FFF2-40B4-BE49-F238E27FC236}">
                <a16:creationId xmlns:a16="http://schemas.microsoft.com/office/drawing/2014/main" id="{A982E2E7-4D75-6F43-A028-0A12B424ACD1}"/>
              </a:ext>
            </a:extLst>
          </p:cNvPr>
          <p:cNvSpPr txBox="1">
            <a:spLocks noChangeArrowheads="1"/>
          </p:cNvSpPr>
          <p:nvPr/>
        </p:nvSpPr>
        <p:spPr bwMode="auto">
          <a:xfrm>
            <a:off x="4605722" y="2561118"/>
            <a:ext cx="501200"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Security</a:t>
            </a:r>
          </a:p>
          <a:p>
            <a:pPr algn="ctr" eaLnBrk="1" hangingPunct="1"/>
            <a:r>
              <a:rPr lang="en-GB" altLang="en-US" sz="1050"/>
              <a:t>Officer</a:t>
            </a:r>
          </a:p>
        </p:txBody>
      </p:sp>
      <p:grpSp>
        <p:nvGrpSpPr>
          <p:cNvPr id="29" name="Group 10">
            <a:extLst>
              <a:ext uri="{FF2B5EF4-FFF2-40B4-BE49-F238E27FC236}">
                <a16:creationId xmlns:a16="http://schemas.microsoft.com/office/drawing/2014/main" id="{7DD1E85A-54C9-634A-B198-BA0434E16597}"/>
              </a:ext>
            </a:extLst>
          </p:cNvPr>
          <p:cNvGrpSpPr>
            <a:grpSpLocks/>
          </p:cNvGrpSpPr>
          <p:nvPr/>
        </p:nvGrpSpPr>
        <p:grpSpPr bwMode="auto">
          <a:xfrm>
            <a:off x="6432391" y="2954331"/>
            <a:ext cx="346315" cy="489729"/>
            <a:chOff x="5784054" y="3823895"/>
            <a:chExt cx="576382" cy="869463"/>
          </a:xfrm>
        </p:grpSpPr>
        <p:sp>
          <p:nvSpPr>
            <p:cNvPr id="59" name="Delay 58">
              <a:extLst>
                <a:ext uri="{FF2B5EF4-FFF2-40B4-BE49-F238E27FC236}">
                  <a16:creationId xmlns:a16="http://schemas.microsoft.com/office/drawing/2014/main" id="{F2321144-A320-3F47-90A7-E3B464B5F23D}"/>
                </a:ext>
              </a:extLst>
            </p:cNvPr>
            <p:cNvSpPr/>
            <p:nvPr/>
          </p:nvSpPr>
          <p:spPr>
            <a:xfrm rot="16200000">
              <a:off x="5774283" y="4107205"/>
              <a:ext cx="595924" cy="576382"/>
            </a:xfrm>
            <a:prstGeom prst="flowChartDelay">
              <a:avLst/>
            </a:prstGeom>
            <a:solidFill>
              <a:srgbClr val="336600"/>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60" name="Oval 59">
              <a:extLst>
                <a:ext uri="{FF2B5EF4-FFF2-40B4-BE49-F238E27FC236}">
                  <a16:creationId xmlns:a16="http://schemas.microsoft.com/office/drawing/2014/main" id="{57A3C4B7-27AC-BA4B-A923-C8261B030881}"/>
                </a:ext>
              </a:extLst>
            </p:cNvPr>
            <p:cNvSpPr/>
            <p:nvPr/>
          </p:nvSpPr>
          <p:spPr>
            <a:xfrm>
              <a:off x="5871972" y="3823895"/>
              <a:ext cx="390770" cy="390770"/>
            </a:xfrm>
            <a:prstGeom prst="ellipse">
              <a:avLst/>
            </a:prstGeom>
            <a:solidFill>
              <a:srgbClr val="336600"/>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30" name="TextBox 61">
            <a:extLst>
              <a:ext uri="{FF2B5EF4-FFF2-40B4-BE49-F238E27FC236}">
                <a16:creationId xmlns:a16="http://schemas.microsoft.com/office/drawing/2014/main" id="{4CADC6AF-887E-2347-B955-8489DB40983D}"/>
              </a:ext>
            </a:extLst>
          </p:cNvPr>
          <p:cNvSpPr txBox="1">
            <a:spLocks noChangeArrowheads="1"/>
          </p:cNvSpPr>
          <p:nvPr/>
        </p:nvSpPr>
        <p:spPr bwMode="auto">
          <a:xfrm>
            <a:off x="6376142" y="3449422"/>
            <a:ext cx="458814"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Project</a:t>
            </a:r>
          </a:p>
          <a:p>
            <a:pPr algn="ctr" eaLnBrk="1" hangingPunct="1"/>
            <a:r>
              <a:rPr lang="en-GB" altLang="en-US" sz="1050"/>
              <a:t>Lead</a:t>
            </a:r>
          </a:p>
        </p:txBody>
      </p:sp>
      <p:sp>
        <p:nvSpPr>
          <p:cNvPr id="31" name="TextBox 62">
            <a:extLst>
              <a:ext uri="{FF2B5EF4-FFF2-40B4-BE49-F238E27FC236}">
                <a16:creationId xmlns:a16="http://schemas.microsoft.com/office/drawing/2014/main" id="{EFBF1B68-A597-3445-8CB8-B94C33BC7C15}"/>
              </a:ext>
            </a:extLst>
          </p:cNvPr>
          <p:cNvSpPr txBox="1">
            <a:spLocks noChangeArrowheads="1"/>
          </p:cNvSpPr>
          <p:nvPr/>
        </p:nvSpPr>
        <p:spPr bwMode="auto">
          <a:xfrm>
            <a:off x="5240799" y="1739839"/>
            <a:ext cx="558112"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Manager</a:t>
            </a:r>
          </a:p>
        </p:txBody>
      </p:sp>
      <p:grpSp>
        <p:nvGrpSpPr>
          <p:cNvPr id="32" name="Group 15">
            <a:extLst>
              <a:ext uri="{FF2B5EF4-FFF2-40B4-BE49-F238E27FC236}">
                <a16:creationId xmlns:a16="http://schemas.microsoft.com/office/drawing/2014/main" id="{4BE61F40-C3DA-A145-AD12-602930BB13D8}"/>
              </a:ext>
            </a:extLst>
          </p:cNvPr>
          <p:cNvGrpSpPr>
            <a:grpSpLocks/>
          </p:cNvGrpSpPr>
          <p:nvPr/>
        </p:nvGrpSpPr>
        <p:grpSpPr bwMode="auto">
          <a:xfrm>
            <a:off x="5346697" y="1267984"/>
            <a:ext cx="346315" cy="488835"/>
            <a:chOff x="4029999" y="424910"/>
            <a:chExt cx="576382" cy="869463"/>
          </a:xfrm>
        </p:grpSpPr>
        <p:sp>
          <p:nvSpPr>
            <p:cNvPr id="57" name="Delay 56">
              <a:extLst>
                <a:ext uri="{FF2B5EF4-FFF2-40B4-BE49-F238E27FC236}">
                  <a16:creationId xmlns:a16="http://schemas.microsoft.com/office/drawing/2014/main" id="{832A83E7-CAB9-8B48-9AA4-3BD48B9036ED}"/>
                </a:ext>
              </a:extLst>
            </p:cNvPr>
            <p:cNvSpPr/>
            <p:nvPr/>
          </p:nvSpPr>
          <p:spPr>
            <a:xfrm rot="16200000">
              <a:off x="4020228" y="708220"/>
              <a:ext cx="595924" cy="576382"/>
            </a:xfrm>
            <a:prstGeom prst="flowChartDelay">
              <a:avLst/>
            </a:prstGeom>
            <a:solidFill>
              <a:schemeClr val="bg1">
                <a:lumMod val="75000"/>
              </a:schemeClr>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58" name="Oval 57">
              <a:extLst>
                <a:ext uri="{FF2B5EF4-FFF2-40B4-BE49-F238E27FC236}">
                  <a16:creationId xmlns:a16="http://schemas.microsoft.com/office/drawing/2014/main" id="{F500F303-F208-8646-9E0F-24CD77063E5B}"/>
                </a:ext>
              </a:extLst>
            </p:cNvPr>
            <p:cNvSpPr/>
            <p:nvPr/>
          </p:nvSpPr>
          <p:spPr>
            <a:xfrm>
              <a:off x="4117917" y="424910"/>
              <a:ext cx="390770" cy="390770"/>
            </a:xfrm>
            <a:prstGeom prst="ellipse">
              <a:avLst/>
            </a:prstGeom>
            <a:solidFill>
              <a:schemeClr val="bg1">
                <a:lumMod val="75000"/>
              </a:schemeClr>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33" name="Group 6">
            <a:extLst>
              <a:ext uri="{FF2B5EF4-FFF2-40B4-BE49-F238E27FC236}">
                <a16:creationId xmlns:a16="http://schemas.microsoft.com/office/drawing/2014/main" id="{4C47548C-269F-C941-8DFB-D227F9786265}"/>
              </a:ext>
            </a:extLst>
          </p:cNvPr>
          <p:cNvGrpSpPr>
            <a:grpSpLocks/>
          </p:cNvGrpSpPr>
          <p:nvPr/>
        </p:nvGrpSpPr>
        <p:grpSpPr bwMode="auto">
          <a:xfrm>
            <a:off x="7178448" y="2954331"/>
            <a:ext cx="346315" cy="489729"/>
            <a:chOff x="7143912" y="3853254"/>
            <a:chExt cx="576382" cy="869463"/>
          </a:xfrm>
        </p:grpSpPr>
        <p:sp>
          <p:nvSpPr>
            <p:cNvPr id="55" name="Delay 54">
              <a:extLst>
                <a:ext uri="{FF2B5EF4-FFF2-40B4-BE49-F238E27FC236}">
                  <a16:creationId xmlns:a16="http://schemas.microsoft.com/office/drawing/2014/main" id="{9315E65B-C76C-ED48-9894-7006EDEA5D1D}"/>
                </a:ext>
              </a:extLst>
            </p:cNvPr>
            <p:cNvSpPr/>
            <p:nvPr/>
          </p:nvSpPr>
          <p:spPr>
            <a:xfrm rot="16200000">
              <a:off x="7134141" y="4136564"/>
              <a:ext cx="595924" cy="576382"/>
            </a:xfrm>
            <a:prstGeom prst="flowChartDelay">
              <a:avLst/>
            </a:prstGeom>
            <a:solidFill>
              <a:schemeClr val="accent3">
                <a:lumMod val="60000"/>
                <a:lumOff val="40000"/>
              </a:schemeClr>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56" name="Oval 55">
              <a:extLst>
                <a:ext uri="{FF2B5EF4-FFF2-40B4-BE49-F238E27FC236}">
                  <a16:creationId xmlns:a16="http://schemas.microsoft.com/office/drawing/2014/main" id="{C5BC02BB-4835-7445-B2DE-CCE9C2544D41}"/>
                </a:ext>
              </a:extLst>
            </p:cNvPr>
            <p:cNvSpPr/>
            <p:nvPr/>
          </p:nvSpPr>
          <p:spPr>
            <a:xfrm>
              <a:off x="7231830" y="3853254"/>
              <a:ext cx="390770" cy="390770"/>
            </a:xfrm>
            <a:prstGeom prst="ellipse">
              <a:avLst/>
            </a:prstGeom>
            <a:solidFill>
              <a:schemeClr val="accent3">
                <a:lumMod val="60000"/>
                <a:lumOff val="40000"/>
              </a:schemeClr>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34" name="TextBox 67">
            <a:extLst>
              <a:ext uri="{FF2B5EF4-FFF2-40B4-BE49-F238E27FC236}">
                <a16:creationId xmlns:a16="http://schemas.microsoft.com/office/drawing/2014/main" id="{76D1AE57-3DD2-A549-A2FB-148D789F8023}"/>
              </a:ext>
            </a:extLst>
          </p:cNvPr>
          <p:cNvSpPr txBox="1">
            <a:spLocks noChangeArrowheads="1"/>
          </p:cNvSpPr>
          <p:nvPr/>
        </p:nvSpPr>
        <p:spPr bwMode="auto">
          <a:xfrm>
            <a:off x="7051552" y="3449422"/>
            <a:ext cx="600106"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Developer</a:t>
            </a:r>
          </a:p>
        </p:txBody>
      </p:sp>
      <p:grpSp>
        <p:nvGrpSpPr>
          <p:cNvPr id="35" name="Group 11">
            <a:extLst>
              <a:ext uri="{FF2B5EF4-FFF2-40B4-BE49-F238E27FC236}">
                <a16:creationId xmlns:a16="http://schemas.microsoft.com/office/drawing/2014/main" id="{04D7C281-E54B-2D4E-8B63-1D7402A55619}"/>
              </a:ext>
            </a:extLst>
          </p:cNvPr>
          <p:cNvGrpSpPr>
            <a:grpSpLocks/>
          </p:cNvGrpSpPr>
          <p:nvPr/>
        </p:nvGrpSpPr>
        <p:grpSpPr bwMode="auto">
          <a:xfrm>
            <a:off x="3471061" y="2954331"/>
            <a:ext cx="346315" cy="489729"/>
            <a:chOff x="885370" y="3374561"/>
            <a:chExt cx="576382" cy="869463"/>
          </a:xfrm>
        </p:grpSpPr>
        <p:sp>
          <p:nvSpPr>
            <p:cNvPr id="53" name="Delay 52">
              <a:extLst>
                <a:ext uri="{FF2B5EF4-FFF2-40B4-BE49-F238E27FC236}">
                  <a16:creationId xmlns:a16="http://schemas.microsoft.com/office/drawing/2014/main" id="{9B05969D-FA56-A542-8331-A94F1E627BE1}"/>
                </a:ext>
              </a:extLst>
            </p:cNvPr>
            <p:cNvSpPr/>
            <p:nvPr/>
          </p:nvSpPr>
          <p:spPr>
            <a:xfrm rot="16200000">
              <a:off x="875599" y="3657871"/>
              <a:ext cx="595924" cy="576382"/>
            </a:xfrm>
            <a:prstGeom prst="flowChartDelay">
              <a:avLst/>
            </a:prstGeom>
            <a:solidFill>
              <a:schemeClr val="bg2">
                <a:lumMod val="50000"/>
              </a:schemeClr>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54" name="Oval 53">
              <a:extLst>
                <a:ext uri="{FF2B5EF4-FFF2-40B4-BE49-F238E27FC236}">
                  <a16:creationId xmlns:a16="http://schemas.microsoft.com/office/drawing/2014/main" id="{16FB1140-18B1-6942-8A00-28332815D63E}"/>
                </a:ext>
              </a:extLst>
            </p:cNvPr>
            <p:cNvSpPr/>
            <p:nvPr/>
          </p:nvSpPr>
          <p:spPr>
            <a:xfrm>
              <a:off x="973288" y="3374561"/>
              <a:ext cx="390770" cy="390770"/>
            </a:xfrm>
            <a:prstGeom prst="ellipse">
              <a:avLst/>
            </a:prstGeom>
            <a:solidFill>
              <a:schemeClr val="bg2">
                <a:lumMod val="50000"/>
              </a:schemeClr>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36" name="TextBox 70">
            <a:extLst>
              <a:ext uri="{FF2B5EF4-FFF2-40B4-BE49-F238E27FC236}">
                <a16:creationId xmlns:a16="http://schemas.microsoft.com/office/drawing/2014/main" id="{804AB310-E165-3448-908D-29B54FE5838D}"/>
              </a:ext>
            </a:extLst>
          </p:cNvPr>
          <p:cNvSpPr txBox="1">
            <a:spLocks noChangeArrowheads="1"/>
          </p:cNvSpPr>
          <p:nvPr/>
        </p:nvSpPr>
        <p:spPr bwMode="auto">
          <a:xfrm>
            <a:off x="3363598" y="3449422"/>
            <a:ext cx="560287"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Advocate</a:t>
            </a:r>
          </a:p>
        </p:txBody>
      </p:sp>
      <p:grpSp>
        <p:nvGrpSpPr>
          <p:cNvPr id="37" name="Group 96">
            <a:extLst>
              <a:ext uri="{FF2B5EF4-FFF2-40B4-BE49-F238E27FC236}">
                <a16:creationId xmlns:a16="http://schemas.microsoft.com/office/drawing/2014/main" id="{ECDDC005-53F7-184F-8208-D206CE103330}"/>
              </a:ext>
            </a:extLst>
          </p:cNvPr>
          <p:cNvGrpSpPr>
            <a:grpSpLocks/>
          </p:cNvGrpSpPr>
          <p:nvPr/>
        </p:nvGrpSpPr>
        <p:grpSpPr bwMode="auto">
          <a:xfrm>
            <a:off x="4058747" y="2954331"/>
            <a:ext cx="346315" cy="489729"/>
            <a:chOff x="3012820" y="3348044"/>
            <a:chExt cx="576382" cy="869463"/>
          </a:xfrm>
        </p:grpSpPr>
        <p:sp>
          <p:nvSpPr>
            <p:cNvPr id="51" name="Delay 50">
              <a:extLst>
                <a:ext uri="{FF2B5EF4-FFF2-40B4-BE49-F238E27FC236}">
                  <a16:creationId xmlns:a16="http://schemas.microsoft.com/office/drawing/2014/main" id="{C89F1AD6-7428-0C4E-BA64-356A994B974F}"/>
                </a:ext>
              </a:extLst>
            </p:cNvPr>
            <p:cNvSpPr/>
            <p:nvPr/>
          </p:nvSpPr>
          <p:spPr>
            <a:xfrm rot="16200000">
              <a:off x="3003049" y="3631354"/>
              <a:ext cx="595924" cy="576382"/>
            </a:xfrm>
            <a:prstGeom prst="flowChartDelay">
              <a:avLst/>
            </a:prstGeom>
            <a:solidFill>
              <a:srgbClr val="FF9999"/>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52" name="Oval 51">
              <a:extLst>
                <a:ext uri="{FF2B5EF4-FFF2-40B4-BE49-F238E27FC236}">
                  <a16:creationId xmlns:a16="http://schemas.microsoft.com/office/drawing/2014/main" id="{54A4002C-E9C0-E94B-9D66-90B8A09C76ED}"/>
                </a:ext>
              </a:extLst>
            </p:cNvPr>
            <p:cNvSpPr/>
            <p:nvPr/>
          </p:nvSpPr>
          <p:spPr>
            <a:xfrm>
              <a:off x="3100738" y="3348044"/>
              <a:ext cx="390770" cy="390770"/>
            </a:xfrm>
            <a:prstGeom prst="ellipse">
              <a:avLst/>
            </a:prstGeom>
            <a:solidFill>
              <a:srgbClr val="FF9999"/>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38" name="TextBox 76">
            <a:extLst>
              <a:ext uri="{FF2B5EF4-FFF2-40B4-BE49-F238E27FC236}">
                <a16:creationId xmlns:a16="http://schemas.microsoft.com/office/drawing/2014/main" id="{96EE8B69-5A38-A840-A78C-9C679287816E}"/>
              </a:ext>
            </a:extLst>
          </p:cNvPr>
          <p:cNvSpPr txBox="1">
            <a:spLocks noChangeArrowheads="1"/>
          </p:cNvSpPr>
          <p:nvPr/>
        </p:nvSpPr>
        <p:spPr bwMode="auto">
          <a:xfrm>
            <a:off x="3944697" y="3449422"/>
            <a:ext cx="574416"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Customer</a:t>
            </a:r>
          </a:p>
        </p:txBody>
      </p:sp>
      <p:sp>
        <p:nvSpPr>
          <p:cNvPr id="39" name="TextBox 77">
            <a:extLst>
              <a:ext uri="{FF2B5EF4-FFF2-40B4-BE49-F238E27FC236}">
                <a16:creationId xmlns:a16="http://schemas.microsoft.com/office/drawing/2014/main" id="{2904AA66-567E-6F4A-AEFA-7F11B345E1F1}"/>
              </a:ext>
            </a:extLst>
          </p:cNvPr>
          <p:cNvSpPr txBox="1">
            <a:spLocks noChangeArrowheads="1"/>
          </p:cNvSpPr>
          <p:nvPr/>
        </p:nvSpPr>
        <p:spPr bwMode="auto">
          <a:xfrm>
            <a:off x="5267327" y="2561118"/>
            <a:ext cx="505054" cy="311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Incident</a:t>
            </a:r>
          </a:p>
          <a:p>
            <a:pPr algn="ctr" eaLnBrk="1" hangingPunct="1"/>
            <a:r>
              <a:rPr lang="en-GB" altLang="en-US" sz="1050"/>
              <a:t>Owner</a:t>
            </a:r>
          </a:p>
        </p:txBody>
      </p:sp>
      <p:grpSp>
        <p:nvGrpSpPr>
          <p:cNvPr id="40" name="Group 13">
            <a:extLst>
              <a:ext uri="{FF2B5EF4-FFF2-40B4-BE49-F238E27FC236}">
                <a16:creationId xmlns:a16="http://schemas.microsoft.com/office/drawing/2014/main" id="{3D7CFFC4-034A-AD46-B0FB-5BA9A1964B8C}"/>
              </a:ext>
            </a:extLst>
          </p:cNvPr>
          <p:cNvGrpSpPr>
            <a:grpSpLocks/>
          </p:cNvGrpSpPr>
          <p:nvPr/>
        </p:nvGrpSpPr>
        <p:grpSpPr bwMode="auto">
          <a:xfrm>
            <a:off x="5346697" y="2086582"/>
            <a:ext cx="346315" cy="488835"/>
            <a:chOff x="4029999" y="1831274"/>
            <a:chExt cx="576382" cy="869463"/>
          </a:xfrm>
        </p:grpSpPr>
        <p:sp>
          <p:nvSpPr>
            <p:cNvPr id="49" name="Delay 48">
              <a:extLst>
                <a:ext uri="{FF2B5EF4-FFF2-40B4-BE49-F238E27FC236}">
                  <a16:creationId xmlns:a16="http://schemas.microsoft.com/office/drawing/2014/main" id="{1447B8D4-D413-AC4E-901E-779FC9A886EC}"/>
                </a:ext>
              </a:extLst>
            </p:cNvPr>
            <p:cNvSpPr/>
            <p:nvPr/>
          </p:nvSpPr>
          <p:spPr>
            <a:xfrm rot="16200000">
              <a:off x="4020228" y="2114584"/>
              <a:ext cx="595924" cy="576382"/>
            </a:xfrm>
            <a:prstGeom prst="flowChartDelay">
              <a:avLst/>
            </a:prstGeom>
            <a:solidFill>
              <a:srgbClr val="FF0000"/>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50" name="Oval 49">
              <a:extLst>
                <a:ext uri="{FF2B5EF4-FFF2-40B4-BE49-F238E27FC236}">
                  <a16:creationId xmlns:a16="http://schemas.microsoft.com/office/drawing/2014/main" id="{FD201E40-3CAA-9643-BEBB-A79E80EE4C5D}"/>
                </a:ext>
              </a:extLst>
            </p:cNvPr>
            <p:cNvSpPr/>
            <p:nvPr/>
          </p:nvSpPr>
          <p:spPr>
            <a:xfrm>
              <a:off x="4117917" y="1831274"/>
              <a:ext cx="390770" cy="390770"/>
            </a:xfrm>
            <a:prstGeom prst="ellipse">
              <a:avLst/>
            </a:prstGeom>
            <a:solidFill>
              <a:srgbClr val="FF0000"/>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grpSp>
        <p:nvGrpSpPr>
          <p:cNvPr id="41" name="Group 97">
            <a:extLst>
              <a:ext uri="{FF2B5EF4-FFF2-40B4-BE49-F238E27FC236}">
                <a16:creationId xmlns:a16="http://schemas.microsoft.com/office/drawing/2014/main" id="{567E71A9-FF0E-5F4D-B3FF-671853FFEF6E}"/>
              </a:ext>
            </a:extLst>
          </p:cNvPr>
          <p:cNvGrpSpPr>
            <a:grpSpLocks/>
          </p:cNvGrpSpPr>
          <p:nvPr/>
        </p:nvGrpSpPr>
        <p:grpSpPr bwMode="auto">
          <a:xfrm>
            <a:off x="4683642" y="2954331"/>
            <a:ext cx="346315" cy="489729"/>
            <a:chOff x="4038796" y="3348044"/>
            <a:chExt cx="576382" cy="869463"/>
          </a:xfrm>
        </p:grpSpPr>
        <p:sp>
          <p:nvSpPr>
            <p:cNvPr id="47" name="Delay 46">
              <a:extLst>
                <a:ext uri="{FF2B5EF4-FFF2-40B4-BE49-F238E27FC236}">
                  <a16:creationId xmlns:a16="http://schemas.microsoft.com/office/drawing/2014/main" id="{5B81A71E-481F-554E-8C15-61ECB1D704D6}"/>
                </a:ext>
              </a:extLst>
            </p:cNvPr>
            <p:cNvSpPr/>
            <p:nvPr/>
          </p:nvSpPr>
          <p:spPr>
            <a:xfrm rot="16200000">
              <a:off x="4029025" y="3631354"/>
              <a:ext cx="595924" cy="576382"/>
            </a:xfrm>
            <a:prstGeom prst="flowChartDelay">
              <a:avLst/>
            </a:prstGeom>
            <a:solidFill>
              <a:srgbClr val="CC0066"/>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48" name="Oval 47">
              <a:extLst>
                <a:ext uri="{FF2B5EF4-FFF2-40B4-BE49-F238E27FC236}">
                  <a16:creationId xmlns:a16="http://schemas.microsoft.com/office/drawing/2014/main" id="{58EC5282-56DA-4845-9868-0357E8144E02}"/>
                </a:ext>
              </a:extLst>
            </p:cNvPr>
            <p:cNvSpPr/>
            <p:nvPr/>
          </p:nvSpPr>
          <p:spPr>
            <a:xfrm>
              <a:off x="4126714" y="3348044"/>
              <a:ext cx="390770" cy="390770"/>
            </a:xfrm>
            <a:prstGeom prst="ellipse">
              <a:avLst/>
            </a:prstGeom>
            <a:solidFill>
              <a:srgbClr val="CC0066"/>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42" name="TextBox 82">
            <a:extLst>
              <a:ext uri="{FF2B5EF4-FFF2-40B4-BE49-F238E27FC236}">
                <a16:creationId xmlns:a16="http://schemas.microsoft.com/office/drawing/2014/main" id="{A7BC008B-004D-C64A-A8FC-934768E3D800}"/>
              </a:ext>
            </a:extLst>
          </p:cNvPr>
          <p:cNvSpPr txBox="1">
            <a:spLocks noChangeArrowheads="1"/>
          </p:cNvSpPr>
          <p:nvPr/>
        </p:nvSpPr>
        <p:spPr bwMode="auto">
          <a:xfrm>
            <a:off x="4602988" y="3449422"/>
            <a:ext cx="507623"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Supplier</a:t>
            </a:r>
          </a:p>
        </p:txBody>
      </p:sp>
      <p:grpSp>
        <p:nvGrpSpPr>
          <p:cNvPr id="43" name="Group 7">
            <a:extLst>
              <a:ext uri="{FF2B5EF4-FFF2-40B4-BE49-F238E27FC236}">
                <a16:creationId xmlns:a16="http://schemas.microsoft.com/office/drawing/2014/main" id="{B0674414-C5EA-4145-9F13-479D0A3A3D2F}"/>
              </a:ext>
            </a:extLst>
          </p:cNvPr>
          <p:cNvGrpSpPr>
            <a:grpSpLocks/>
          </p:cNvGrpSpPr>
          <p:nvPr/>
        </p:nvGrpSpPr>
        <p:grpSpPr bwMode="auto">
          <a:xfrm>
            <a:off x="7178448" y="3823868"/>
            <a:ext cx="346315" cy="488835"/>
            <a:chOff x="7169668" y="5222759"/>
            <a:chExt cx="576382" cy="869463"/>
          </a:xfrm>
        </p:grpSpPr>
        <p:sp>
          <p:nvSpPr>
            <p:cNvPr id="45" name="Delay 44">
              <a:extLst>
                <a:ext uri="{FF2B5EF4-FFF2-40B4-BE49-F238E27FC236}">
                  <a16:creationId xmlns:a16="http://schemas.microsoft.com/office/drawing/2014/main" id="{65418D2E-ACA0-7E46-B565-5434E3B44C4B}"/>
                </a:ext>
              </a:extLst>
            </p:cNvPr>
            <p:cNvSpPr/>
            <p:nvPr/>
          </p:nvSpPr>
          <p:spPr>
            <a:xfrm rot="16200000">
              <a:off x="7159897" y="5506069"/>
              <a:ext cx="595924" cy="576382"/>
            </a:xfrm>
            <a:prstGeom prst="flowChartDelay">
              <a:avLst/>
            </a:prstGeom>
            <a:solidFill>
              <a:schemeClr val="accent3">
                <a:lumMod val="75000"/>
              </a:schemeClr>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46" name="Oval 45">
              <a:extLst>
                <a:ext uri="{FF2B5EF4-FFF2-40B4-BE49-F238E27FC236}">
                  <a16:creationId xmlns:a16="http://schemas.microsoft.com/office/drawing/2014/main" id="{E2E1014E-9BB1-8A4E-8419-4C6F72CD38D4}"/>
                </a:ext>
              </a:extLst>
            </p:cNvPr>
            <p:cNvSpPr/>
            <p:nvPr/>
          </p:nvSpPr>
          <p:spPr>
            <a:xfrm>
              <a:off x="7257586" y="5222759"/>
              <a:ext cx="390770" cy="390770"/>
            </a:xfrm>
            <a:prstGeom prst="ellipse">
              <a:avLst/>
            </a:prstGeom>
            <a:solidFill>
              <a:schemeClr val="accent3">
                <a:lumMod val="75000"/>
              </a:schemeClr>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44" name="TextBox 85">
            <a:extLst>
              <a:ext uri="{FF2B5EF4-FFF2-40B4-BE49-F238E27FC236}">
                <a16:creationId xmlns:a16="http://schemas.microsoft.com/office/drawing/2014/main" id="{A4218B78-9F53-E044-BDBA-3D7BF9A59086}"/>
              </a:ext>
            </a:extLst>
          </p:cNvPr>
          <p:cNvSpPr txBox="1">
            <a:spLocks noChangeArrowheads="1"/>
          </p:cNvSpPr>
          <p:nvPr/>
        </p:nvSpPr>
        <p:spPr bwMode="auto">
          <a:xfrm>
            <a:off x="7077884" y="4323427"/>
            <a:ext cx="547442" cy="190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a:t>Architect</a:t>
            </a:r>
          </a:p>
        </p:txBody>
      </p:sp>
      <p:grpSp>
        <p:nvGrpSpPr>
          <p:cNvPr id="83" name="Group 3">
            <a:extLst>
              <a:ext uri="{FF2B5EF4-FFF2-40B4-BE49-F238E27FC236}">
                <a16:creationId xmlns:a16="http://schemas.microsoft.com/office/drawing/2014/main" id="{8678FAEC-4EBA-D34E-BB9B-6F55E7996BD2}"/>
              </a:ext>
            </a:extLst>
          </p:cNvPr>
          <p:cNvGrpSpPr>
            <a:grpSpLocks/>
          </p:cNvGrpSpPr>
          <p:nvPr/>
        </p:nvGrpSpPr>
        <p:grpSpPr bwMode="auto">
          <a:xfrm>
            <a:off x="5486098" y="3875516"/>
            <a:ext cx="346315" cy="488835"/>
            <a:chOff x="5830565" y="310795"/>
            <a:chExt cx="576382" cy="869463"/>
          </a:xfrm>
          <a:solidFill>
            <a:srgbClr val="FF9933"/>
          </a:solidFill>
        </p:grpSpPr>
        <p:sp>
          <p:nvSpPr>
            <p:cNvPr id="84" name="Delay 83">
              <a:extLst>
                <a:ext uri="{FF2B5EF4-FFF2-40B4-BE49-F238E27FC236}">
                  <a16:creationId xmlns:a16="http://schemas.microsoft.com/office/drawing/2014/main" id="{0216B25B-0DAF-1947-9AD9-AF893CBEEAFE}"/>
                </a:ext>
              </a:extLst>
            </p:cNvPr>
            <p:cNvSpPr/>
            <p:nvPr/>
          </p:nvSpPr>
          <p:spPr>
            <a:xfrm rot="16200000">
              <a:off x="5820794" y="594105"/>
              <a:ext cx="595924" cy="576382"/>
            </a:xfrm>
            <a:prstGeom prst="flowChartDelay">
              <a:avLst/>
            </a:prstGeom>
            <a:grp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sp>
          <p:nvSpPr>
            <p:cNvPr id="85" name="Oval 84">
              <a:extLst>
                <a:ext uri="{FF2B5EF4-FFF2-40B4-BE49-F238E27FC236}">
                  <a16:creationId xmlns:a16="http://schemas.microsoft.com/office/drawing/2014/main" id="{649E2CA2-1A49-C94F-BA92-CA9DB3E81496}"/>
                </a:ext>
              </a:extLst>
            </p:cNvPr>
            <p:cNvSpPr/>
            <p:nvPr/>
          </p:nvSpPr>
          <p:spPr>
            <a:xfrm>
              <a:off x="5918483" y="310795"/>
              <a:ext cx="390770" cy="390770"/>
            </a:xfrm>
            <a:prstGeom prst="ellipse">
              <a:avLst/>
            </a:prstGeom>
            <a:grp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GB" sz="1050" dirty="0">
                <a:solidFill>
                  <a:srgbClr val="1F497D"/>
                </a:solidFill>
                <a:cs typeface="Calibri"/>
              </a:endParaRPr>
            </a:p>
          </p:txBody>
        </p:sp>
      </p:grpSp>
      <p:sp>
        <p:nvSpPr>
          <p:cNvPr id="86" name="TextBox 26">
            <a:extLst>
              <a:ext uri="{FF2B5EF4-FFF2-40B4-BE49-F238E27FC236}">
                <a16:creationId xmlns:a16="http://schemas.microsoft.com/office/drawing/2014/main" id="{742BBC18-7349-AA4B-9207-87C0F2032641}"/>
              </a:ext>
            </a:extLst>
          </p:cNvPr>
          <p:cNvSpPr txBox="1">
            <a:spLocks noChangeArrowheads="1"/>
          </p:cNvSpPr>
          <p:nvPr/>
        </p:nvSpPr>
        <p:spPr bwMode="auto">
          <a:xfrm>
            <a:off x="5220676" y="4347371"/>
            <a:ext cx="877163"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050" dirty="0"/>
              <a:t>Subject Area</a:t>
            </a:r>
          </a:p>
          <a:p>
            <a:pPr algn="ctr" eaLnBrk="1" hangingPunct="1"/>
            <a:r>
              <a:rPr lang="en-GB" altLang="en-US" sz="1050" dirty="0"/>
              <a:t>Owner</a:t>
            </a:r>
          </a:p>
        </p:txBody>
      </p:sp>
    </p:spTree>
    <p:extLst>
      <p:ext uri="{BB962C8B-B14F-4D97-AF65-F5344CB8AC3E}">
        <p14:creationId xmlns:p14="http://schemas.microsoft.com/office/powerpoint/2010/main" val="4003874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A1ABE58D-B8A8-A046-A7B1-20557DD1046F}"/>
              </a:ext>
            </a:extLst>
          </p:cNvPr>
          <p:cNvSpPr>
            <a:spLocks noGrp="1"/>
          </p:cNvSpPr>
          <p:nvPr>
            <p:ph type="title"/>
          </p:nvPr>
        </p:nvSpPr>
        <p:spPr/>
        <p:txBody>
          <a:bodyPr/>
          <a:lstStyle/>
          <a:p>
            <a:pPr eaLnBrk="1" hangingPunct="1"/>
            <a:r>
              <a:rPr lang="en-GB" altLang="en-US"/>
              <a:t>Personas verses Roles</a:t>
            </a:r>
          </a:p>
        </p:txBody>
      </p:sp>
      <p:pic>
        <p:nvPicPr>
          <p:cNvPr id="15362" name="Picture 3" descr="Doctor-Female2.png">
            <a:extLst>
              <a:ext uri="{FF2B5EF4-FFF2-40B4-BE49-F238E27FC236}">
                <a16:creationId xmlns:a16="http://schemas.microsoft.com/office/drawing/2014/main" id="{45929229-06E6-524E-9170-3C7A895252D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179824" y="1163586"/>
            <a:ext cx="1225899" cy="1340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4">
            <a:extLst>
              <a:ext uri="{FF2B5EF4-FFF2-40B4-BE49-F238E27FC236}">
                <a16:creationId xmlns:a16="http://schemas.microsoft.com/office/drawing/2014/main" id="{F7B30B24-FF10-E842-9A16-34864B6C8136}"/>
              </a:ext>
            </a:extLst>
          </p:cNvPr>
          <p:cNvSpPr>
            <a:spLocks noChangeArrowheads="1"/>
          </p:cNvSpPr>
          <p:nvPr/>
        </p:nvSpPr>
        <p:spPr bwMode="auto">
          <a:xfrm>
            <a:off x="4495058" y="1079938"/>
            <a:ext cx="3411813"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US" altLang="en-US" sz="1350" b="1" dirty="0">
                <a:solidFill>
                  <a:schemeClr val="tx2"/>
                </a:solidFill>
              </a:rPr>
              <a:t>Tessa Tube</a:t>
            </a:r>
          </a:p>
          <a:p>
            <a:pPr eaLnBrk="1" hangingPunct="1"/>
            <a:r>
              <a:rPr lang="en-US" altLang="en-US" sz="1350" dirty="0">
                <a:solidFill>
                  <a:schemeClr val="tx2"/>
                </a:solidFill>
              </a:rPr>
              <a:t>Lead Researcher</a:t>
            </a:r>
            <a:endParaRPr lang="en-US" altLang="en-US" sz="1350" dirty="0"/>
          </a:p>
        </p:txBody>
      </p:sp>
      <p:pic>
        <p:nvPicPr>
          <p:cNvPr id="15364" name="Picture 6" descr="User02-Green.png">
            <a:extLst>
              <a:ext uri="{FF2B5EF4-FFF2-40B4-BE49-F238E27FC236}">
                <a16:creationId xmlns:a16="http://schemas.microsoft.com/office/drawing/2014/main" id="{2F3FA358-B388-204D-90EC-987C166B4C6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54720" y="2888802"/>
            <a:ext cx="773400" cy="977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7" descr="User03-Orange.png">
            <a:extLst>
              <a:ext uri="{FF2B5EF4-FFF2-40B4-BE49-F238E27FC236}">
                <a16:creationId xmlns:a16="http://schemas.microsoft.com/office/drawing/2014/main" id="{FB29F5F5-A064-F947-92A7-F8E7DB2872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876464" y="2900709"/>
            <a:ext cx="717512" cy="977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8" descr="User04-Yellow.png">
            <a:extLst>
              <a:ext uri="{FF2B5EF4-FFF2-40B4-BE49-F238E27FC236}">
                <a16:creationId xmlns:a16="http://schemas.microsoft.com/office/drawing/2014/main" id="{4D42E252-70FB-2243-809F-5B2655831A5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940632" y="2888802"/>
            <a:ext cx="825679" cy="977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Arrow Connector 11">
            <a:extLst>
              <a:ext uri="{FF2B5EF4-FFF2-40B4-BE49-F238E27FC236}">
                <a16:creationId xmlns:a16="http://schemas.microsoft.com/office/drawing/2014/main" id="{A8015834-D57D-0F46-B559-D52EE931F267}"/>
              </a:ext>
            </a:extLst>
          </p:cNvPr>
          <p:cNvCxnSpPr>
            <a:cxnSpLocks noChangeShapeType="1"/>
            <a:stCxn id="15362" idx="2"/>
            <a:endCxn id="15364" idx="0"/>
          </p:cNvCxnSpPr>
          <p:nvPr/>
        </p:nvCxnSpPr>
        <p:spPr bwMode="auto">
          <a:xfrm flipH="1">
            <a:off x="2741420" y="2504230"/>
            <a:ext cx="1051354" cy="384572"/>
          </a:xfrm>
          <a:prstGeom prst="straightConnector1">
            <a:avLst/>
          </a:prstGeom>
          <a:noFill/>
          <a:ln w="19050">
            <a:solidFill>
              <a:schemeClr val="tx2"/>
            </a:solidFill>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F2307BEC-C852-1B41-B3FE-A1BBD935D7EF}"/>
              </a:ext>
            </a:extLst>
          </p:cNvPr>
          <p:cNvCxnSpPr>
            <a:cxnSpLocks noChangeShapeType="1"/>
            <a:stCxn id="15362" idx="2"/>
            <a:endCxn id="15366" idx="0"/>
          </p:cNvCxnSpPr>
          <p:nvPr/>
        </p:nvCxnSpPr>
        <p:spPr bwMode="auto">
          <a:xfrm>
            <a:off x="3792774" y="2504230"/>
            <a:ext cx="560698" cy="384572"/>
          </a:xfrm>
          <a:prstGeom prst="straightConnector1">
            <a:avLst/>
          </a:prstGeom>
          <a:noFill/>
          <a:ln w="19050">
            <a:solidFill>
              <a:schemeClr val="tx2"/>
            </a:solidFill>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Straight Arrow Connector 17">
            <a:extLst>
              <a:ext uri="{FF2B5EF4-FFF2-40B4-BE49-F238E27FC236}">
                <a16:creationId xmlns:a16="http://schemas.microsoft.com/office/drawing/2014/main" id="{DD54322B-8D51-A040-87CE-F136F85293A9}"/>
              </a:ext>
            </a:extLst>
          </p:cNvPr>
          <p:cNvCxnSpPr>
            <a:cxnSpLocks noChangeShapeType="1"/>
            <a:stCxn id="15362" idx="2"/>
            <a:endCxn id="15365" idx="0"/>
          </p:cNvCxnSpPr>
          <p:nvPr/>
        </p:nvCxnSpPr>
        <p:spPr bwMode="auto">
          <a:xfrm>
            <a:off x="3792774" y="2504230"/>
            <a:ext cx="1442446" cy="396479"/>
          </a:xfrm>
          <a:prstGeom prst="straightConnector1">
            <a:avLst/>
          </a:prstGeom>
          <a:noFill/>
          <a:ln w="19050">
            <a:solidFill>
              <a:schemeClr val="tx2"/>
            </a:solidFill>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5370" name="Group 28">
            <a:extLst>
              <a:ext uri="{FF2B5EF4-FFF2-40B4-BE49-F238E27FC236}">
                <a16:creationId xmlns:a16="http://schemas.microsoft.com/office/drawing/2014/main" id="{3AA7DCC5-BB34-A547-ABEC-FE7F0BA15D61}"/>
              </a:ext>
            </a:extLst>
          </p:cNvPr>
          <p:cNvGrpSpPr>
            <a:grpSpLocks/>
          </p:cNvGrpSpPr>
          <p:nvPr/>
        </p:nvGrpSpPr>
        <p:grpSpPr bwMode="auto">
          <a:xfrm>
            <a:off x="3051237" y="3325761"/>
            <a:ext cx="984325" cy="92869"/>
            <a:chOff x="4246729" y="4767633"/>
            <a:chExt cx="1012588" cy="145721"/>
          </a:xfrm>
        </p:grpSpPr>
        <p:sp>
          <p:nvSpPr>
            <p:cNvPr id="21" name="Oval 20">
              <a:extLst>
                <a:ext uri="{FF2B5EF4-FFF2-40B4-BE49-F238E27FC236}">
                  <a16:creationId xmlns:a16="http://schemas.microsoft.com/office/drawing/2014/main" id="{3CCABA76-3A03-AF4F-9B8E-40AB1DDFDB89}"/>
                </a:ext>
              </a:extLst>
            </p:cNvPr>
            <p:cNvSpPr>
              <a:spLocks noChangeArrowheads="1"/>
            </p:cNvSpPr>
            <p:nvPr/>
          </p:nvSpPr>
          <p:spPr bwMode="auto">
            <a:xfrm>
              <a:off x="4246729" y="4767633"/>
              <a:ext cx="145721" cy="145721"/>
            </a:xfrm>
            <a:prstGeom prst="ellipse">
              <a:avLst/>
            </a:prstGeom>
            <a:solidFill>
              <a:schemeClr val="tx2"/>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sp>
          <p:nvSpPr>
            <p:cNvPr id="22" name="Oval 21">
              <a:extLst>
                <a:ext uri="{FF2B5EF4-FFF2-40B4-BE49-F238E27FC236}">
                  <a16:creationId xmlns:a16="http://schemas.microsoft.com/office/drawing/2014/main" id="{4E676BEC-B71F-EE41-A599-D7EC8FDA7F8B}"/>
                </a:ext>
              </a:extLst>
            </p:cNvPr>
            <p:cNvSpPr>
              <a:spLocks noChangeArrowheads="1"/>
            </p:cNvSpPr>
            <p:nvPr/>
          </p:nvSpPr>
          <p:spPr bwMode="auto">
            <a:xfrm>
              <a:off x="4680162" y="4767633"/>
              <a:ext cx="145721" cy="145721"/>
            </a:xfrm>
            <a:prstGeom prst="ellipse">
              <a:avLst/>
            </a:prstGeom>
            <a:solidFill>
              <a:schemeClr val="tx2"/>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sp>
          <p:nvSpPr>
            <p:cNvPr id="23" name="Oval 22">
              <a:extLst>
                <a:ext uri="{FF2B5EF4-FFF2-40B4-BE49-F238E27FC236}">
                  <a16:creationId xmlns:a16="http://schemas.microsoft.com/office/drawing/2014/main" id="{3442EC85-CA8F-6C43-94C4-8BE9EB4D1747}"/>
                </a:ext>
              </a:extLst>
            </p:cNvPr>
            <p:cNvSpPr>
              <a:spLocks noChangeArrowheads="1"/>
            </p:cNvSpPr>
            <p:nvPr/>
          </p:nvSpPr>
          <p:spPr bwMode="auto">
            <a:xfrm>
              <a:off x="5113596" y="4767633"/>
              <a:ext cx="145721" cy="145721"/>
            </a:xfrm>
            <a:prstGeom prst="ellipse">
              <a:avLst/>
            </a:prstGeom>
            <a:solidFill>
              <a:schemeClr val="tx2"/>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grpSp>
      <p:sp>
        <p:nvSpPr>
          <p:cNvPr id="15371" name="TextBox 23">
            <a:extLst>
              <a:ext uri="{FF2B5EF4-FFF2-40B4-BE49-F238E27FC236}">
                <a16:creationId xmlns:a16="http://schemas.microsoft.com/office/drawing/2014/main" id="{CD8052B8-D1DF-4046-8FE9-81553E6ACF24}"/>
              </a:ext>
            </a:extLst>
          </p:cNvPr>
          <p:cNvSpPr txBox="1">
            <a:spLocks noChangeArrowheads="1"/>
          </p:cNvSpPr>
          <p:nvPr/>
        </p:nvSpPr>
        <p:spPr bwMode="auto">
          <a:xfrm>
            <a:off x="4666549" y="3872259"/>
            <a:ext cx="1369426"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GB" altLang="en-US" sz="1350"/>
              <a:t>Asset</a:t>
            </a:r>
          </a:p>
          <a:p>
            <a:pPr algn="ctr" eaLnBrk="1" hangingPunct="1"/>
            <a:r>
              <a:rPr lang="en-GB" altLang="en-US" sz="1350"/>
              <a:t>Consumer</a:t>
            </a:r>
          </a:p>
        </p:txBody>
      </p:sp>
      <p:sp>
        <p:nvSpPr>
          <p:cNvPr id="15372" name="TextBox 24">
            <a:extLst>
              <a:ext uri="{FF2B5EF4-FFF2-40B4-BE49-F238E27FC236}">
                <a16:creationId xmlns:a16="http://schemas.microsoft.com/office/drawing/2014/main" id="{47539000-59C8-9247-A4EB-B4DDBADE6F24}"/>
              </a:ext>
            </a:extLst>
          </p:cNvPr>
          <p:cNvSpPr txBox="1">
            <a:spLocks noChangeArrowheads="1"/>
          </p:cNvSpPr>
          <p:nvPr/>
        </p:nvSpPr>
        <p:spPr bwMode="auto">
          <a:xfrm>
            <a:off x="2138027" y="3890117"/>
            <a:ext cx="1478648"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350"/>
              <a:t>Researcher</a:t>
            </a:r>
          </a:p>
        </p:txBody>
      </p:sp>
      <p:sp>
        <p:nvSpPr>
          <p:cNvPr id="15373" name="TextBox 26">
            <a:extLst>
              <a:ext uri="{FF2B5EF4-FFF2-40B4-BE49-F238E27FC236}">
                <a16:creationId xmlns:a16="http://schemas.microsoft.com/office/drawing/2014/main" id="{81A340C3-93A2-DA4D-AD10-1663E2AC2B82}"/>
              </a:ext>
            </a:extLst>
          </p:cNvPr>
          <p:cNvSpPr txBox="1">
            <a:spLocks noChangeArrowheads="1"/>
          </p:cNvSpPr>
          <p:nvPr/>
        </p:nvSpPr>
        <p:spPr bwMode="auto">
          <a:xfrm>
            <a:off x="3862050" y="3855590"/>
            <a:ext cx="104903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350"/>
              <a:t>System</a:t>
            </a:r>
          </a:p>
          <a:p>
            <a:pPr eaLnBrk="1" hangingPunct="1"/>
            <a:r>
              <a:rPr lang="en-GB" altLang="en-US" sz="1350"/>
              <a:t>Owner</a:t>
            </a:r>
          </a:p>
        </p:txBody>
      </p:sp>
      <p:sp>
        <p:nvSpPr>
          <p:cNvPr id="15374" name="TextBox 43">
            <a:extLst>
              <a:ext uri="{FF2B5EF4-FFF2-40B4-BE49-F238E27FC236}">
                <a16:creationId xmlns:a16="http://schemas.microsoft.com/office/drawing/2014/main" id="{2D98801A-054C-B043-BA1D-FB409FFA8261}"/>
              </a:ext>
            </a:extLst>
          </p:cNvPr>
          <p:cNvSpPr txBox="1">
            <a:spLocks noChangeArrowheads="1"/>
          </p:cNvSpPr>
          <p:nvPr/>
        </p:nvSpPr>
        <p:spPr bwMode="auto">
          <a:xfrm>
            <a:off x="509404" y="1315481"/>
            <a:ext cx="2482447"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dirty="0"/>
              <a:t>Within and organization people perform multiple roles related to their core specialism.</a:t>
            </a:r>
          </a:p>
        </p:txBody>
      </p:sp>
      <p:sp>
        <p:nvSpPr>
          <p:cNvPr id="15375" name="TextBox 44">
            <a:extLst>
              <a:ext uri="{FF2B5EF4-FFF2-40B4-BE49-F238E27FC236}">
                <a16:creationId xmlns:a16="http://schemas.microsoft.com/office/drawing/2014/main" id="{9D94A56C-11E1-3D45-8D7F-9B12C6B7E144}"/>
              </a:ext>
            </a:extLst>
          </p:cNvPr>
          <p:cNvSpPr txBox="1">
            <a:spLocks noChangeArrowheads="1"/>
          </p:cNvSpPr>
          <p:nvPr/>
        </p:nvSpPr>
        <p:spPr bwMode="auto">
          <a:xfrm>
            <a:off x="6057564" y="2955477"/>
            <a:ext cx="2482447"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a:t>Roles are contextual.</a:t>
            </a:r>
          </a:p>
          <a:p>
            <a:pPr eaLnBrk="1" hangingPunct="1"/>
            <a:endParaRPr lang="en-GB" altLang="en-US" sz="1050"/>
          </a:p>
          <a:p>
            <a:pPr eaLnBrk="1" hangingPunct="1"/>
            <a:r>
              <a:rPr lang="en-GB" altLang="en-US" sz="1050"/>
              <a:t>When is comes to working with data, the role they are playing is related to the task they are performing and the data asset they are working with.</a:t>
            </a:r>
          </a:p>
        </p:txBody>
      </p:sp>
      <p:sp>
        <p:nvSpPr>
          <p:cNvPr id="15376" name="TextBox 45">
            <a:extLst>
              <a:ext uri="{FF2B5EF4-FFF2-40B4-BE49-F238E27FC236}">
                <a16:creationId xmlns:a16="http://schemas.microsoft.com/office/drawing/2014/main" id="{94C882EC-AE78-DE4D-8AA6-405E4BBBCE32}"/>
              </a:ext>
            </a:extLst>
          </p:cNvPr>
          <p:cNvSpPr txBox="1">
            <a:spLocks noChangeArrowheads="1"/>
          </p:cNvSpPr>
          <p:nvPr/>
        </p:nvSpPr>
        <p:spPr bwMode="auto">
          <a:xfrm>
            <a:off x="4560542" y="1880038"/>
            <a:ext cx="141879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b="1" i="1"/>
              <a:t>&lt;Persona&gt;</a:t>
            </a:r>
          </a:p>
        </p:txBody>
      </p:sp>
      <p:sp>
        <p:nvSpPr>
          <p:cNvPr id="15377" name="TextBox 47">
            <a:extLst>
              <a:ext uri="{FF2B5EF4-FFF2-40B4-BE49-F238E27FC236}">
                <a16:creationId xmlns:a16="http://schemas.microsoft.com/office/drawing/2014/main" id="{9D2FBE31-44FA-3A45-8B58-A771D99E60EE}"/>
              </a:ext>
            </a:extLst>
          </p:cNvPr>
          <p:cNvSpPr txBox="1">
            <a:spLocks noChangeArrowheads="1"/>
          </p:cNvSpPr>
          <p:nvPr/>
        </p:nvSpPr>
        <p:spPr bwMode="auto">
          <a:xfrm>
            <a:off x="1464133" y="3000721"/>
            <a:ext cx="1418798"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r" eaLnBrk="1" hangingPunct="1"/>
            <a:r>
              <a:rPr lang="en-GB" altLang="en-US" sz="1050" b="1" i="1"/>
              <a:t>&lt;Roles&gt;</a:t>
            </a:r>
          </a:p>
        </p:txBody>
      </p:sp>
    </p:spTree>
    <p:extLst>
      <p:ext uri="{BB962C8B-B14F-4D97-AF65-F5344CB8AC3E}">
        <p14:creationId xmlns:p14="http://schemas.microsoft.com/office/powerpoint/2010/main" val="3626094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687DD018-3FC4-C948-9334-5E1C9A4F30FC}"/>
              </a:ext>
            </a:extLst>
          </p:cNvPr>
          <p:cNvSpPr>
            <a:spLocks noGrp="1"/>
          </p:cNvSpPr>
          <p:nvPr>
            <p:ph type="title"/>
          </p:nvPr>
        </p:nvSpPr>
        <p:spPr/>
        <p:txBody>
          <a:bodyPr/>
          <a:lstStyle/>
          <a:p>
            <a:pPr eaLnBrk="1" hangingPunct="1"/>
            <a:r>
              <a:rPr lang="en-GB" altLang="en-US" dirty="0"/>
              <a:t>Scope of responsibilities</a:t>
            </a:r>
          </a:p>
        </p:txBody>
      </p:sp>
      <p:sp>
        <p:nvSpPr>
          <p:cNvPr id="3" name="Rectangle 2">
            <a:extLst>
              <a:ext uri="{FF2B5EF4-FFF2-40B4-BE49-F238E27FC236}">
                <a16:creationId xmlns:a16="http://schemas.microsoft.com/office/drawing/2014/main" id="{ECD9C516-6FAD-654B-BD38-6039C5A9192C}"/>
              </a:ext>
            </a:extLst>
          </p:cNvPr>
          <p:cNvSpPr>
            <a:spLocks noChangeArrowheads="1"/>
          </p:cNvSpPr>
          <p:nvPr/>
        </p:nvSpPr>
        <p:spPr bwMode="auto">
          <a:xfrm>
            <a:off x="1945482" y="1683544"/>
            <a:ext cx="1240631" cy="1643063"/>
          </a:xfrm>
          <a:prstGeom prst="rect">
            <a:avLst/>
          </a:prstGeom>
          <a:solidFill>
            <a:srgbClr val="FDEADA"/>
          </a:solidFill>
          <a:ln w="9525">
            <a:solidFill>
              <a:schemeClr val="tx2"/>
            </a:solidFill>
            <a:miter lim="800000"/>
            <a:headEnd/>
            <a:tailEnd/>
          </a:ln>
          <a:effectLst>
            <a:outerShdw blurRad="40000" dist="23000" dir="5400000" rotWithShape="0">
              <a:srgbClr val="808080">
                <a:alpha val="34999"/>
              </a:srgbClr>
            </a:outerShdw>
          </a:effectLst>
        </p:spPr>
        <p:txBody>
          <a:bodyPr/>
          <a:lstStyle/>
          <a:p>
            <a:pPr algn="ctr">
              <a:defRPr/>
            </a:pPr>
            <a:r>
              <a:rPr lang="en-US" sz="1200" dirty="0">
                <a:solidFill>
                  <a:srgbClr val="1F497D"/>
                </a:solidFill>
                <a:latin typeface="Calibri"/>
                <a:ea typeface="+mn-ea"/>
                <a:cs typeface="Calibri"/>
              </a:rPr>
              <a:t>Data Sources</a:t>
            </a:r>
          </a:p>
        </p:txBody>
      </p:sp>
      <p:sp>
        <p:nvSpPr>
          <p:cNvPr id="4" name="Rectangle 3">
            <a:extLst>
              <a:ext uri="{FF2B5EF4-FFF2-40B4-BE49-F238E27FC236}">
                <a16:creationId xmlns:a16="http://schemas.microsoft.com/office/drawing/2014/main" id="{C7A16B7A-3C60-E543-9B20-EEF1374777EF}"/>
              </a:ext>
            </a:extLst>
          </p:cNvPr>
          <p:cNvSpPr>
            <a:spLocks noChangeArrowheads="1"/>
          </p:cNvSpPr>
          <p:nvPr/>
        </p:nvSpPr>
        <p:spPr bwMode="auto">
          <a:xfrm>
            <a:off x="3286125" y="1683544"/>
            <a:ext cx="3534966" cy="1643063"/>
          </a:xfrm>
          <a:prstGeom prst="rect">
            <a:avLst/>
          </a:prstGeom>
          <a:solidFill>
            <a:srgbClr val="93CDDD"/>
          </a:solidFill>
          <a:ln w="9525">
            <a:solidFill>
              <a:schemeClr val="tx2"/>
            </a:solidFill>
            <a:miter lim="800000"/>
            <a:headEnd/>
            <a:tailEnd/>
          </a:ln>
          <a:effectLst>
            <a:outerShdw blurRad="40000" dist="23000" dir="5400000" rotWithShape="0">
              <a:srgbClr val="808080">
                <a:alpha val="34999"/>
              </a:srgbClr>
            </a:outerShdw>
          </a:effectLst>
        </p:spPr>
        <p:txBody>
          <a:bodyPr/>
          <a:lstStyle/>
          <a:p>
            <a:pPr algn="ctr">
              <a:defRPr/>
            </a:pPr>
            <a:r>
              <a:rPr lang="en-US" sz="1200" dirty="0">
                <a:solidFill>
                  <a:srgbClr val="1F497D"/>
                </a:solidFill>
                <a:latin typeface="Calibri"/>
                <a:ea typeface="+mn-ea"/>
                <a:cs typeface="Calibri"/>
              </a:rPr>
              <a:t>Data Lake</a:t>
            </a:r>
          </a:p>
        </p:txBody>
      </p:sp>
      <p:sp>
        <p:nvSpPr>
          <p:cNvPr id="5" name="Can 4">
            <a:extLst>
              <a:ext uri="{FF2B5EF4-FFF2-40B4-BE49-F238E27FC236}">
                <a16:creationId xmlns:a16="http://schemas.microsoft.com/office/drawing/2014/main" id="{74A61003-77D8-4A47-9B83-C6C6F8BC1CDA}"/>
              </a:ext>
            </a:extLst>
          </p:cNvPr>
          <p:cNvSpPr>
            <a:spLocks noChangeArrowheads="1"/>
          </p:cNvSpPr>
          <p:nvPr/>
        </p:nvSpPr>
        <p:spPr bwMode="auto">
          <a:xfrm>
            <a:off x="2220516" y="2616994"/>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6" name="Can 5">
            <a:extLst>
              <a:ext uri="{FF2B5EF4-FFF2-40B4-BE49-F238E27FC236}">
                <a16:creationId xmlns:a16="http://schemas.microsoft.com/office/drawing/2014/main" id="{2FB90EE8-FAEC-AD4C-8A61-65896DD8F4BC}"/>
              </a:ext>
            </a:extLst>
          </p:cNvPr>
          <p:cNvSpPr>
            <a:spLocks noChangeArrowheads="1"/>
          </p:cNvSpPr>
          <p:nvPr/>
        </p:nvSpPr>
        <p:spPr bwMode="auto">
          <a:xfrm>
            <a:off x="3387328" y="2608660"/>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7" name="Folded Corner 6">
            <a:extLst>
              <a:ext uri="{FF2B5EF4-FFF2-40B4-BE49-F238E27FC236}">
                <a16:creationId xmlns:a16="http://schemas.microsoft.com/office/drawing/2014/main" id="{2EA7ECCC-7738-D84A-9FEA-FA484131AB8C}"/>
              </a:ext>
            </a:extLst>
          </p:cNvPr>
          <p:cNvSpPr>
            <a:spLocks noChangeArrowheads="1"/>
          </p:cNvSpPr>
          <p:nvPr/>
        </p:nvSpPr>
        <p:spPr bwMode="auto">
          <a:xfrm>
            <a:off x="6313885" y="2166938"/>
            <a:ext cx="388144" cy="457200"/>
          </a:xfrm>
          <a:prstGeom prst="foldedCorner">
            <a:avLst>
              <a:gd name="adj" fmla="val 16667"/>
            </a:avLst>
          </a:prstGeom>
          <a:solidFill>
            <a:srgbClr val="DBEEF4"/>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8" name="Can 7">
            <a:extLst>
              <a:ext uri="{FF2B5EF4-FFF2-40B4-BE49-F238E27FC236}">
                <a16:creationId xmlns:a16="http://schemas.microsoft.com/office/drawing/2014/main" id="{E8556C2B-5707-3240-99D9-9FA14E67E6B4}"/>
              </a:ext>
            </a:extLst>
          </p:cNvPr>
          <p:cNvSpPr>
            <a:spLocks noChangeArrowheads="1"/>
          </p:cNvSpPr>
          <p:nvPr/>
        </p:nvSpPr>
        <p:spPr bwMode="auto">
          <a:xfrm>
            <a:off x="5511403" y="2409825"/>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9" name="Can 8">
            <a:extLst>
              <a:ext uri="{FF2B5EF4-FFF2-40B4-BE49-F238E27FC236}">
                <a16:creationId xmlns:a16="http://schemas.microsoft.com/office/drawing/2014/main" id="{E3D0F67A-B64B-8049-8D36-3A4BA6CF0A97}"/>
              </a:ext>
            </a:extLst>
          </p:cNvPr>
          <p:cNvSpPr>
            <a:spLocks noChangeArrowheads="1"/>
          </p:cNvSpPr>
          <p:nvPr/>
        </p:nvSpPr>
        <p:spPr bwMode="auto">
          <a:xfrm>
            <a:off x="5511403" y="2852738"/>
            <a:ext cx="451247" cy="201216"/>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10" name="Straight Arrow Connector 9">
            <a:extLst>
              <a:ext uri="{FF2B5EF4-FFF2-40B4-BE49-F238E27FC236}">
                <a16:creationId xmlns:a16="http://schemas.microsoft.com/office/drawing/2014/main" id="{3A0F08C8-EDA2-8844-881A-B2CA1A938100}"/>
              </a:ext>
            </a:extLst>
          </p:cNvPr>
          <p:cNvCxnSpPr>
            <a:cxnSpLocks noChangeShapeType="1"/>
            <a:stCxn id="12" idx="4"/>
            <a:endCxn id="8" idx="2"/>
          </p:cNvCxnSpPr>
          <p:nvPr/>
        </p:nvCxnSpPr>
        <p:spPr bwMode="auto">
          <a:xfrm flipV="1">
            <a:off x="5263754" y="2509838"/>
            <a:ext cx="246459" cy="132160"/>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094ADBD3-E2C0-0844-AD73-5D9DD898071A}"/>
              </a:ext>
            </a:extLst>
          </p:cNvPr>
          <p:cNvCxnSpPr>
            <a:cxnSpLocks noChangeShapeType="1"/>
            <a:stCxn id="44" idx="4"/>
            <a:endCxn id="9" idx="2"/>
          </p:cNvCxnSpPr>
          <p:nvPr/>
        </p:nvCxnSpPr>
        <p:spPr bwMode="auto">
          <a:xfrm flipV="1">
            <a:off x="5262563" y="2952750"/>
            <a:ext cx="247650" cy="100013"/>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Can 11">
            <a:extLst>
              <a:ext uri="{FF2B5EF4-FFF2-40B4-BE49-F238E27FC236}">
                <a16:creationId xmlns:a16="http://schemas.microsoft.com/office/drawing/2014/main" id="{2BE33971-44C7-9C42-9E90-58337468A135}"/>
              </a:ext>
            </a:extLst>
          </p:cNvPr>
          <p:cNvSpPr>
            <a:spLocks noChangeArrowheads="1"/>
          </p:cNvSpPr>
          <p:nvPr/>
        </p:nvSpPr>
        <p:spPr bwMode="auto">
          <a:xfrm>
            <a:off x="4527947" y="2431257"/>
            <a:ext cx="736997" cy="421481"/>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13" name="Straight Arrow Connector 12">
            <a:extLst>
              <a:ext uri="{FF2B5EF4-FFF2-40B4-BE49-F238E27FC236}">
                <a16:creationId xmlns:a16="http://schemas.microsoft.com/office/drawing/2014/main" id="{3A85EEA9-28AF-274F-ACFA-F63757A08FCE}"/>
              </a:ext>
            </a:extLst>
          </p:cNvPr>
          <p:cNvCxnSpPr>
            <a:cxnSpLocks noChangeShapeType="1"/>
            <a:stCxn id="6" idx="4"/>
            <a:endCxn id="12" idx="2"/>
          </p:cNvCxnSpPr>
          <p:nvPr/>
        </p:nvCxnSpPr>
        <p:spPr bwMode="auto">
          <a:xfrm flipV="1">
            <a:off x="3838576" y="2641997"/>
            <a:ext cx="688181" cy="66675"/>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Arrow Connector 13">
            <a:extLst>
              <a:ext uri="{FF2B5EF4-FFF2-40B4-BE49-F238E27FC236}">
                <a16:creationId xmlns:a16="http://schemas.microsoft.com/office/drawing/2014/main" id="{6B00D926-AC8F-814C-90ED-B8572861D0DB}"/>
              </a:ext>
            </a:extLst>
          </p:cNvPr>
          <p:cNvCxnSpPr>
            <a:cxnSpLocks noChangeShapeType="1"/>
            <a:stCxn id="53" idx="4"/>
            <a:endCxn id="12" idx="2"/>
          </p:cNvCxnSpPr>
          <p:nvPr/>
        </p:nvCxnSpPr>
        <p:spPr bwMode="auto">
          <a:xfrm flipV="1">
            <a:off x="3952876" y="2641997"/>
            <a:ext cx="573881" cy="180975"/>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Arrow Connector 14">
            <a:extLst>
              <a:ext uri="{FF2B5EF4-FFF2-40B4-BE49-F238E27FC236}">
                <a16:creationId xmlns:a16="http://schemas.microsoft.com/office/drawing/2014/main" id="{1AE22A6B-CD6B-DC4C-B829-F29B3BF20DA5}"/>
              </a:ext>
            </a:extLst>
          </p:cNvPr>
          <p:cNvCxnSpPr>
            <a:cxnSpLocks noChangeShapeType="1"/>
            <a:stCxn id="54" idx="4"/>
            <a:endCxn id="12" idx="2"/>
          </p:cNvCxnSpPr>
          <p:nvPr/>
        </p:nvCxnSpPr>
        <p:spPr bwMode="auto">
          <a:xfrm flipV="1">
            <a:off x="4068367" y="2641997"/>
            <a:ext cx="459581" cy="295275"/>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Arrow Connector 15">
            <a:extLst>
              <a:ext uri="{FF2B5EF4-FFF2-40B4-BE49-F238E27FC236}">
                <a16:creationId xmlns:a16="http://schemas.microsoft.com/office/drawing/2014/main" id="{74AD8579-7F8C-8044-A107-D2D5B25705CC}"/>
              </a:ext>
            </a:extLst>
          </p:cNvPr>
          <p:cNvCxnSpPr>
            <a:cxnSpLocks noChangeShapeType="1"/>
            <a:stCxn id="60" idx="4"/>
            <a:endCxn id="44" idx="2"/>
          </p:cNvCxnSpPr>
          <p:nvPr/>
        </p:nvCxnSpPr>
        <p:spPr bwMode="auto">
          <a:xfrm>
            <a:off x="4182667" y="3051573"/>
            <a:ext cx="345281" cy="1190"/>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 name="Rectangle 16">
            <a:extLst>
              <a:ext uri="{FF2B5EF4-FFF2-40B4-BE49-F238E27FC236}">
                <a16:creationId xmlns:a16="http://schemas.microsoft.com/office/drawing/2014/main" id="{37DEDE31-4BE2-AE4C-B748-7359CDCDF09C}"/>
              </a:ext>
            </a:extLst>
          </p:cNvPr>
          <p:cNvSpPr>
            <a:spLocks noChangeArrowheads="1"/>
          </p:cNvSpPr>
          <p:nvPr/>
        </p:nvSpPr>
        <p:spPr bwMode="auto">
          <a:xfrm>
            <a:off x="6363891" y="2277666"/>
            <a:ext cx="189309" cy="178594"/>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18" name="Straight Arrow Connector 17">
            <a:extLst>
              <a:ext uri="{FF2B5EF4-FFF2-40B4-BE49-F238E27FC236}">
                <a16:creationId xmlns:a16="http://schemas.microsoft.com/office/drawing/2014/main" id="{57E958F9-F560-EE44-A3DA-EFE5DB6E6506}"/>
              </a:ext>
            </a:extLst>
          </p:cNvPr>
          <p:cNvCxnSpPr>
            <a:cxnSpLocks noChangeShapeType="1"/>
            <a:stCxn id="5" idx="4"/>
            <a:endCxn id="6" idx="2"/>
          </p:cNvCxnSpPr>
          <p:nvPr/>
        </p:nvCxnSpPr>
        <p:spPr bwMode="auto">
          <a:xfrm flipV="1">
            <a:off x="2671763" y="2708672"/>
            <a:ext cx="716756" cy="8334"/>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Rectangle 18">
            <a:extLst>
              <a:ext uri="{FF2B5EF4-FFF2-40B4-BE49-F238E27FC236}">
                <a16:creationId xmlns:a16="http://schemas.microsoft.com/office/drawing/2014/main" id="{46DAA327-5977-3740-8D8C-A5A898A83515}"/>
              </a:ext>
            </a:extLst>
          </p:cNvPr>
          <p:cNvSpPr>
            <a:spLocks noChangeArrowheads="1"/>
          </p:cNvSpPr>
          <p:nvPr/>
        </p:nvSpPr>
        <p:spPr bwMode="auto">
          <a:xfrm>
            <a:off x="6360319" y="2201467"/>
            <a:ext cx="302419" cy="48815"/>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0" name="Rectangle 19">
            <a:extLst>
              <a:ext uri="{FF2B5EF4-FFF2-40B4-BE49-F238E27FC236}">
                <a16:creationId xmlns:a16="http://schemas.microsoft.com/office/drawing/2014/main" id="{85557CD1-0B82-8749-9AD9-3F8BE8828514}"/>
              </a:ext>
            </a:extLst>
          </p:cNvPr>
          <p:cNvSpPr>
            <a:spLocks noChangeArrowheads="1"/>
          </p:cNvSpPr>
          <p:nvPr/>
        </p:nvSpPr>
        <p:spPr bwMode="auto">
          <a:xfrm>
            <a:off x="6568678" y="2277666"/>
            <a:ext cx="89297" cy="177403"/>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1" name="Rectangle 20">
            <a:extLst>
              <a:ext uri="{FF2B5EF4-FFF2-40B4-BE49-F238E27FC236}">
                <a16:creationId xmlns:a16="http://schemas.microsoft.com/office/drawing/2014/main" id="{7BB4C520-7BEE-F94F-9174-C4882617FC46}"/>
              </a:ext>
            </a:extLst>
          </p:cNvPr>
          <p:cNvSpPr>
            <a:spLocks noChangeArrowheads="1"/>
          </p:cNvSpPr>
          <p:nvPr/>
        </p:nvSpPr>
        <p:spPr bwMode="auto">
          <a:xfrm>
            <a:off x="6572250" y="2472929"/>
            <a:ext cx="82154" cy="39290"/>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2" name="Folded Corner 21">
            <a:extLst>
              <a:ext uri="{FF2B5EF4-FFF2-40B4-BE49-F238E27FC236}">
                <a16:creationId xmlns:a16="http://schemas.microsoft.com/office/drawing/2014/main" id="{D72B663C-CA1E-6143-BC25-0DA0ED5B0289}"/>
              </a:ext>
            </a:extLst>
          </p:cNvPr>
          <p:cNvSpPr>
            <a:spLocks noChangeArrowheads="1"/>
          </p:cNvSpPr>
          <p:nvPr/>
        </p:nvSpPr>
        <p:spPr bwMode="auto">
          <a:xfrm>
            <a:off x="6318648" y="2726531"/>
            <a:ext cx="388144" cy="457200"/>
          </a:xfrm>
          <a:prstGeom prst="foldedCorner">
            <a:avLst>
              <a:gd name="adj" fmla="val 16667"/>
            </a:avLst>
          </a:prstGeom>
          <a:solidFill>
            <a:srgbClr val="DBEEF4"/>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3" name="Rectangle 22">
            <a:extLst>
              <a:ext uri="{FF2B5EF4-FFF2-40B4-BE49-F238E27FC236}">
                <a16:creationId xmlns:a16="http://schemas.microsoft.com/office/drawing/2014/main" id="{792B5F04-100F-6A42-B2A0-80C8E66755EB}"/>
              </a:ext>
            </a:extLst>
          </p:cNvPr>
          <p:cNvSpPr>
            <a:spLocks noChangeArrowheads="1"/>
          </p:cNvSpPr>
          <p:nvPr/>
        </p:nvSpPr>
        <p:spPr bwMode="auto">
          <a:xfrm>
            <a:off x="6371035" y="2837260"/>
            <a:ext cx="188119" cy="178594"/>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4" name="Rectangle 23">
            <a:extLst>
              <a:ext uri="{FF2B5EF4-FFF2-40B4-BE49-F238E27FC236}">
                <a16:creationId xmlns:a16="http://schemas.microsoft.com/office/drawing/2014/main" id="{D17EEC67-5EEF-4344-8717-3F1558FD2A31}"/>
              </a:ext>
            </a:extLst>
          </p:cNvPr>
          <p:cNvSpPr>
            <a:spLocks noChangeArrowheads="1"/>
          </p:cNvSpPr>
          <p:nvPr/>
        </p:nvSpPr>
        <p:spPr bwMode="auto">
          <a:xfrm>
            <a:off x="6366273" y="2761060"/>
            <a:ext cx="302419" cy="48815"/>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5" name="Rectangle 24">
            <a:extLst>
              <a:ext uri="{FF2B5EF4-FFF2-40B4-BE49-F238E27FC236}">
                <a16:creationId xmlns:a16="http://schemas.microsoft.com/office/drawing/2014/main" id="{1DB3B243-77D1-784C-A8F5-1AC2B62957C0}"/>
              </a:ext>
            </a:extLst>
          </p:cNvPr>
          <p:cNvSpPr>
            <a:spLocks noChangeArrowheads="1"/>
          </p:cNvSpPr>
          <p:nvPr/>
        </p:nvSpPr>
        <p:spPr bwMode="auto">
          <a:xfrm>
            <a:off x="6572250" y="2837260"/>
            <a:ext cx="90488" cy="177403"/>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26" name="Rectangle 25">
            <a:extLst>
              <a:ext uri="{FF2B5EF4-FFF2-40B4-BE49-F238E27FC236}">
                <a16:creationId xmlns:a16="http://schemas.microsoft.com/office/drawing/2014/main" id="{5DF187AC-2606-5E44-ACD5-74483C5D3CDB}"/>
              </a:ext>
            </a:extLst>
          </p:cNvPr>
          <p:cNvSpPr>
            <a:spLocks noChangeArrowheads="1"/>
          </p:cNvSpPr>
          <p:nvPr/>
        </p:nvSpPr>
        <p:spPr bwMode="auto">
          <a:xfrm>
            <a:off x="6577012" y="3032523"/>
            <a:ext cx="82154" cy="39290"/>
          </a:xfrm>
          <a:prstGeom prst="rect">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27" name="Straight Arrow Connector 65">
            <a:extLst>
              <a:ext uri="{FF2B5EF4-FFF2-40B4-BE49-F238E27FC236}">
                <a16:creationId xmlns:a16="http://schemas.microsoft.com/office/drawing/2014/main" id="{00D2FCE1-4436-A541-A8DE-419551E73D89}"/>
              </a:ext>
            </a:extLst>
          </p:cNvPr>
          <p:cNvCxnSpPr>
            <a:cxnSpLocks noChangeShapeType="1"/>
            <a:stCxn id="7" idx="1"/>
            <a:endCxn id="8" idx="4"/>
          </p:cNvCxnSpPr>
          <p:nvPr/>
        </p:nvCxnSpPr>
        <p:spPr bwMode="auto">
          <a:xfrm rot="10800000" flipV="1">
            <a:off x="5961460" y="2395538"/>
            <a:ext cx="351234" cy="114300"/>
          </a:xfrm>
          <a:prstGeom prst="bentConnector3">
            <a:avLst>
              <a:gd name="adj1" fmla="val 50000"/>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Arrow Connector 65">
            <a:extLst>
              <a:ext uri="{FF2B5EF4-FFF2-40B4-BE49-F238E27FC236}">
                <a16:creationId xmlns:a16="http://schemas.microsoft.com/office/drawing/2014/main" id="{C877EF5B-7D1F-0E48-91D6-D3D770276127}"/>
              </a:ext>
            </a:extLst>
          </p:cNvPr>
          <p:cNvCxnSpPr>
            <a:cxnSpLocks noChangeShapeType="1"/>
            <a:stCxn id="22" idx="1"/>
            <a:endCxn id="9" idx="4"/>
          </p:cNvCxnSpPr>
          <p:nvPr/>
        </p:nvCxnSpPr>
        <p:spPr bwMode="auto">
          <a:xfrm rot="10800000">
            <a:off x="5961460" y="2952751"/>
            <a:ext cx="355997" cy="2381"/>
          </a:xfrm>
          <a:prstGeom prst="bentConnector3">
            <a:avLst>
              <a:gd name="adj1" fmla="val 50000"/>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Straight Arrow Connector 32">
            <a:extLst>
              <a:ext uri="{FF2B5EF4-FFF2-40B4-BE49-F238E27FC236}">
                <a16:creationId xmlns:a16="http://schemas.microsoft.com/office/drawing/2014/main" id="{ADE51B7F-C1FE-3A41-8012-F13CACB4880A}"/>
              </a:ext>
            </a:extLst>
          </p:cNvPr>
          <p:cNvCxnSpPr>
            <a:cxnSpLocks noChangeShapeType="1"/>
            <a:endCxn id="7" idx="3"/>
          </p:cNvCxnSpPr>
          <p:nvPr/>
        </p:nvCxnSpPr>
        <p:spPr bwMode="auto">
          <a:xfrm flipH="1" flipV="1">
            <a:off x="6700838" y="2395538"/>
            <a:ext cx="401241" cy="7144"/>
          </a:xfrm>
          <a:prstGeom prst="straightConnector1">
            <a:avLst/>
          </a:prstGeom>
          <a:noFill/>
          <a:ln w="19050">
            <a:solidFill>
              <a:schemeClr val="tx2"/>
            </a:solidFill>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365" name="Group 92">
            <a:extLst>
              <a:ext uri="{FF2B5EF4-FFF2-40B4-BE49-F238E27FC236}">
                <a16:creationId xmlns:a16="http://schemas.microsoft.com/office/drawing/2014/main" id="{C3D47B83-00BC-734E-A805-6A9EDC32586D}"/>
              </a:ext>
            </a:extLst>
          </p:cNvPr>
          <p:cNvGrpSpPr>
            <a:grpSpLocks/>
          </p:cNvGrpSpPr>
          <p:nvPr/>
        </p:nvGrpSpPr>
        <p:grpSpPr bwMode="auto">
          <a:xfrm>
            <a:off x="3394473" y="2156222"/>
            <a:ext cx="526256" cy="314325"/>
            <a:chOff x="3092024" y="2506732"/>
            <a:chExt cx="700919" cy="419784"/>
          </a:xfrm>
        </p:grpSpPr>
        <p:sp>
          <p:nvSpPr>
            <p:cNvPr id="35" name="Can 34">
              <a:extLst>
                <a:ext uri="{FF2B5EF4-FFF2-40B4-BE49-F238E27FC236}">
                  <a16:creationId xmlns:a16="http://schemas.microsoft.com/office/drawing/2014/main" id="{6E8F712F-CEBE-6B44-8414-2275C9CDDCF7}"/>
                </a:ext>
              </a:extLst>
            </p:cNvPr>
            <p:cNvSpPr>
              <a:spLocks noChangeArrowheads="1"/>
            </p:cNvSpPr>
            <p:nvPr/>
          </p:nvSpPr>
          <p:spPr bwMode="auto">
            <a:xfrm>
              <a:off x="3191929" y="2506732"/>
              <a:ext cx="601014" cy="26713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36" name="Can 35">
              <a:extLst>
                <a:ext uri="{FF2B5EF4-FFF2-40B4-BE49-F238E27FC236}">
                  <a16:creationId xmlns:a16="http://schemas.microsoft.com/office/drawing/2014/main" id="{078391D0-511C-C049-97AB-A54BD2EDD05F}"/>
                </a:ext>
              </a:extLst>
            </p:cNvPr>
            <p:cNvSpPr>
              <a:spLocks noChangeArrowheads="1"/>
            </p:cNvSpPr>
            <p:nvPr/>
          </p:nvSpPr>
          <p:spPr bwMode="auto">
            <a:xfrm>
              <a:off x="3092024" y="2659381"/>
              <a:ext cx="601015" cy="26713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grpSp>
      <p:cxnSp>
        <p:nvCxnSpPr>
          <p:cNvPr id="37" name="Straight Arrow Connector 36">
            <a:extLst>
              <a:ext uri="{FF2B5EF4-FFF2-40B4-BE49-F238E27FC236}">
                <a16:creationId xmlns:a16="http://schemas.microsoft.com/office/drawing/2014/main" id="{AC5FF558-0D5E-534B-9D10-0579F0957344}"/>
              </a:ext>
            </a:extLst>
          </p:cNvPr>
          <p:cNvCxnSpPr>
            <a:cxnSpLocks noChangeShapeType="1"/>
            <a:stCxn id="35" idx="4"/>
            <a:endCxn id="12" idx="2"/>
          </p:cNvCxnSpPr>
          <p:nvPr/>
        </p:nvCxnSpPr>
        <p:spPr bwMode="auto">
          <a:xfrm>
            <a:off x="3920729" y="2256235"/>
            <a:ext cx="607219" cy="385763"/>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Straight Arrow Connector 37">
            <a:extLst>
              <a:ext uri="{FF2B5EF4-FFF2-40B4-BE49-F238E27FC236}">
                <a16:creationId xmlns:a16="http://schemas.microsoft.com/office/drawing/2014/main" id="{0DE9D577-D608-984B-B4D7-67809F1DF382}"/>
              </a:ext>
            </a:extLst>
          </p:cNvPr>
          <p:cNvCxnSpPr>
            <a:cxnSpLocks noChangeShapeType="1"/>
            <a:stCxn id="36" idx="4"/>
            <a:endCxn id="12" idx="2"/>
          </p:cNvCxnSpPr>
          <p:nvPr/>
        </p:nvCxnSpPr>
        <p:spPr bwMode="auto">
          <a:xfrm>
            <a:off x="3845719" y="2370535"/>
            <a:ext cx="682229" cy="271463"/>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Cube 38">
            <a:extLst>
              <a:ext uri="{FF2B5EF4-FFF2-40B4-BE49-F238E27FC236}">
                <a16:creationId xmlns:a16="http://schemas.microsoft.com/office/drawing/2014/main" id="{24793210-C3C7-8D47-8C1D-5DC7297E1102}"/>
              </a:ext>
            </a:extLst>
          </p:cNvPr>
          <p:cNvSpPr>
            <a:spLocks noChangeArrowheads="1"/>
          </p:cNvSpPr>
          <p:nvPr/>
        </p:nvSpPr>
        <p:spPr bwMode="auto">
          <a:xfrm>
            <a:off x="4752975" y="2022872"/>
            <a:ext cx="311944" cy="238125"/>
          </a:xfrm>
          <a:prstGeom prst="cube">
            <a:avLst>
              <a:gd name="adj" fmla="val 11843"/>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40" name="Straight Arrow Connector 39">
            <a:extLst>
              <a:ext uri="{FF2B5EF4-FFF2-40B4-BE49-F238E27FC236}">
                <a16:creationId xmlns:a16="http://schemas.microsoft.com/office/drawing/2014/main" id="{E6D38780-C5E1-B54C-B87A-1D29061D9DC2}"/>
              </a:ext>
            </a:extLst>
          </p:cNvPr>
          <p:cNvCxnSpPr>
            <a:cxnSpLocks noChangeShapeType="1"/>
            <a:stCxn id="39" idx="3"/>
            <a:endCxn id="12" idx="1"/>
          </p:cNvCxnSpPr>
          <p:nvPr/>
        </p:nvCxnSpPr>
        <p:spPr bwMode="auto">
          <a:xfrm>
            <a:off x="4894660" y="2260997"/>
            <a:ext cx="2381" cy="170259"/>
          </a:xfrm>
          <a:prstGeom prst="straightConnector1">
            <a:avLst/>
          </a:prstGeom>
          <a:noFill/>
          <a:ln w="19050">
            <a:solidFill>
              <a:schemeClr val="tx2"/>
            </a:solidFill>
            <a:round/>
            <a:headEnd type="arrow"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Rectangle 40">
            <a:extLst>
              <a:ext uri="{FF2B5EF4-FFF2-40B4-BE49-F238E27FC236}">
                <a16:creationId xmlns:a16="http://schemas.microsoft.com/office/drawing/2014/main" id="{58781A2F-BDB8-DB44-A555-05D944E71065}"/>
              </a:ext>
            </a:extLst>
          </p:cNvPr>
          <p:cNvSpPr>
            <a:spLocks noChangeArrowheads="1"/>
          </p:cNvSpPr>
          <p:nvPr/>
        </p:nvSpPr>
        <p:spPr bwMode="auto">
          <a:xfrm>
            <a:off x="6361510" y="2318148"/>
            <a:ext cx="295275" cy="50006"/>
          </a:xfrm>
          <a:prstGeom prst="rect">
            <a:avLst/>
          </a:prstGeom>
          <a:solidFill>
            <a:srgbClr val="800000"/>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2" name="Rectangle 41">
            <a:extLst>
              <a:ext uri="{FF2B5EF4-FFF2-40B4-BE49-F238E27FC236}">
                <a16:creationId xmlns:a16="http://schemas.microsoft.com/office/drawing/2014/main" id="{DF2478A1-642F-DB4B-8166-3928C72DBBE2}"/>
              </a:ext>
            </a:extLst>
          </p:cNvPr>
          <p:cNvSpPr>
            <a:spLocks noChangeArrowheads="1"/>
          </p:cNvSpPr>
          <p:nvPr/>
        </p:nvSpPr>
        <p:spPr bwMode="auto">
          <a:xfrm>
            <a:off x="5588794" y="2497932"/>
            <a:ext cx="295275" cy="50006"/>
          </a:xfrm>
          <a:prstGeom prst="rect">
            <a:avLst/>
          </a:prstGeom>
          <a:solidFill>
            <a:srgbClr val="800000"/>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3" name="Rectangle 42">
            <a:extLst>
              <a:ext uri="{FF2B5EF4-FFF2-40B4-BE49-F238E27FC236}">
                <a16:creationId xmlns:a16="http://schemas.microsoft.com/office/drawing/2014/main" id="{6F3DD983-46F0-C546-B9FC-A78C04315DB9}"/>
              </a:ext>
            </a:extLst>
          </p:cNvPr>
          <p:cNvSpPr>
            <a:spLocks noChangeArrowheads="1"/>
          </p:cNvSpPr>
          <p:nvPr/>
        </p:nvSpPr>
        <p:spPr bwMode="auto">
          <a:xfrm>
            <a:off x="4742260" y="2620567"/>
            <a:ext cx="295275" cy="50006"/>
          </a:xfrm>
          <a:prstGeom prst="rect">
            <a:avLst/>
          </a:prstGeom>
          <a:solidFill>
            <a:srgbClr val="800000"/>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4" name="Can 43">
            <a:extLst>
              <a:ext uri="{FF2B5EF4-FFF2-40B4-BE49-F238E27FC236}">
                <a16:creationId xmlns:a16="http://schemas.microsoft.com/office/drawing/2014/main" id="{3CB15480-6BF1-EA4B-B8B9-DBB6ECD2017A}"/>
              </a:ext>
            </a:extLst>
          </p:cNvPr>
          <p:cNvSpPr>
            <a:spLocks noChangeArrowheads="1"/>
          </p:cNvSpPr>
          <p:nvPr/>
        </p:nvSpPr>
        <p:spPr bwMode="auto">
          <a:xfrm>
            <a:off x="4527948" y="2950369"/>
            <a:ext cx="735806" cy="204788"/>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5" name="Rectangle 44">
            <a:extLst>
              <a:ext uri="{FF2B5EF4-FFF2-40B4-BE49-F238E27FC236}">
                <a16:creationId xmlns:a16="http://schemas.microsoft.com/office/drawing/2014/main" id="{B0962C85-5455-0945-938E-DE422999711E}"/>
              </a:ext>
            </a:extLst>
          </p:cNvPr>
          <p:cNvSpPr>
            <a:spLocks noChangeArrowheads="1"/>
          </p:cNvSpPr>
          <p:nvPr/>
        </p:nvSpPr>
        <p:spPr bwMode="auto">
          <a:xfrm>
            <a:off x="4751785" y="3046810"/>
            <a:ext cx="294084"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46" name="Straight Arrow Connector 45">
            <a:extLst>
              <a:ext uri="{FF2B5EF4-FFF2-40B4-BE49-F238E27FC236}">
                <a16:creationId xmlns:a16="http://schemas.microsoft.com/office/drawing/2014/main" id="{600B42F2-04E6-0548-9412-81AA032942CA}"/>
              </a:ext>
            </a:extLst>
          </p:cNvPr>
          <p:cNvCxnSpPr>
            <a:cxnSpLocks noChangeShapeType="1"/>
            <a:stCxn id="60" idx="4"/>
            <a:endCxn id="12" idx="2"/>
          </p:cNvCxnSpPr>
          <p:nvPr/>
        </p:nvCxnSpPr>
        <p:spPr bwMode="auto">
          <a:xfrm flipV="1">
            <a:off x="4182667" y="2641997"/>
            <a:ext cx="345281" cy="409575"/>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7" name="Rectangle 46">
            <a:extLst>
              <a:ext uri="{FF2B5EF4-FFF2-40B4-BE49-F238E27FC236}">
                <a16:creationId xmlns:a16="http://schemas.microsoft.com/office/drawing/2014/main" id="{F93F8F6B-DE98-5F46-8920-3BB001B58433}"/>
              </a:ext>
            </a:extLst>
          </p:cNvPr>
          <p:cNvSpPr>
            <a:spLocks noChangeArrowheads="1"/>
          </p:cNvSpPr>
          <p:nvPr/>
        </p:nvSpPr>
        <p:spPr bwMode="auto">
          <a:xfrm>
            <a:off x="5586413" y="2947988"/>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8" name="Rectangle 47">
            <a:extLst>
              <a:ext uri="{FF2B5EF4-FFF2-40B4-BE49-F238E27FC236}">
                <a16:creationId xmlns:a16="http://schemas.microsoft.com/office/drawing/2014/main" id="{94F408AE-153F-A844-AF45-20750F3AE9CB}"/>
              </a:ext>
            </a:extLst>
          </p:cNvPr>
          <p:cNvSpPr>
            <a:spLocks noChangeArrowheads="1"/>
          </p:cNvSpPr>
          <p:nvPr/>
        </p:nvSpPr>
        <p:spPr bwMode="auto">
          <a:xfrm>
            <a:off x="6366272" y="2889648"/>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49" name="Rectangle 48">
            <a:extLst>
              <a:ext uri="{FF2B5EF4-FFF2-40B4-BE49-F238E27FC236}">
                <a16:creationId xmlns:a16="http://schemas.microsoft.com/office/drawing/2014/main" id="{73700558-0F89-6149-A304-FFF17F933392}"/>
              </a:ext>
            </a:extLst>
          </p:cNvPr>
          <p:cNvSpPr>
            <a:spLocks noChangeArrowheads="1"/>
          </p:cNvSpPr>
          <p:nvPr/>
        </p:nvSpPr>
        <p:spPr bwMode="auto">
          <a:xfrm>
            <a:off x="2301479" y="2700338"/>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0" name="Rectangle 49">
            <a:extLst>
              <a:ext uri="{FF2B5EF4-FFF2-40B4-BE49-F238E27FC236}">
                <a16:creationId xmlns:a16="http://schemas.microsoft.com/office/drawing/2014/main" id="{7AA3153F-88C9-A047-A068-F1B40A01C65A}"/>
              </a:ext>
            </a:extLst>
          </p:cNvPr>
          <p:cNvSpPr>
            <a:spLocks noChangeArrowheads="1"/>
          </p:cNvSpPr>
          <p:nvPr/>
        </p:nvSpPr>
        <p:spPr bwMode="auto">
          <a:xfrm>
            <a:off x="3468291" y="2692004"/>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1" name="Can 50">
            <a:extLst>
              <a:ext uri="{FF2B5EF4-FFF2-40B4-BE49-F238E27FC236}">
                <a16:creationId xmlns:a16="http://schemas.microsoft.com/office/drawing/2014/main" id="{19F9D355-5D0A-AB42-840F-2751BCD5404A}"/>
              </a:ext>
            </a:extLst>
          </p:cNvPr>
          <p:cNvSpPr>
            <a:spLocks noChangeArrowheads="1"/>
          </p:cNvSpPr>
          <p:nvPr/>
        </p:nvSpPr>
        <p:spPr bwMode="auto">
          <a:xfrm>
            <a:off x="2334816" y="2731294"/>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2" name="Can 51">
            <a:extLst>
              <a:ext uri="{FF2B5EF4-FFF2-40B4-BE49-F238E27FC236}">
                <a16:creationId xmlns:a16="http://schemas.microsoft.com/office/drawing/2014/main" id="{43639012-11A7-D84E-9406-087A0099A068}"/>
              </a:ext>
            </a:extLst>
          </p:cNvPr>
          <p:cNvSpPr>
            <a:spLocks noChangeArrowheads="1"/>
          </p:cNvSpPr>
          <p:nvPr/>
        </p:nvSpPr>
        <p:spPr bwMode="auto">
          <a:xfrm>
            <a:off x="2449116" y="2845594"/>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3" name="Can 52">
            <a:extLst>
              <a:ext uri="{FF2B5EF4-FFF2-40B4-BE49-F238E27FC236}">
                <a16:creationId xmlns:a16="http://schemas.microsoft.com/office/drawing/2014/main" id="{9637FDAC-D03D-1F43-9474-E7030EB79EAB}"/>
              </a:ext>
            </a:extLst>
          </p:cNvPr>
          <p:cNvSpPr>
            <a:spLocks noChangeArrowheads="1"/>
          </p:cNvSpPr>
          <p:nvPr/>
        </p:nvSpPr>
        <p:spPr bwMode="auto">
          <a:xfrm>
            <a:off x="3501628" y="2722960"/>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4" name="Can 53">
            <a:extLst>
              <a:ext uri="{FF2B5EF4-FFF2-40B4-BE49-F238E27FC236}">
                <a16:creationId xmlns:a16="http://schemas.microsoft.com/office/drawing/2014/main" id="{F02D5DAA-7F9B-5E42-A6B9-CD8E3CA99590}"/>
              </a:ext>
            </a:extLst>
          </p:cNvPr>
          <p:cNvSpPr>
            <a:spLocks noChangeArrowheads="1"/>
          </p:cNvSpPr>
          <p:nvPr/>
        </p:nvSpPr>
        <p:spPr bwMode="auto">
          <a:xfrm>
            <a:off x="3615928" y="2837260"/>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55" name="Straight Arrow Connector 54">
            <a:extLst>
              <a:ext uri="{FF2B5EF4-FFF2-40B4-BE49-F238E27FC236}">
                <a16:creationId xmlns:a16="http://schemas.microsoft.com/office/drawing/2014/main" id="{72590803-51FB-3645-93C7-B140782A349B}"/>
              </a:ext>
            </a:extLst>
          </p:cNvPr>
          <p:cNvCxnSpPr>
            <a:cxnSpLocks noChangeShapeType="1"/>
            <a:stCxn id="51" idx="4"/>
            <a:endCxn id="53" idx="2"/>
          </p:cNvCxnSpPr>
          <p:nvPr/>
        </p:nvCxnSpPr>
        <p:spPr bwMode="auto">
          <a:xfrm flipV="1">
            <a:off x="2786063" y="2822972"/>
            <a:ext cx="716756" cy="8334"/>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6" name="Straight Arrow Connector 55">
            <a:extLst>
              <a:ext uri="{FF2B5EF4-FFF2-40B4-BE49-F238E27FC236}">
                <a16:creationId xmlns:a16="http://schemas.microsoft.com/office/drawing/2014/main" id="{135D9882-986E-3E4A-B77A-036271A6E100}"/>
              </a:ext>
            </a:extLst>
          </p:cNvPr>
          <p:cNvCxnSpPr>
            <a:cxnSpLocks noChangeShapeType="1"/>
            <a:stCxn id="52" idx="4"/>
            <a:endCxn id="54" idx="2"/>
          </p:cNvCxnSpPr>
          <p:nvPr/>
        </p:nvCxnSpPr>
        <p:spPr bwMode="auto">
          <a:xfrm flipV="1">
            <a:off x="2900363" y="2937272"/>
            <a:ext cx="716756" cy="8334"/>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7" name="Rectangle 56">
            <a:extLst>
              <a:ext uri="{FF2B5EF4-FFF2-40B4-BE49-F238E27FC236}">
                <a16:creationId xmlns:a16="http://schemas.microsoft.com/office/drawing/2014/main" id="{11A7FF07-AF18-0242-84F2-058AD6B48F5F}"/>
              </a:ext>
            </a:extLst>
          </p:cNvPr>
          <p:cNvSpPr>
            <a:spLocks noChangeArrowheads="1"/>
          </p:cNvSpPr>
          <p:nvPr/>
        </p:nvSpPr>
        <p:spPr bwMode="auto">
          <a:xfrm>
            <a:off x="3698081" y="2922985"/>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8" name="Rectangle 57">
            <a:extLst>
              <a:ext uri="{FF2B5EF4-FFF2-40B4-BE49-F238E27FC236}">
                <a16:creationId xmlns:a16="http://schemas.microsoft.com/office/drawing/2014/main" id="{7A4132E4-D0B1-F345-9AAF-23A8D0791CF1}"/>
              </a:ext>
            </a:extLst>
          </p:cNvPr>
          <p:cNvSpPr>
            <a:spLocks noChangeArrowheads="1"/>
          </p:cNvSpPr>
          <p:nvPr/>
        </p:nvSpPr>
        <p:spPr bwMode="auto">
          <a:xfrm>
            <a:off x="2540794" y="2922985"/>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59" name="Can 58">
            <a:extLst>
              <a:ext uri="{FF2B5EF4-FFF2-40B4-BE49-F238E27FC236}">
                <a16:creationId xmlns:a16="http://schemas.microsoft.com/office/drawing/2014/main" id="{E74F840D-B583-A04D-9F60-E2A0EB6391DC}"/>
              </a:ext>
            </a:extLst>
          </p:cNvPr>
          <p:cNvSpPr>
            <a:spLocks noChangeArrowheads="1"/>
          </p:cNvSpPr>
          <p:nvPr/>
        </p:nvSpPr>
        <p:spPr bwMode="auto">
          <a:xfrm>
            <a:off x="2563416" y="2959894"/>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60" name="Can 59">
            <a:extLst>
              <a:ext uri="{FF2B5EF4-FFF2-40B4-BE49-F238E27FC236}">
                <a16:creationId xmlns:a16="http://schemas.microsoft.com/office/drawing/2014/main" id="{CEBC16DC-2802-0245-A9C9-EE173632D658}"/>
              </a:ext>
            </a:extLst>
          </p:cNvPr>
          <p:cNvSpPr>
            <a:spLocks noChangeArrowheads="1"/>
          </p:cNvSpPr>
          <p:nvPr/>
        </p:nvSpPr>
        <p:spPr bwMode="auto">
          <a:xfrm>
            <a:off x="3730228" y="2951560"/>
            <a:ext cx="451247" cy="200025"/>
          </a:xfrm>
          <a:prstGeom prst="can">
            <a:avLst>
              <a:gd name="adj" fmla="val 25000"/>
            </a:avLst>
          </a:prstGeom>
          <a:solidFill>
            <a:srgbClr val="FFFFFF"/>
          </a:solidFill>
          <a:ln w="9525">
            <a:solidFill>
              <a:schemeClr val="tx2"/>
            </a:solidFill>
            <a:round/>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cxnSp>
        <p:nvCxnSpPr>
          <p:cNvPr id="61" name="Straight Arrow Connector 60">
            <a:extLst>
              <a:ext uri="{FF2B5EF4-FFF2-40B4-BE49-F238E27FC236}">
                <a16:creationId xmlns:a16="http://schemas.microsoft.com/office/drawing/2014/main" id="{AC4C6F2D-0755-D842-B1E2-3D18E8EFFECA}"/>
              </a:ext>
            </a:extLst>
          </p:cNvPr>
          <p:cNvCxnSpPr>
            <a:cxnSpLocks noChangeShapeType="1"/>
            <a:stCxn id="59" idx="4"/>
            <a:endCxn id="60" idx="2"/>
          </p:cNvCxnSpPr>
          <p:nvPr/>
        </p:nvCxnSpPr>
        <p:spPr bwMode="auto">
          <a:xfrm flipV="1">
            <a:off x="3014663" y="3051572"/>
            <a:ext cx="716756" cy="8334"/>
          </a:xfrm>
          <a:prstGeom prst="straightConnector1">
            <a:avLst/>
          </a:prstGeom>
          <a:noFill/>
          <a:ln w="19050">
            <a:solidFill>
              <a:schemeClr val="tx2"/>
            </a:solidFill>
            <a:round/>
            <a:headEn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2" name="Rectangle 61">
            <a:extLst>
              <a:ext uri="{FF2B5EF4-FFF2-40B4-BE49-F238E27FC236}">
                <a16:creationId xmlns:a16="http://schemas.microsoft.com/office/drawing/2014/main" id="{18A933B9-62F2-604B-BFE2-158F4A86CD58}"/>
              </a:ext>
            </a:extLst>
          </p:cNvPr>
          <p:cNvSpPr>
            <a:spLocks noChangeArrowheads="1"/>
          </p:cNvSpPr>
          <p:nvPr/>
        </p:nvSpPr>
        <p:spPr bwMode="auto">
          <a:xfrm>
            <a:off x="3813572" y="3038476"/>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63" name="Rectangle 62">
            <a:extLst>
              <a:ext uri="{FF2B5EF4-FFF2-40B4-BE49-F238E27FC236}">
                <a16:creationId xmlns:a16="http://schemas.microsoft.com/office/drawing/2014/main" id="{36566A3D-CEDF-D74D-A460-A61116097406}"/>
              </a:ext>
            </a:extLst>
          </p:cNvPr>
          <p:cNvSpPr>
            <a:spLocks noChangeArrowheads="1"/>
          </p:cNvSpPr>
          <p:nvPr/>
        </p:nvSpPr>
        <p:spPr bwMode="auto">
          <a:xfrm>
            <a:off x="2647950" y="3045619"/>
            <a:ext cx="295275" cy="50006"/>
          </a:xfrm>
          <a:prstGeom prst="rect">
            <a:avLst/>
          </a:prstGeom>
          <a:solidFill>
            <a:srgbClr val="D99694"/>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US" sz="1050" dirty="0">
              <a:solidFill>
                <a:srgbClr val="1F497D"/>
              </a:solidFill>
              <a:latin typeface="Calibri"/>
              <a:ea typeface="+mn-ea"/>
              <a:cs typeface="Calibri"/>
            </a:endParaRPr>
          </a:p>
        </p:txBody>
      </p:sp>
      <p:sp>
        <p:nvSpPr>
          <p:cNvPr id="14393" name="TextBox 66">
            <a:extLst>
              <a:ext uri="{FF2B5EF4-FFF2-40B4-BE49-F238E27FC236}">
                <a16:creationId xmlns:a16="http://schemas.microsoft.com/office/drawing/2014/main" id="{42D688DB-71B4-4B4A-A23D-4925E6D556D9}"/>
              </a:ext>
            </a:extLst>
          </p:cNvPr>
          <p:cNvSpPr txBox="1">
            <a:spLocks noChangeArrowheads="1"/>
          </p:cNvSpPr>
          <p:nvPr/>
        </p:nvSpPr>
        <p:spPr bwMode="auto">
          <a:xfrm>
            <a:off x="2784872" y="3576637"/>
            <a:ext cx="727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a:t>Data Source</a:t>
            </a:r>
          </a:p>
          <a:p>
            <a:pPr eaLnBrk="1" hangingPunct="1"/>
            <a:r>
              <a:rPr lang="en-GB" altLang="en-US" sz="1050"/>
              <a:t>Stewards</a:t>
            </a:r>
          </a:p>
        </p:txBody>
      </p:sp>
      <p:sp>
        <p:nvSpPr>
          <p:cNvPr id="14394" name="TextBox 67">
            <a:extLst>
              <a:ext uri="{FF2B5EF4-FFF2-40B4-BE49-F238E27FC236}">
                <a16:creationId xmlns:a16="http://schemas.microsoft.com/office/drawing/2014/main" id="{3BFDB0CE-CEA6-E648-B95A-73205D517E97}"/>
              </a:ext>
            </a:extLst>
          </p:cNvPr>
          <p:cNvSpPr txBox="1">
            <a:spLocks noChangeArrowheads="1"/>
          </p:cNvSpPr>
          <p:nvPr/>
        </p:nvSpPr>
        <p:spPr bwMode="auto">
          <a:xfrm>
            <a:off x="5104210" y="3570685"/>
            <a:ext cx="1108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a:t>Data Consolidation</a:t>
            </a:r>
          </a:p>
          <a:p>
            <a:pPr eaLnBrk="1" hangingPunct="1"/>
            <a:r>
              <a:rPr lang="en-GB" altLang="en-US" sz="1050"/>
              <a:t>Stewards</a:t>
            </a:r>
          </a:p>
        </p:txBody>
      </p:sp>
      <p:sp>
        <p:nvSpPr>
          <p:cNvPr id="14395" name="TextBox 68">
            <a:extLst>
              <a:ext uri="{FF2B5EF4-FFF2-40B4-BE49-F238E27FC236}">
                <a16:creationId xmlns:a16="http://schemas.microsoft.com/office/drawing/2014/main" id="{0EA65127-E626-0B42-AF5E-94EE431963C7}"/>
              </a:ext>
            </a:extLst>
          </p:cNvPr>
          <p:cNvSpPr txBox="1">
            <a:spLocks noChangeArrowheads="1"/>
          </p:cNvSpPr>
          <p:nvPr/>
        </p:nvSpPr>
        <p:spPr bwMode="auto">
          <a:xfrm>
            <a:off x="6747272" y="3601641"/>
            <a:ext cx="727472" cy="577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n-GB" altLang="en-US" sz="1050"/>
              <a:t>Data Project</a:t>
            </a:r>
          </a:p>
          <a:p>
            <a:pPr eaLnBrk="1" hangingPunct="1"/>
            <a:r>
              <a:rPr lang="en-GB" altLang="en-US" sz="1050"/>
              <a:t>Stewards</a:t>
            </a:r>
          </a:p>
        </p:txBody>
      </p:sp>
      <p:sp>
        <p:nvSpPr>
          <p:cNvPr id="70" name="Up Arrow 69">
            <a:extLst>
              <a:ext uri="{FF2B5EF4-FFF2-40B4-BE49-F238E27FC236}">
                <a16:creationId xmlns:a16="http://schemas.microsoft.com/office/drawing/2014/main" id="{DC4B284D-ADDB-9540-A63E-F21CA434F84B}"/>
              </a:ext>
            </a:extLst>
          </p:cNvPr>
          <p:cNvSpPr>
            <a:spLocks noChangeArrowheads="1"/>
          </p:cNvSpPr>
          <p:nvPr/>
        </p:nvSpPr>
        <p:spPr bwMode="auto">
          <a:xfrm>
            <a:off x="2514600" y="3359944"/>
            <a:ext cx="105966" cy="111919"/>
          </a:xfrm>
          <a:prstGeom prst="upArrow">
            <a:avLst>
              <a:gd name="adj1" fmla="val 50000"/>
              <a:gd name="adj2" fmla="val 49293"/>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sp>
        <p:nvSpPr>
          <p:cNvPr id="71" name="Up Arrow 70">
            <a:extLst>
              <a:ext uri="{FF2B5EF4-FFF2-40B4-BE49-F238E27FC236}">
                <a16:creationId xmlns:a16="http://schemas.microsoft.com/office/drawing/2014/main" id="{2EFD651F-FB66-D049-9905-807A0029037E}"/>
              </a:ext>
            </a:extLst>
          </p:cNvPr>
          <p:cNvSpPr>
            <a:spLocks noChangeArrowheads="1"/>
          </p:cNvSpPr>
          <p:nvPr/>
        </p:nvSpPr>
        <p:spPr bwMode="auto">
          <a:xfrm>
            <a:off x="4835129" y="3383757"/>
            <a:ext cx="104775" cy="111919"/>
          </a:xfrm>
          <a:prstGeom prst="upArrow">
            <a:avLst>
              <a:gd name="adj1" fmla="val 50000"/>
              <a:gd name="adj2" fmla="val 49853"/>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sp>
        <p:nvSpPr>
          <p:cNvPr id="72" name="Up Arrow 71">
            <a:extLst>
              <a:ext uri="{FF2B5EF4-FFF2-40B4-BE49-F238E27FC236}">
                <a16:creationId xmlns:a16="http://schemas.microsoft.com/office/drawing/2014/main" id="{013B6960-C8A6-704B-9009-303556DB4B44}"/>
              </a:ext>
            </a:extLst>
          </p:cNvPr>
          <p:cNvSpPr>
            <a:spLocks noChangeArrowheads="1"/>
          </p:cNvSpPr>
          <p:nvPr/>
        </p:nvSpPr>
        <p:spPr bwMode="auto">
          <a:xfrm>
            <a:off x="6447235" y="3390900"/>
            <a:ext cx="104775" cy="113110"/>
          </a:xfrm>
          <a:prstGeom prst="upArrow">
            <a:avLst>
              <a:gd name="adj1" fmla="val 50000"/>
              <a:gd name="adj2" fmla="val 50384"/>
            </a:avLst>
          </a:prstGeom>
          <a:solidFill>
            <a:srgbClr val="FFFFFF"/>
          </a:solidFill>
          <a:ln w="9525">
            <a:solidFill>
              <a:schemeClr val="tx2"/>
            </a:solidFill>
            <a:miter lim="800000"/>
            <a:headEnd/>
            <a:tailEnd/>
          </a:ln>
          <a:effectLst>
            <a:outerShdw blurRad="40000" dist="23000" dir="5400000" rotWithShape="0">
              <a:srgbClr val="808080">
                <a:alpha val="34999"/>
              </a:srgbClr>
            </a:outerShdw>
          </a:effectLst>
        </p:spPr>
        <p:txBody>
          <a:bodyPr anchor="ctr"/>
          <a:lstStyle/>
          <a:p>
            <a:pPr algn="ctr">
              <a:defRPr/>
            </a:pPr>
            <a:endParaRPr lang="en-GB" sz="1050" dirty="0">
              <a:solidFill>
                <a:srgbClr val="1F497D"/>
              </a:solidFill>
              <a:latin typeface="Calibri"/>
              <a:ea typeface="+mn-ea"/>
              <a:cs typeface="Calibri"/>
            </a:endParaRPr>
          </a:p>
        </p:txBody>
      </p:sp>
      <p:grpSp>
        <p:nvGrpSpPr>
          <p:cNvPr id="14399" name="Group 72">
            <a:extLst>
              <a:ext uri="{FF2B5EF4-FFF2-40B4-BE49-F238E27FC236}">
                <a16:creationId xmlns:a16="http://schemas.microsoft.com/office/drawing/2014/main" id="{1D78BC61-D63E-BE4C-B889-C5F4993D2246}"/>
              </a:ext>
            </a:extLst>
          </p:cNvPr>
          <p:cNvGrpSpPr>
            <a:grpSpLocks/>
          </p:cNvGrpSpPr>
          <p:nvPr/>
        </p:nvGrpSpPr>
        <p:grpSpPr bwMode="auto">
          <a:xfrm>
            <a:off x="2352675" y="3652838"/>
            <a:ext cx="369094" cy="556022"/>
            <a:chOff x="5838291" y="2040336"/>
            <a:chExt cx="576382" cy="869463"/>
          </a:xfrm>
        </p:grpSpPr>
        <p:sp>
          <p:nvSpPr>
            <p:cNvPr id="74" name="Delay 73">
              <a:extLst>
                <a:ext uri="{FF2B5EF4-FFF2-40B4-BE49-F238E27FC236}">
                  <a16:creationId xmlns:a16="http://schemas.microsoft.com/office/drawing/2014/main" id="{638768F6-E99B-B94E-8A98-72F715EE4730}"/>
                </a:ext>
              </a:extLst>
            </p:cNvPr>
            <p:cNvSpPr/>
            <p:nvPr/>
          </p:nvSpPr>
          <p:spPr>
            <a:xfrm rot="16200000">
              <a:off x="5828520" y="2323646"/>
              <a:ext cx="595924" cy="576382"/>
            </a:xfrm>
            <a:prstGeom prst="flowChartDelay">
              <a:avLst/>
            </a:prstGeom>
            <a:solidFill>
              <a:schemeClr val="accent5"/>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b="1" dirty="0">
                <a:solidFill>
                  <a:srgbClr val="1F497D"/>
                </a:solidFill>
                <a:cs typeface="Calibri"/>
              </a:endParaRPr>
            </a:p>
          </p:txBody>
        </p:sp>
        <p:sp>
          <p:nvSpPr>
            <p:cNvPr id="75" name="Oval 74">
              <a:extLst>
                <a:ext uri="{FF2B5EF4-FFF2-40B4-BE49-F238E27FC236}">
                  <a16:creationId xmlns:a16="http://schemas.microsoft.com/office/drawing/2014/main" id="{41F9C9DC-9CA9-7A42-B23A-11C2F308BF5B}"/>
                </a:ext>
              </a:extLst>
            </p:cNvPr>
            <p:cNvSpPr/>
            <p:nvPr/>
          </p:nvSpPr>
          <p:spPr>
            <a:xfrm>
              <a:off x="5926209" y="2040336"/>
              <a:ext cx="390770" cy="390770"/>
            </a:xfrm>
            <a:prstGeom prst="ellipse">
              <a:avLst/>
            </a:prstGeom>
            <a:solidFill>
              <a:schemeClr val="accent5"/>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b="1" dirty="0">
                <a:solidFill>
                  <a:srgbClr val="1F497D"/>
                </a:solidFill>
                <a:cs typeface="Calibri"/>
              </a:endParaRPr>
            </a:p>
          </p:txBody>
        </p:sp>
      </p:grpSp>
      <p:grpSp>
        <p:nvGrpSpPr>
          <p:cNvPr id="14400" name="Group 75">
            <a:extLst>
              <a:ext uri="{FF2B5EF4-FFF2-40B4-BE49-F238E27FC236}">
                <a16:creationId xmlns:a16="http://schemas.microsoft.com/office/drawing/2014/main" id="{734CFFDD-0A18-1F41-824F-D5677FB6CDAE}"/>
              </a:ext>
            </a:extLst>
          </p:cNvPr>
          <p:cNvGrpSpPr>
            <a:grpSpLocks/>
          </p:cNvGrpSpPr>
          <p:nvPr/>
        </p:nvGrpSpPr>
        <p:grpSpPr bwMode="auto">
          <a:xfrm>
            <a:off x="4680348" y="3652838"/>
            <a:ext cx="369094" cy="556022"/>
            <a:chOff x="5838291" y="2040336"/>
            <a:chExt cx="576382" cy="869463"/>
          </a:xfrm>
        </p:grpSpPr>
        <p:sp>
          <p:nvSpPr>
            <p:cNvPr id="77" name="Delay 76">
              <a:extLst>
                <a:ext uri="{FF2B5EF4-FFF2-40B4-BE49-F238E27FC236}">
                  <a16:creationId xmlns:a16="http://schemas.microsoft.com/office/drawing/2014/main" id="{F4219165-A149-0447-A470-BF534FD921FA}"/>
                </a:ext>
              </a:extLst>
            </p:cNvPr>
            <p:cNvSpPr/>
            <p:nvPr/>
          </p:nvSpPr>
          <p:spPr>
            <a:xfrm rot="16200000">
              <a:off x="5828520" y="2323646"/>
              <a:ext cx="595924" cy="576382"/>
            </a:xfrm>
            <a:prstGeom prst="flowChartDelay">
              <a:avLst/>
            </a:prstGeom>
            <a:solidFill>
              <a:schemeClr val="accent5"/>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sp>
          <p:nvSpPr>
            <p:cNvPr id="78" name="Oval 77">
              <a:extLst>
                <a:ext uri="{FF2B5EF4-FFF2-40B4-BE49-F238E27FC236}">
                  <a16:creationId xmlns:a16="http://schemas.microsoft.com/office/drawing/2014/main" id="{C24AF373-83DF-7442-8136-A494614D5076}"/>
                </a:ext>
              </a:extLst>
            </p:cNvPr>
            <p:cNvSpPr/>
            <p:nvPr/>
          </p:nvSpPr>
          <p:spPr>
            <a:xfrm>
              <a:off x="5926209" y="2040336"/>
              <a:ext cx="390770" cy="390770"/>
            </a:xfrm>
            <a:prstGeom prst="ellipse">
              <a:avLst/>
            </a:prstGeom>
            <a:solidFill>
              <a:schemeClr val="accent5"/>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grpSp>
      <p:grpSp>
        <p:nvGrpSpPr>
          <p:cNvPr id="14401" name="Group 78">
            <a:extLst>
              <a:ext uri="{FF2B5EF4-FFF2-40B4-BE49-F238E27FC236}">
                <a16:creationId xmlns:a16="http://schemas.microsoft.com/office/drawing/2014/main" id="{FCEF5D86-F2A5-6344-A48F-8042B57EBC85}"/>
              </a:ext>
            </a:extLst>
          </p:cNvPr>
          <p:cNvGrpSpPr>
            <a:grpSpLocks/>
          </p:cNvGrpSpPr>
          <p:nvPr/>
        </p:nvGrpSpPr>
        <p:grpSpPr bwMode="auto">
          <a:xfrm>
            <a:off x="6318648" y="3652838"/>
            <a:ext cx="367903" cy="556022"/>
            <a:chOff x="5838291" y="2040336"/>
            <a:chExt cx="576382" cy="869463"/>
          </a:xfrm>
        </p:grpSpPr>
        <p:sp>
          <p:nvSpPr>
            <p:cNvPr id="80" name="Delay 79">
              <a:extLst>
                <a:ext uri="{FF2B5EF4-FFF2-40B4-BE49-F238E27FC236}">
                  <a16:creationId xmlns:a16="http://schemas.microsoft.com/office/drawing/2014/main" id="{15075165-0567-A345-84E7-BB9EF0C0A77F}"/>
                </a:ext>
              </a:extLst>
            </p:cNvPr>
            <p:cNvSpPr/>
            <p:nvPr/>
          </p:nvSpPr>
          <p:spPr>
            <a:xfrm rot="16200000">
              <a:off x="5828520" y="2323646"/>
              <a:ext cx="595924" cy="576382"/>
            </a:xfrm>
            <a:prstGeom prst="flowChartDelay">
              <a:avLst/>
            </a:prstGeom>
            <a:solidFill>
              <a:schemeClr val="accent5"/>
            </a:solidFill>
            <a:ln>
              <a:solidFill>
                <a:schemeClr val="tx2"/>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sp>
          <p:nvSpPr>
            <p:cNvPr id="81" name="Oval 80">
              <a:extLst>
                <a:ext uri="{FF2B5EF4-FFF2-40B4-BE49-F238E27FC236}">
                  <a16:creationId xmlns:a16="http://schemas.microsoft.com/office/drawing/2014/main" id="{DC72F1AF-9241-8240-8B36-42A8FFE657B3}"/>
                </a:ext>
              </a:extLst>
            </p:cNvPr>
            <p:cNvSpPr/>
            <p:nvPr/>
          </p:nvSpPr>
          <p:spPr>
            <a:xfrm>
              <a:off x="5926209" y="2040336"/>
              <a:ext cx="390770" cy="390770"/>
            </a:xfrm>
            <a:prstGeom prst="ellipse">
              <a:avLst/>
            </a:prstGeom>
            <a:solidFill>
              <a:schemeClr val="accent5"/>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grpSp>
      <p:grpSp>
        <p:nvGrpSpPr>
          <p:cNvPr id="14402" name="Group 81">
            <a:extLst>
              <a:ext uri="{FF2B5EF4-FFF2-40B4-BE49-F238E27FC236}">
                <a16:creationId xmlns:a16="http://schemas.microsoft.com/office/drawing/2014/main" id="{8275A7E8-C4E4-4146-81D3-B7A6EB472032}"/>
              </a:ext>
            </a:extLst>
          </p:cNvPr>
          <p:cNvGrpSpPr>
            <a:grpSpLocks/>
          </p:cNvGrpSpPr>
          <p:nvPr/>
        </p:nvGrpSpPr>
        <p:grpSpPr bwMode="auto">
          <a:xfrm>
            <a:off x="7119938" y="1993107"/>
            <a:ext cx="369094" cy="554831"/>
            <a:chOff x="6891596" y="321166"/>
            <a:chExt cx="576382" cy="869463"/>
          </a:xfrm>
        </p:grpSpPr>
        <p:sp>
          <p:nvSpPr>
            <p:cNvPr id="83" name="Delay 82">
              <a:extLst>
                <a:ext uri="{FF2B5EF4-FFF2-40B4-BE49-F238E27FC236}">
                  <a16:creationId xmlns:a16="http://schemas.microsoft.com/office/drawing/2014/main" id="{9E526048-A1AE-BD41-B0CE-911B7BBA6132}"/>
                </a:ext>
              </a:extLst>
            </p:cNvPr>
            <p:cNvSpPr/>
            <p:nvPr/>
          </p:nvSpPr>
          <p:spPr>
            <a:xfrm rot="16200000">
              <a:off x="6881825" y="604476"/>
              <a:ext cx="595924" cy="576382"/>
            </a:xfrm>
            <a:prstGeom prst="flowChartDelay">
              <a:avLst/>
            </a:prstGeom>
            <a:solidFill>
              <a:schemeClr val="accent1">
                <a:lumMod val="60000"/>
                <a:lumOff val="40000"/>
              </a:schemeClr>
            </a:solidFill>
            <a:ln>
              <a:solidFill>
                <a:srgbClr val="4F81BD"/>
              </a:solidFill>
            </a:ln>
            <a:scene3d>
              <a:camera prst="orthographicFront"/>
              <a:lightRig rig="threePt" dir="t"/>
            </a:scene3d>
            <a:sp3d>
              <a:bevelT w="165100" prst="coolSlan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sp>
          <p:nvSpPr>
            <p:cNvPr id="84" name="Oval 83">
              <a:extLst>
                <a:ext uri="{FF2B5EF4-FFF2-40B4-BE49-F238E27FC236}">
                  <a16:creationId xmlns:a16="http://schemas.microsoft.com/office/drawing/2014/main" id="{0CF189A0-896E-1742-8573-DE27D295647E}"/>
                </a:ext>
              </a:extLst>
            </p:cNvPr>
            <p:cNvSpPr/>
            <p:nvPr/>
          </p:nvSpPr>
          <p:spPr>
            <a:xfrm>
              <a:off x="6979514" y="321166"/>
              <a:ext cx="390770" cy="390770"/>
            </a:xfrm>
            <a:prstGeom prst="ellipse">
              <a:avLst/>
            </a:prstGeom>
            <a:solidFill>
              <a:schemeClr val="accent1">
                <a:lumMod val="60000"/>
                <a:lumOff val="40000"/>
              </a:schemeClr>
            </a:solidFill>
            <a:ln>
              <a:solidFill>
                <a:srgbClr val="4F81BD"/>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050" dirty="0">
                <a:solidFill>
                  <a:srgbClr val="1F497D"/>
                </a:solidFill>
                <a:cs typeface="Calibri"/>
              </a:endParaRPr>
            </a:p>
          </p:txBody>
        </p:sp>
      </p:grpSp>
    </p:spTree>
    <p:extLst>
      <p:ext uri="{BB962C8B-B14F-4D97-AF65-F5344CB8AC3E}">
        <p14:creationId xmlns:p14="http://schemas.microsoft.com/office/powerpoint/2010/main" val="15229976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5" grpId="0" animBg="1"/>
      <p:bldP spid="47" grpId="0" animBg="1"/>
      <p:bldP spid="48" grpId="0" animBg="1"/>
      <p:bldP spid="49" grpId="0" animBg="1"/>
      <p:bldP spid="50" grpId="0" animBg="1"/>
      <p:bldP spid="57" grpId="0" animBg="1"/>
      <p:bldP spid="58" grpId="0" animBg="1"/>
      <p:bldP spid="62" grpId="0" animBg="1"/>
      <p:bldP spid="6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6F4F-2171-0A43-A845-F2CE80F78858}"/>
              </a:ext>
            </a:extLst>
          </p:cNvPr>
          <p:cNvSpPr>
            <a:spLocks noGrp="1"/>
          </p:cNvSpPr>
          <p:nvPr>
            <p:ph type="title"/>
          </p:nvPr>
        </p:nvSpPr>
        <p:spPr/>
        <p:txBody>
          <a:bodyPr/>
          <a:lstStyle/>
          <a:p>
            <a:r>
              <a:rPr lang="en-US" dirty="0"/>
              <a:t>Education and Practice</a:t>
            </a:r>
          </a:p>
        </p:txBody>
      </p:sp>
      <p:sp>
        <p:nvSpPr>
          <p:cNvPr id="4" name="Content Placeholder 3">
            <a:extLst>
              <a:ext uri="{FF2B5EF4-FFF2-40B4-BE49-F238E27FC236}">
                <a16:creationId xmlns:a16="http://schemas.microsoft.com/office/drawing/2014/main" id="{74E4413E-FF03-4349-849B-A17B4CCA227F}"/>
              </a:ext>
            </a:extLst>
          </p:cNvPr>
          <p:cNvSpPr>
            <a:spLocks noGrp="1"/>
          </p:cNvSpPr>
          <p:nvPr>
            <p:ph idx="1"/>
          </p:nvPr>
        </p:nvSpPr>
        <p:spPr/>
        <p:txBody>
          <a:bodyPr/>
          <a:lstStyle/>
          <a:p>
            <a:r>
              <a:rPr lang="en-GB" dirty="0"/>
              <a:t>Job design</a:t>
            </a:r>
          </a:p>
          <a:p>
            <a:r>
              <a:rPr lang="en-GB" dirty="0"/>
              <a:t>Training</a:t>
            </a:r>
          </a:p>
          <a:p>
            <a:r>
              <a:rPr lang="en-GB" dirty="0"/>
              <a:t>Measurement</a:t>
            </a:r>
          </a:p>
          <a:p>
            <a:r>
              <a:rPr lang="en-GB" dirty="0"/>
              <a:t>Rewards and</a:t>
            </a:r>
            <a:br>
              <a:rPr lang="en-GB" dirty="0"/>
            </a:br>
            <a:r>
              <a:rPr lang="en-GB" dirty="0"/>
              <a:t>advancement</a:t>
            </a:r>
            <a:br>
              <a:rPr lang="en-GB" dirty="0"/>
            </a:br>
            <a:endParaRPr lang="en-US" dirty="0"/>
          </a:p>
        </p:txBody>
      </p:sp>
      <p:sp>
        <p:nvSpPr>
          <p:cNvPr id="3" name="Slide Number Placeholder 2">
            <a:extLst>
              <a:ext uri="{FF2B5EF4-FFF2-40B4-BE49-F238E27FC236}">
                <a16:creationId xmlns:a16="http://schemas.microsoft.com/office/drawing/2014/main" id="{59DF15C1-59BB-464B-BDAD-57EE54D4B18A}"/>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24</a:t>
            </a:fld>
            <a:endParaRPr lang="en-US" sz="1000"/>
          </a:p>
        </p:txBody>
      </p:sp>
      <p:pic>
        <p:nvPicPr>
          <p:cNvPr id="6" name="Picture 5">
            <a:extLst>
              <a:ext uri="{FF2B5EF4-FFF2-40B4-BE49-F238E27FC236}">
                <a16:creationId xmlns:a16="http://schemas.microsoft.com/office/drawing/2014/main" id="{AEB97CFB-F2E5-AD4C-8761-4B108B679F5B}"/>
              </a:ext>
            </a:extLst>
          </p:cNvPr>
          <p:cNvPicPr>
            <a:picLocks noChangeAspect="1"/>
          </p:cNvPicPr>
          <p:nvPr/>
        </p:nvPicPr>
        <p:blipFill>
          <a:blip r:embed="rId2"/>
          <a:stretch>
            <a:fillRect/>
          </a:stretch>
        </p:blipFill>
        <p:spPr>
          <a:xfrm>
            <a:off x="2408349" y="902750"/>
            <a:ext cx="6254750" cy="3729247"/>
          </a:xfrm>
          <a:prstGeom prst="rect">
            <a:avLst/>
          </a:prstGeom>
        </p:spPr>
      </p:pic>
    </p:spTree>
    <p:extLst>
      <p:ext uri="{BB962C8B-B14F-4D97-AF65-F5344CB8AC3E}">
        <p14:creationId xmlns:p14="http://schemas.microsoft.com/office/powerpoint/2010/main" val="21561341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Governance Definitions</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25</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20724732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2"/>
          <p:cNvSpPr>
            <a:spLocks noGrp="1"/>
          </p:cNvSpPr>
          <p:nvPr>
            <p:ph type="title"/>
          </p:nvPr>
        </p:nvSpPr>
        <p:spPr/>
        <p:txBody>
          <a:bodyPr/>
          <a:lstStyle/>
          <a:p>
            <a:r>
              <a:rPr lang="en-US" dirty="0">
                <a:latin typeface="Arial" charset="0"/>
                <a:ea typeface="MS PGothic" charset="0"/>
              </a:rPr>
              <a:t>Governance Policies</a:t>
            </a:r>
          </a:p>
        </p:txBody>
      </p:sp>
      <p:sp>
        <p:nvSpPr>
          <p:cNvPr id="4" name="Content Placeholder 3"/>
          <p:cNvSpPr>
            <a:spLocks noGrp="1"/>
          </p:cNvSpPr>
          <p:nvPr>
            <p:ph idx="1"/>
          </p:nvPr>
        </p:nvSpPr>
        <p:spPr>
          <a:xfrm>
            <a:off x="579120" y="1097757"/>
            <a:ext cx="7250430" cy="3645694"/>
          </a:xfrm>
        </p:spPr>
        <p:txBody>
          <a:bodyPr>
            <a:normAutofit fontScale="85000" lnSpcReduction="20000"/>
          </a:bodyPr>
          <a:lstStyle/>
          <a:p>
            <a:pPr marL="0" indent="0">
              <a:buNone/>
              <a:defRPr/>
            </a:pPr>
            <a:r>
              <a:rPr lang="en-GB" dirty="0"/>
              <a:t>The governance policies are divided into three main groups:</a:t>
            </a:r>
          </a:p>
          <a:p>
            <a:pPr>
              <a:defRPr/>
            </a:pPr>
            <a:r>
              <a:rPr lang="en-GB" b="1" dirty="0"/>
              <a:t>Principles</a:t>
            </a:r>
            <a:r>
              <a:rPr lang="en-GB" dirty="0"/>
              <a:t>: Information governance principles define the high-level goals and approaches of the information governance program.  They are defined by the program leaders and provide the terms of reference for all decisions made as part of the information governance program.</a:t>
            </a:r>
          </a:p>
          <a:p>
            <a:pPr>
              <a:defRPr/>
            </a:pPr>
            <a:r>
              <a:rPr lang="en-GB" b="1" dirty="0"/>
              <a:t>Obligations</a:t>
            </a:r>
            <a:r>
              <a:rPr lang="en-GB" dirty="0"/>
              <a:t>: Obligations define policies that have been delegated from other governance focus areas and domains.   The information governance program supports not just the implementation of obligations, but also provides the mechanisms for measuring compliance, reporting exceptions and supporting auditing in the terms of the delegated policies.</a:t>
            </a:r>
          </a:p>
          <a:p>
            <a:pPr>
              <a:defRPr/>
            </a:pPr>
            <a:r>
              <a:rPr lang="en-GB" b="1" dirty="0"/>
              <a:t>Approaches</a:t>
            </a:r>
            <a:r>
              <a:rPr lang="en-GB" dirty="0"/>
              <a:t>: Approaches describe the standards that have been adopted by the information governance program to increase consistency and remove unnecessary mapping between different implementations.</a:t>
            </a:r>
          </a:p>
          <a:p>
            <a:pPr marL="0" indent="0">
              <a:buNone/>
              <a:defRPr/>
            </a:pPr>
            <a:r>
              <a:rPr lang="en-GB" dirty="0"/>
              <a:t>They may be implemented within the governance program or delegated to another program (</a:t>
            </a:r>
            <a:r>
              <a:rPr lang="en-GB" dirty="0" err="1"/>
              <a:t>eg</a:t>
            </a:r>
            <a:r>
              <a:rPr lang="en-GB" dirty="0"/>
              <a:t> security)</a:t>
            </a:r>
          </a:p>
        </p:txBody>
      </p:sp>
    </p:spTree>
    <p:extLst>
      <p:ext uri="{BB962C8B-B14F-4D97-AF65-F5344CB8AC3E}">
        <p14:creationId xmlns:p14="http://schemas.microsoft.com/office/powerpoint/2010/main" val="30977446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normAutofit fontScale="90000"/>
          </a:bodyPr>
          <a:lstStyle/>
          <a:p>
            <a:r>
              <a:rPr lang="en-US" dirty="0">
                <a:latin typeface="Arial" charset="0"/>
                <a:ea typeface="MS PGothic" charset="0"/>
              </a:rPr>
              <a:t>Establishing Governance Principles</a:t>
            </a:r>
            <a:br>
              <a:rPr lang="en-US" dirty="0">
                <a:latin typeface="Arial" charset="0"/>
                <a:ea typeface="MS PGothic" charset="0"/>
              </a:rPr>
            </a:br>
            <a:r>
              <a:rPr lang="en-US" sz="1050" i="1" dirty="0">
                <a:solidFill>
                  <a:schemeClr val="tx2"/>
                </a:solidFill>
                <a:latin typeface="Arial" charset="0"/>
                <a:ea typeface="MS PGothic" charset="0"/>
              </a:rPr>
              <a:t>As the CDO, Jules first establishes the top-level governance policies.  These are called the governance principles since they underpin all other governance decisions.</a:t>
            </a:r>
            <a:br>
              <a:rPr lang="en-US" sz="1050" i="1" dirty="0">
                <a:solidFill>
                  <a:schemeClr val="tx2"/>
                </a:solidFill>
                <a:latin typeface="Arial" charset="0"/>
                <a:ea typeface="MS PGothic" charset="0"/>
              </a:rPr>
            </a:br>
            <a:endParaRPr lang="en-US" sz="1050" i="1" dirty="0">
              <a:solidFill>
                <a:schemeClr val="tx2"/>
              </a:solidFill>
              <a:latin typeface="Arial" charset="0"/>
              <a:ea typeface="MS PGothic" charset="0"/>
            </a:endParaRPr>
          </a:p>
        </p:txBody>
      </p:sp>
      <p:sp>
        <p:nvSpPr>
          <p:cNvPr id="3" name="Content Placeholder 2"/>
          <p:cNvSpPr>
            <a:spLocks noGrp="1"/>
          </p:cNvSpPr>
          <p:nvPr>
            <p:ph sz="half" idx="4294967295"/>
          </p:nvPr>
        </p:nvSpPr>
        <p:spPr>
          <a:xfrm>
            <a:off x="359199" y="1083945"/>
            <a:ext cx="4253441" cy="3551237"/>
          </a:xfrm>
        </p:spPr>
        <p:txBody>
          <a:bodyPr/>
          <a:lstStyle/>
          <a:p>
            <a:pPr>
              <a:spcAft>
                <a:spcPts val="400"/>
              </a:spcAft>
              <a:defRPr/>
            </a:pPr>
            <a:r>
              <a:rPr lang="en-US" sz="1350" dirty="0">
                <a:solidFill>
                  <a:schemeClr val="accent4"/>
                </a:solidFill>
              </a:rPr>
              <a:t>The principles are defined as follows:</a:t>
            </a:r>
          </a:p>
          <a:p>
            <a:pPr marL="514350" lvl="1" indent="-257175">
              <a:spcAft>
                <a:spcPts val="400"/>
              </a:spcAft>
              <a:buClr>
                <a:srgbClr val="000000"/>
              </a:buClr>
              <a:buFont typeface="Arial" panose="020B0604020202020204" pitchFamily="34" charset="0"/>
              <a:buChar char="•"/>
              <a:defRPr/>
            </a:pPr>
            <a:r>
              <a:rPr lang="en-US" sz="1050" dirty="0">
                <a:solidFill>
                  <a:schemeClr val="accent4"/>
                </a:solidFill>
              </a:rPr>
              <a:t>Information is a company asset.  It will be managed according to the prescribed governance policies.</a:t>
            </a:r>
          </a:p>
          <a:p>
            <a:pPr marL="514350" lvl="1" indent="-257175">
              <a:spcAft>
                <a:spcPts val="400"/>
              </a:spcAft>
              <a:buClr>
                <a:srgbClr val="000000"/>
              </a:buClr>
              <a:buFont typeface="Arial" panose="020B0604020202020204" pitchFamily="34" charset="0"/>
              <a:buChar char="•"/>
              <a:defRPr/>
            </a:pPr>
            <a:r>
              <a:rPr lang="en-US" sz="1050" dirty="0">
                <a:solidFill>
                  <a:schemeClr val="accent4"/>
                </a:solidFill>
              </a:rPr>
              <a:t>Information is identified and classified. All information stored by the company will be identified and classified according to its sensitivity and content.  This classification will determine how the information will be governed.</a:t>
            </a:r>
          </a:p>
          <a:p>
            <a:pPr marL="514350" lvl="1" indent="-257175">
              <a:spcAft>
                <a:spcPts val="400"/>
              </a:spcAft>
              <a:buClr>
                <a:srgbClr val="000000"/>
              </a:buClr>
              <a:buFont typeface="Arial" panose="020B0604020202020204" pitchFamily="34" charset="0"/>
              <a:buChar char="•"/>
              <a:defRPr/>
            </a:pPr>
            <a:r>
              <a:rPr lang="en-US" sz="1050" dirty="0">
                <a:solidFill>
                  <a:schemeClr val="accent4"/>
                </a:solidFill>
              </a:rPr>
              <a:t>Information is a sharable resource and should be made available for all legitimate needs of the company.</a:t>
            </a:r>
          </a:p>
          <a:p>
            <a:pPr marL="514350" lvl="1" indent="-257175">
              <a:spcAft>
                <a:spcPts val="400"/>
              </a:spcAft>
              <a:buClr>
                <a:srgbClr val="000000"/>
              </a:buClr>
              <a:buFont typeface="Arial" panose="020B0604020202020204" pitchFamily="34" charset="0"/>
              <a:buChar char="•"/>
              <a:defRPr/>
            </a:pPr>
            <a:r>
              <a:rPr lang="en-US" sz="1050" dirty="0">
                <a:solidFill>
                  <a:schemeClr val="accent4"/>
                </a:solidFill>
              </a:rPr>
              <a:t>Information is owned.  There is an individual responsible for the appropriate management and governance of each information collection.</a:t>
            </a:r>
          </a:p>
          <a:p>
            <a:pPr marL="514350" lvl="1" indent="-257175">
              <a:spcAft>
                <a:spcPts val="400"/>
              </a:spcAft>
              <a:buClr>
                <a:srgbClr val="000000"/>
              </a:buClr>
              <a:buFont typeface="Arial" panose="020B0604020202020204" pitchFamily="34" charset="0"/>
              <a:buChar char="•"/>
              <a:defRPr/>
            </a:pPr>
            <a:r>
              <a:rPr lang="en-US" sz="1050" dirty="0">
                <a:solidFill>
                  <a:schemeClr val="accent4"/>
                </a:solidFill>
              </a:rPr>
              <a:t>Information consumers are identified. An individual will be identified and be accountable for each access and change they make to information.</a:t>
            </a:r>
          </a:p>
        </p:txBody>
      </p:sp>
      <p:sp>
        <p:nvSpPr>
          <p:cNvPr id="32771" name="Content Placeholder 3"/>
          <p:cNvSpPr>
            <a:spLocks noGrp="1"/>
          </p:cNvSpPr>
          <p:nvPr>
            <p:ph sz="half" idx="4294967295"/>
          </p:nvPr>
        </p:nvSpPr>
        <p:spPr>
          <a:xfrm>
            <a:off x="4653280" y="953135"/>
            <a:ext cx="4179019" cy="3597275"/>
          </a:xfrm>
        </p:spPr>
        <p:txBody>
          <a:bodyPr/>
          <a:lstStyle/>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consumers are responsible. Individuals are responsible for safeguarding the information that they own, access and use.</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Decision makers are responsible for ensuring they are using information of appropriate integrity for their work.</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is kept as long as it is needed.  Information that is no longer needed will be disposed of appropriately.</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is protected. Information is secured from unauthorized access and use.</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quality is everyone’s responsibility.  Information is validated and where necessary it is corrected and made complete.</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is managed in a cost effective manner.   This is achieved through a well-defined information architecture that follows standards and best practices.</a:t>
            </a:r>
          </a:p>
          <a:p>
            <a:pPr marL="428625" lvl="1" indent="-171450">
              <a:spcAft>
                <a:spcPts val="400"/>
              </a:spcAft>
              <a:buClr>
                <a:srgbClr val="000000"/>
              </a:buClr>
              <a:buFont typeface="Arial" panose="020B0604020202020204" pitchFamily="34" charset="0"/>
              <a:buChar char="•"/>
            </a:pPr>
            <a:r>
              <a:rPr lang="en-US" sz="1050" dirty="0">
                <a:solidFill>
                  <a:schemeClr val="accent4"/>
                </a:solidFill>
                <a:latin typeface="Calibri" charset="0"/>
                <a:ea typeface="MS PGothic" charset="0"/>
              </a:rPr>
              <a:t>Information and analytics will be only be used for approved, ethical purposes.</a:t>
            </a:r>
          </a:p>
        </p:txBody>
      </p:sp>
    </p:spTree>
    <p:extLst>
      <p:ext uri="{BB962C8B-B14F-4D97-AF65-F5344CB8AC3E}">
        <p14:creationId xmlns:p14="http://schemas.microsoft.com/office/powerpoint/2010/main" val="3449180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p:txBody>
          <a:bodyPr/>
          <a:lstStyle/>
          <a:p>
            <a:r>
              <a:rPr lang="en-US">
                <a:latin typeface="Arial" charset="0"/>
                <a:ea typeface="MS PGothic" charset="0"/>
              </a:rPr>
              <a:t>Approaches</a:t>
            </a:r>
          </a:p>
        </p:txBody>
      </p:sp>
      <p:sp>
        <p:nvSpPr>
          <p:cNvPr id="33794" name="Content Placeholder 2"/>
          <p:cNvSpPr>
            <a:spLocks noGrp="1"/>
          </p:cNvSpPr>
          <p:nvPr>
            <p:ph idx="1"/>
          </p:nvPr>
        </p:nvSpPr>
        <p:spPr/>
        <p:txBody>
          <a:bodyPr/>
          <a:lstStyle/>
          <a:p>
            <a:r>
              <a:rPr lang="en-GB" dirty="0">
                <a:latin typeface="Calibri" charset="0"/>
                <a:ea typeface="MS PGothic" charset="0"/>
              </a:rPr>
              <a:t>The information governance approaches define the approved standards, best practices and architecture that under-pins the information governance program.  </a:t>
            </a:r>
          </a:p>
          <a:p>
            <a:pPr lvl="1"/>
            <a:r>
              <a:rPr lang="en-US" b="1" dirty="0">
                <a:latin typeface="Calibri" charset="0"/>
                <a:ea typeface="MS PGothic" charset="0"/>
              </a:rPr>
              <a:t>Standards for data structures and definitions</a:t>
            </a:r>
            <a:endParaRPr lang="en-GB" b="1" dirty="0">
              <a:latin typeface="Calibri" charset="0"/>
              <a:ea typeface="MS PGothic" charset="0"/>
            </a:endParaRPr>
          </a:p>
          <a:p>
            <a:pPr lvl="1"/>
            <a:r>
              <a:rPr lang="en-US" b="1" dirty="0">
                <a:latin typeface="Calibri" charset="0"/>
                <a:ea typeface="MS PGothic" charset="0"/>
              </a:rPr>
              <a:t>Standards for reference data</a:t>
            </a:r>
            <a:endParaRPr lang="en-GB" b="1" dirty="0">
              <a:latin typeface="Calibri" charset="0"/>
              <a:ea typeface="MS PGothic" charset="0"/>
            </a:endParaRPr>
          </a:p>
          <a:p>
            <a:pPr lvl="1"/>
            <a:r>
              <a:rPr lang="en-US" b="1" dirty="0">
                <a:latin typeface="Calibri" charset="0"/>
                <a:ea typeface="MS PGothic" charset="0"/>
              </a:rPr>
              <a:t>Standards for authoritative sources</a:t>
            </a:r>
            <a:endParaRPr lang="en-GB" b="1" dirty="0">
              <a:latin typeface="Calibri" charset="0"/>
              <a:ea typeface="MS PGothic" charset="0"/>
            </a:endParaRPr>
          </a:p>
          <a:p>
            <a:pPr lvl="1"/>
            <a:r>
              <a:rPr lang="en-US" b="1" dirty="0">
                <a:latin typeface="Calibri" charset="0"/>
                <a:ea typeface="MS PGothic" charset="0"/>
              </a:rPr>
              <a:t>Standards for protection of information</a:t>
            </a:r>
            <a:endParaRPr lang="en-GB" b="1" dirty="0">
              <a:latin typeface="Calibri" charset="0"/>
              <a:ea typeface="MS PGothic" charset="0"/>
            </a:endParaRPr>
          </a:p>
          <a:p>
            <a:pPr lvl="1"/>
            <a:r>
              <a:rPr lang="en-US" b="1" dirty="0">
                <a:latin typeface="Calibri" charset="0"/>
                <a:ea typeface="MS PGothic" charset="0"/>
              </a:rPr>
              <a:t>Standards for retention and disposal of information</a:t>
            </a:r>
            <a:endParaRPr lang="en-GB" b="1" dirty="0">
              <a:latin typeface="Calibri" charset="0"/>
              <a:ea typeface="MS PGothic" charset="0"/>
            </a:endParaRPr>
          </a:p>
          <a:p>
            <a:pPr lvl="1"/>
            <a:r>
              <a:rPr lang="en-US" b="1" dirty="0">
                <a:latin typeface="Calibri" charset="0"/>
                <a:ea typeface="MS PGothic" charset="0"/>
              </a:rPr>
              <a:t>Standards for managing information quality</a:t>
            </a:r>
            <a:endParaRPr lang="en-GB" b="1" dirty="0">
              <a:latin typeface="Calibri" charset="0"/>
              <a:ea typeface="MS PGothic" charset="0"/>
            </a:endParaRPr>
          </a:p>
          <a:p>
            <a:endParaRPr lang="en-US" dirty="0">
              <a:latin typeface="Calibri" charset="0"/>
              <a:ea typeface="MS PGothic" charset="0"/>
            </a:endParaRPr>
          </a:p>
        </p:txBody>
      </p:sp>
    </p:spTree>
    <p:extLst>
      <p:ext uri="{BB962C8B-B14F-4D97-AF65-F5344CB8AC3E}">
        <p14:creationId xmlns:p14="http://schemas.microsoft.com/office/powerpoint/2010/main" val="3359748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p:txBody>
          <a:bodyPr/>
          <a:lstStyle/>
          <a:p>
            <a:r>
              <a:rPr lang="en-US" dirty="0">
                <a:latin typeface="Arial" charset="0"/>
                <a:ea typeface="MS PGothic" charset="0"/>
                <a:cs typeface="MS PGothic" charset="0"/>
              </a:rPr>
              <a:t>Organizations expect information governance will deliver …</a:t>
            </a:r>
          </a:p>
        </p:txBody>
      </p:sp>
      <p:sp>
        <p:nvSpPr>
          <p:cNvPr id="34818" name="Content Placeholder 2"/>
          <p:cNvSpPr>
            <a:spLocks noGrp="1"/>
          </p:cNvSpPr>
          <p:nvPr>
            <p:ph idx="1"/>
          </p:nvPr>
        </p:nvSpPr>
        <p:spPr/>
        <p:txBody>
          <a:bodyPr/>
          <a:lstStyle/>
          <a:p>
            <a:r>
              <a:rPr lang="en-GB" dirty="0">
                <a:latin typeface="Calibri" charset="0"/>
                <a:ea typeface="MS PGothic" charset="0"/>
              </a:rPr>
              <a:t>Understanding of the information they have, </a:t>
            </a:r>
          </a:p>
          <a:p>
            <a:r>
              <a:rPr lang="en-GB" dirty="0">
                <a:latin typeface="Calibri" charset="0"/>
                <a:ea typeface="MS PGothic" charset="0"/>
              </a:rPr>
              <a:t>Confidence to share and reuse information, </a:t>
            </a:r>
          </a:p>
          <a:p>
            <a:r>
              <a:rPr lang="en-GB" dirty="0">
                <a:latin typeface="Calibri" charset="0"/>
                <a:ea typeface="MS PGothic" charset="0"/>
              </a:rPr>
              <a:t>Protection from unauthorised use of information,</a:t>
            </a:r>
          </a:p>
          <a:p>
            <a:r>
              <a:rPr lang="en-GB" dirty="0">
                <a:latin typeface="Calibri" charset="0"/>
                <a:ea typeface="MS PGothic" charset="0"/>
              </a:rPr>
              <a:t>Monitoring of activity around the information,</a:t>
            </a:r>
          </a:p>
          <a:p>
            <a:r>
              <a:rPr lang="en-GB" dirty="0">
                <a:latin typeface="Calibri" charset="0"/>
                <a:ea typeface="MS PGothic" charset="0"/>
              </a:rPr>
              <a:t>Implementation of key business processes that manage information,</a:t>
            </a:r>
          </a:p>
          <a:p>
            <a:r>
              <a:rPr lang="en-GB" dirty="0">
                <a:latin typeface="Calibri" charset="0"/>
                <a:ea typeface="MS PGothic" charset="0"/>
              </a:rPr>
              <a:t>Tracking the provenance of information and</a:t>
            </a:r>
          </a:p>
          <a:p>
            <a:r>
              <a:rPr lang="en-GB" dirty="0">
                <a:latin typeface="Calibri" charset="0"/>
                <a:ea typeface="MS PGothic" charset="0"/>
              </a:rPr>
              <a:t>Management of the growth and distribution of their information.</a:t>
            </a:r>
          </a:p>
        </p:txBody>
      </p:sp>
    </p:spTree>
    <p:extLst>
      <p:ext uri="{BB962C8B-B14F-4D97-AF65-F5344CB8AC3E}">
        <p14:creationId xmlns:p14="http://schemas.microsoft.com/office/powerpoint/2010/main" val="717238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p:cNvSpPr/>
          <p:nvPr/>
        </p:nvSpPr>
        <p:spPr>
          <a:xfrm>
            <a:off x="2555082" y="1926432"/>
            <a:ext cx="97631" cy="22145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48" name="Rectangle 47"/>
          <p:cNvSpPr/>
          <p:nvPr/>
        </p:nvSpPr>
        <p:spPr>
          <a:xfrm>
            <a:off x="2488407" y="2369344"/>
            <a:ext cx="97631" cy="22145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35843" name="Title 1"/>
          <p:cNvSpPr>
            <a:spLocks noGrp="1"/>
          </p:cNvSpPr>
          <p:nvPr>
            <p:ph type="title"/>
          </p:nvPr>
        </p:nvSpPr>
        <p:spPr/>
        <p:txBody>
          <a:bodyPr>
            <a:normAutofit/>
          </a:bodyPr>
          <a:lstStyle/>
          <a:p>
            <a:r>
              <a:rPr lang="en-US" dirty="0">
                <a:latin typeface="Arial" charset="0"/>
                <a:ea typeface="MS PGothic" charset="0"/>
              </a:rPr>
              <a:t>Policy support inside the Governance Catalogue</a:t>
            </a:r>
          </a:p>
        </p:txBody>
      </p:sp>
      <p:grpSp>
        <p:nvGrpSpPr>
          <p:cNvPr id="35844" name="Group 46"/>
          <p:cNvGrpSpPr>
            <a:grpSpLocks/>
          </p:cNvGrpSpPr>
          <p:nvPr/>
        </p:nvGrpSpPr>
        <p:grpSpPr bwMode="auto">
          <a:xfrm>
            <a:off x="1543050" y="1353741"/>
            <a:ext cx="1132285" cy="1710928"/>
            <a:chOff x="1086052" y="2416890"/>
            <a:chExt cx="1509428" cy="2282166"/>
          </a:xfrm>
        </p:grpSpPr>
        <p:sp>
          <p:nvSpPr>
            <p:cNvPr id="3" name="Rectangle 2"/>
            <p:cNvSpPr/>
            <p:nvPr/>
          </p:nvSpPr>
          <p:spPr>
            <a:xfrm>
              <a:off x="1086052" y="2416890"/>
              <a:ext cx="1509428" cy="2282166"/>
            </a:xfrm>
            <a:prstGeom prst="rect">
              <a:avLst/>
            </a:prstGeom>
            <a:solidFill>
              <a:schemeClr val="tx1"/>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defTabSz="342883">
                <a:defRPr/>
              </a:pPr>
              <a:r>
                <a:rPr lang="en-US" sz="1350" dirty="0">
                  <a:solidFill>
                    <a:schemeClr val="bg1"/>
                  </a:solidFill>
                  <a:latin typeface="Calibri"/>
                  <a:cs typeface="Calibri"/>
                </a:rPr>
                <a:t>Principle</a:t>
              </a:r>
            </a:p>
          </p:txBody>
        </p:sp>
        <p:sp>
          <p:nvSpPr>
            <p:cNvPr id="4" name="Rectangle 3"/>
            <p:cNvSpPr/>
            <p:nvPr/>
          </p:nvSpPr>
          <p:spPr>
            <a:xfrm>
              <a:off x="1178110" y="2802809"/>
              <a:ext cx="1325313" cy="82901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Policy</a:t>
              </a:r>
            </a:p>
          </p:txBody>
        </p:sp>
        <p:sp>
          <p:nvSpPr>
            <p:cNvPr id="5" name="Rectangle 4"/>
            <p:cNvSpPr/>
            <p:nvPr/>
          </p:nvSpPr>
          <p:spPr>
            <a:xfrm>
              <a:off x="1178110" y="3741404"/>
              <a:ext cx="1325313" cy="82901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Implications</a:t>
              </a:r>
            </a:p>
          </p:txBody>
        </p:sp>
      </p:grpSp>
      <p:sp>
        <p:nvSpPr>
          <p:cNvPr id="6" name="Rectangle 5"/>
          <p:cNvSpPr/>
          <p:nvPr/>
        </p:nvSpPr>
        <p:spPr>
          <a:xfrm>
            <a:off x="4988719" y="1425178"/>
            <a:ext cx="1077516" cy="414338"/>
          </a:xfrm>
          <a:prstGeom prst="rect">
            <a:avLst/>
          </a:prstGeom>
          <a:solidFill>
            <a:srgbClr val="F2DCDB"/>
          </a:solidFill>
          <a:ln>
            <a:solidFill>
              <a:srgbClr val="953735"/>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Classification</a:t>
            </a:r>
          </a:p>
        </p:txBody>
      </p:sp>
      <p:sp>
        <p:nvSpPr>
          <p:cNvPr id="7" name="Multidocument 6"/>
          <p:cNvSpPr/>
          <p:nvPr/>
        </p:nvSpPr>
        <p:spPr>
          <a:xfrm>
            <a:off x="6941344" y="2231232"/>
            <a:ext cx="690563" cy="497681"/>
          </a:xfrm>
          <a:prstGeom prst="flowChartMultidocument">
            <a:avLst/>
          </a:prstGeom>
          <a:solidFill>
            <a:schemeClr val="accent5">
              <a:lumMod val="20000"/>
              <a:lumOff val="80000"/>
            </a:schemeClr>
          </a:solidFill>
          <a:ln w="38100" cmpd="sng">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
        <p:nvSpPr>
          <p:cNvPr id="8" name="Rectangle 7"/>
          <p:cNvSpPr/>
          <p:nvPr/>
        </p:nvSpPr>
        <p:spPr>
          <a:xfrm>
            <a:off x="4988719" y="2272903"/>
            <a:ext cx="1077516" cy="414338"/>
          </a:xfrm>
          <a:prstGeom prst="rect">
            <a:avLst/>
          </a:prstGeom>
          <a:solidFill>
            <a:schemeClr val="accent2">
              <a:lumMod val="20000"/>
              <a:lumOff val="80000"/>
            </a:schemeClr>
          </a:solidFill>
          <a:ln w="38100" cmpd="sng">
            <a:solidFill>
              <a:schemeClr val="accent2">
                <a:lumMod val="75000"/>
              </a:schemeClr>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Classification</a:t>
            </a:r>
          </a:p>
        </p:txBody>
      </p:sp>
      <p:sp>
        <p:nvSpPr>
          <p:cNvPr id="16" name="Rectangle 15"/>
          <p:cNvSpPr/>
          <p:nvPr/>
        </p:nvSpPr>
        <p:spPr>
          <a:xfrm>
            <a:off x="3252788" y="2212181"/>
            <a:ext cx="1076325" cy="538163"/>
          </a:xfrm>
          <a:prstGeom prst="rect">
            <a:avLst/>
          </a:prstGeom>
          <a:solidFill>
            <a:srgbClr val="FFFFFF"/>
          </a:solidFill>
          <a:ln w="38100" cmpd="sng">
            <a:solidFill>
              <a:schemeClr val="accent3"/>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Governance Rule</a:t>
            </a:r>
          </a:p>
        </p:txBody>
      </p:sp>
      <p:cxnSp>
        <p:nvCxnSpPr>
          <p:cNvPr id="18" name="Elbow Connector 17"/>
          <p:cNvCxnSpPr>
            <a:stCxn id="53" idx="3"/>
            <a:endCxn id="56" idx="2"/>
          </p:cNvCxnSpPr>
          <p:nvPr/>
        </p:nvCxnSpPr>
        <p:spPr bwMode="auto">
          <a:xfrm>
            <a:off x="4680347" y="3880248"/>
            <a:ext cx="2237184" cy="1190"/>
          </a:xfrm>
          <a:prstGeom prst="bentConnector3">
            <a:avLst>
              <a:gd name="adj1" fmla="val 50000"/>
            </a:avLst>
          </a:prstGeom>
          <a:solidFill>
            <a:srgbClr val="CC99FF"/>
          </a:solidFill>
          <a:ln w="38100" cap="flat" cmpd="sng" algn="ctr">
            <a:solidFill>
              <a:schemeClr val="accent3"/>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8" name="Straight Connector 27"/>
          <p:cNvCxnSpPr>
            <a:stCxn id="7" idx="1"/>
            <a:endCxn id="8" idx="3"/>
          </p:cNvCxnSpPr>
          <p:nvPr/>
        </p:nvCxnSpPr>
        <p:spPr bwMode="auto">
          <a:xfrm flipH="1">
            <a:off x="6066235" y="2480072"/>
            <a:ext cx="875109" cy="0"/>
          </a:xfrm>
          <a:prstGeom prst="line">
            <a:avLst/>
          </a:prstGeom>
          <a:solidFill>
            <a:srgbClr val="CC99FF"/>
          </a:solidFill>
          <a:ln w="38100" cap="flat" cmpd="sng" algn="ctr">
            <a:solidFill>
              <a:schemeClr val="accent5">
                <a:lumMod val="75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5851" name="TextBox 30"/>
          <p:cNvSpPr txBox="1">
            <a:spLocks noChangeArrowheads="1"/>
          </p:cNvSpPr>
          <p:nvPr/>
        </p:nvSpPr>
        <p:spPr bwMode="auto">
          <a:xfrm>
            <a:off x="6128148" y="2212181"/>
            <a:ext cx="813356" cy="230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Classified by</a:t>
            </a:r>
          </a:p>
        </p:txBody>
      </p:sp>
      <p:sp>
        <p:nvSpPr>
          <p:cNvPr id="35852" name="TextBox 31"/>
          <p:cNvSpPr txBox="1">
            <a:spLocks noChangeArrowheads="1"/>
          </p:cNvSpPr>
          <p:nvPr/>
        </p:nvSpPr>
        <p:spPr bwMode="auto">
          <a:xfrm>
            <a:off x="5068491" y="3880248"/>
            <a:ext cx="1178719" cy="5539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Deployed to, Executed by,</a:t>
            </a:r>
          </a:p>
          <a:p>
            <a:pPr eaLnBrk="1" hangingPunct="1"/>
            <a:r>
              <a:rPr lang="en-US" sz="1050">
                <a:latin typeface="Calibri" charset="0"/>
              </a:rPr>
              <a:t>Monitored by</a:t>
            </a:r>
          </a:p>
        </p:txBody>
      </p:sp>
      <p:sp>
        <p:nvSpPr>
          <p:cNvPr id="35853" name="TextBox 35"/>
          <p:cNvSpPr txBox="1">
            <a:spLocks noChangeArrowheads="1"/>
          </p:cNvSpPr>
          <p:nvPr/>
        </p:nvSpPr>
        <p:spPr bwMode="auto">
          <a:xfrm>
            <a:off x="2759869" y="1832372"/>
            <a:ext cx="790914" cy="230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Actioned by</a:t>
            </a:r>
          </a:p>
        </p:txBody>
      </p:sp>
      <p:sp>
        <p:nvSpPr>
          <p:cNvPr id="35854" name="TextBox 36"/>
          <p:cNvSpPr txBox="1">
            <a:spLocks noChangeArrowheads="1"/>
          </p:cNvSpPr>
          <p:nvPr/>
        </p:nvSpPr>
        <p:spPr bwMode="auto">
          <a:xfrm>
            <a:off x="6899673" y="1751410"/>
            <a:ext cx="763663" cy="392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dirty="0">
                <a:latin typeface="Calibri" charset="0"/>
              </a:rPr>
              <a:t>Metadata</a:t>
            </a:r>
          </a:p>
          <a:p>
            <a:pPr eaLnBrk="1" hangingPunct="1"/>
            <a:r>
              <a:rPr lang="en-US" sz="1050" dirty="0">
                <a:latin typeface="Calibri" charset="0"/>
              </a:rPr>
              <a:t>Description</a:t>
            </a:r>
          </a:p>
        </p:txBody>
      </p:sp>
      <p:grpSp>
        <p:nvGrpSpPr>
          <p:cNvPr id="35855" name="Group 41"/>
          <p:cNvGrpSpPr>
            <a:grpSpLocks/>
          </p:cNvGrpSpPr>
          <p:nvPr/>
        </p:nvGrpSpPr>
        <p:grpSpPr bwMode="auto">
          <a:xfrm>
            <a:off x="5504260" y="1924051"/>
            <a:ext cx="40481" cy="269081"/>
            <a:chOff x="1496158" y="5539773"/>
            <a:chExt cx="55223" cy="360023"/>
          </a:xfrm>
        </p:grpSpPr>
        <p:sp>
          <p:nvSpPr>
            <p:cNvPr id="39" name="Oval 38"/>
            <p:cNvSpPr/>
            <p:nvPr/>
          </p:nvSpPr>
          <p:spPr>
            <a:xfrm>
              <a:off x="1496158" y="5539773"/>
              <a:ext cx="55223" cy="55756"/>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40" name="Oval 39"/>
            <p:cNvSpPr/>
            <p:nvPr/>
          </p:nvSpPr>
          <p:spPr>
            <a:xfrm>
              <a:off x="1496158" y="5692703"/>
              <a:ext cx="55223" cy="54163"/>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sp>
          <p:nvSpPr>
            <p:cNvPr id="41" name="Oval 40"/>
            <p:cNvSpPr/>
            <p:nvPr/>
          </p:nvSpPr>
          <p:spPr>
            <a:xfrm>
              <a:off x="1496158" y="5844041"/>
              <a:ext cx="55223" cy="55755"/>
            </a:xfrm>
            <a:prstGeom prst="ellipse">
              <a:avLst/>
            </a:prstGeom>
            <a:solidFill>
              <a:srgbClr val="000000"/>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US" sz="1350" dirty="0">
                <a:solidFill>
                  <a:srgbClr val="1F497D"/>
                </a:solidFill>
                <a:latin typeface="Calibri"/>
                <a:cs typeface="Calibri"/>
              </a:endParaRPr>
            </a:p>
          </p:txBody>
        </p:sp>
      </p:grpSp>
      <p:sp>
        <p:nvSpPr>
          <p:cNvPr id="51" name="Rectangle 50"/>
          <p:cNvSpPr/>
          <p:nvPr/>
        </p:nvSpPr>
        <p:spPr>
          <a:xfrm>
            <a:off x="2856310" y="3382566"/>
            <a:ext cx="1595438" cy="538163"/>
          </a:xfrm>
          <a:prstGeom prst="rect">
            <a:avLst/>
          </a:prstGeom>
          <a:solidFill>
            <a:schemeClr val="accent3">
              <a:lumMod val="20000"/>
              <a:lumOff val="80000"/>
            </a:schemeClr>
          </a:solidFill>
          <a:ln w="38100" cmpd="sng">
            <a:solidFill>
              <a:schemeClr val="accent3"/>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Governance Rule Implementations</a:t>
            </a:r>
          </a:p>
        </p:txBody>
      </p:sp>
      <p:sp>
        <p:nvSpPr>
          <p:cNvPr id="52" name="Rectangle 51"/>
          <p:cNvSpPr/>
          <p:nvPr/>
        </p:nvSpPr>
        <p:spPr>
          <a:xfrm>
            <a:off x="2970610" y="3496866"/>
            <a:ext cx="1595438" cy="538163"/>
          </a:xfrm>
          <a:prstGeom prst="rect">
            <a:avLst/>
          </a:prstGeom>
          <a:solidFill>
            <a:schemeClr val="accent3">
              <a:lumMod val="20000"/>
              <a:lumOff val="80000"/>
            </a:schemeClr>
          </a:solidFill>
          <a:ln w="38100" cmpd="sng">
            <a:solidFill>
              <a:schemeClr val="accent3"/>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Governance Rule Implementations</a:t>
            </a:r>
          </a:p>
        </p:txBody>
      </p:sp>
      <p:sp>
        <p:nvSpPr>
          <p:cNvPr id="53" name="Rectangle 52"/>
          <p:cNvSpPr/>
          <p:nvPr/>
        </p:nvSpPr>
        <p:spPr>
          <a:xfrm>
            <a:off x="3084910" y="3611166"/>
            <a:ext cx="1595438" cy="538163"/>
          </a:xfrm>
          <a:prstGeom prst="rect">
            <a:avLst/>
          </a:prstGeom>
          <a:solidFill>
            <a:schemeClr val="accent3">
              <a:lumMod val="20000"/>
              <a:lumOff val="80000"/>
            </a:schemeClr>
          </a:solidFill>
          <a:ln w="38100" cmpd="sng">
            <a:solidFill>
              <a:schemeClr val="accent3"/>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GB" sz="1350" dirty="0">
                <a:solidFill>
                  <a:srgbClr val="1F497D"/>
                </a:solidFill>
                <a:latin typeface="Calibri"/>
                <a:cs typeface="Calibri"/>
              </a:rPr>
              <a:t>Rule Implementation</a:t>
            </a:r>
            <a:endParaRPr lang="en-US" sz="1350" dirty="0">
              <a:solidFill>
                <a:srgbClr val="1F497D"/>
              </a:solidFill>
              <a:latin typeface="Calibri"/>
              <a:cs typeface="Calibri"/>
            </a:endParaRPr>
          </a:p>
        </p:txBody>
      </p:sp>
      <p:cxnSp>
        <p:nvCxnSpPr>
          <p:cNvPr id="54" name="Elbow Connector 53"/>
          <p:cNvCxnSpPr>
            <a:stCxn id="16" idx="2"/>
            <a:endCxn id="51" idx="0"/>
          </p:cNvCxnSpPr>
          <p:nvPr/>
        </p:nvCxnSpPr>
        <p:spPr bwMode="auto">
          <a:xfrm rot="5400000">
            <a:off x="3406378" y="2997994"/>
            <a:ext cx="632222" cy="136922"/>
          </a:xfrm>
          <a:prstGeom prst="bentConnector3">
            <a:avLst>
              <a:gd name="adj1" fmla="val 50000"/>
            </a:avLst>
          </a:prstGeom>
          <a:solidFill>
            <a:srgbClr val="CC99FF"/>
          </a:solidFill>
          <a:ln w="38100" cap="flat" cmpd="sng" algn="ctr">
            <a:solidFill>
              <a:schemeClr val="accent3"/>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58" name="Elbow Connector 57"/>
          <p:cNvCxnSpPr>
            <a:stCxn id="16" idx="2"/>
            <a:endCxn id="52" idx="0"/>
          </p:cNvCxnSpPr>
          <p:nvPr/>
        </p:nvCxnSpPr>
        <p:spPr bwMode="auto">
          <a:xfrm rot="5400000">
            <a:off x="3406378" y="3112294"/>
            <a:ext cx="746522" cy="22622"/>
          </a:xfrm>
          <a:prstGeom prst="bentConnector3">
            <a:avLst>
              <a:gd name="adj1" fmla="val 50000"/>
            </a:avLst>
          </a:prstGeom>
          <a:solidFill>
            <a:srgbClr val="CC99FF"/>
          </a:solidFill>
          <a:ln w="38100" cap="flat" cmpd="sng" algn="ctr">
            <a:solidFill>
              <a:schemeClr val="accent3"/>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1" name="Elbow Connector 60"/>
          <p:cNvCxnSpPr>
            <a:stCxn id="16" idx="2"/>
            <a:endCxn id="53" idx="0"/>
          </p:cNvCxnSpPr>
          <p:nvPr/>
        </p:nvCxnSpPr>
        <p:spPr bwMode="auto">
          <a:xfrm rot="16200000" flipH="1">
            <a:off x="3406378" y="3134916"/>
            <a:ext cx="860822" cy="91679"/>
          </a:xfrm>
          <a:prstGeom prst="bentConnector3">
            <a:avLst>
              <a:gd name="adj1" fmla="val 50000"/>
            </a:avLst>
          </a:prstGeom>
          <a:solidFill>
            <a:srgbClr val="CC99FF"/>
          </a:solidFill>
          <a:ln w="38100" cap="flat" cmpd="sng" algn="ctr">
            <a:solidFill>
              <a:schemeClr val="accent3"/>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35862" name="Group 66"/>
          <p:cNvGrpSpPr>
            <a:grpSpLocks/>
          </p:cNvGrpSpPr>
          <p:nvPr/>
        </p:nvGrpSpPr>
        <p:grpSpPr bwMode="auto">
          <a:xfrm>
            <a:off x="1491854" y="1606154"/>
            <a:ext cx="1132284" cy="1710928"/>
            <a:chOff x="1086052" y="2416890"/>
            <a:chExt cx="1509428" cy="2282166"/>
          </a:xfrm>
        </p:grpSpPr>
        <p:sp>
          <p:nvSpPr>
            <p:cNvPr id="68" name="Rectangle 67"/>
            <p:cNvSpPr/>
            <p:nvPr/>
          </p:nvSpPr>
          <p:spPr>
            <a:xfrm>
              <a:off x="1086052" y="2416890"/>
              <a:ext cx="1509428" cy="2282166"/>
            </a:xfrm>
            <a:prstGeom prst="rect">
              <a:avLst/>
            </a:prstGeom>
            <a:solidFill>
              <a:schemeClr val="tx1"/>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defTabSz="342883">
                <a:defRPr/>
              </a:pPr>
              <a:r>
                <a:rPr lang="en-US" sz="1350" dirty="0">
                  <a:solidFill>
                    <a:schemeClr val="bg1"/>
                  </a:solidFill>
                  <a:latin typeface="Calibri"/>
                  <a:cs typeface="Calibri"/>
                </a:rPr>
                <a:t>Principle</a:t>
              </a:r>
            </a:p>
          </p:txBody>
        </p:sp>
        <p:sp>
          <p:nvSpPr>
            <p:cNvPr id="69" name="Rectangle 68"/>
            <p:cNvSpPr/>
            <p:nvPr/>
          </p:nvSpPr>
          <p:spPr>
            <a:xfrm>
              <a:off x="1178110" y="2802809"/>
              <a:ext cx="1325313" cy="82901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Policy</a:t>
              </a:r>
            </a:p>
          </p:txBody>
        </p:sp>
        <p:sp>
          <p:nvSpPr>
            <p:cNvPr id="70" name="Rectangle 69"/>
            <p:cNvSpPr/>
            <p:nvPr/>
          </p:nvSpPr>
          <p:spPr>
            <a:xfrm>
              <a:off x="1178110" y="3741404"/>
              <a:ext cx="1325313" cy="82901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Implications</a:t>
              </a:r>
            </a:p>
          </p:txBody>
        </p:sp>
      </p:grpSp>
      <p:grpSp>
        <p:nvGrpSpPr>
          <p:cNvPr id="35863" name="Group 70"/>
          <p:cNvGrpSpPr>
            <a:grpSpLocks/>
          </p:cNvGrpSpPr>
          <p:nvPr/>
        </p:nvGrpSpPr>
        <p:grpSpPr bwMode="auto">
          <a:xfrm>
            <a:off x="1454944" y="1899048"/>
            <a:ext cx="1131094" cy="1712119"/>
            <a:chOff x="1086052" y="2416890"/>
            <a:chExt cx="1509428" cy="2282166"/>
          </a:xfrm>
        </p:grpSpPr>
        <p:sp>
          <p:nvSpPr>
            <p:cNvPr id="72" name="Rectangle 71"/>
            <p:cNvSpPr/>
            <p:nvPr/>
          </p:nvSpPr>
          <p:spPr>
            <a:xfrm>
              <a:off x="1086052" y="2416890"/>
              <a:ext cx="1509428" cy="2282166"/>
            </a:xfrm>
            <a:prstGeom prst="rect">
              <a:avLst/>
            </a:prstGeom>
            <a:solidFill>
              <a:schemeClr val="tx1"/>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defTabSz="342883">
                <a:defRPr/>
              </a:pPr>
              <a:r>
                <a:rPr lang="en-US" sz="1350" dirty="0">
                  <a:solidFill>
                    <a:schemeClr val="bg1"/>
                  </a:solidFill>
                  <a:latin typeface="Calibri"/>
                  <a:cs typeface="Calibri"/>
                </a:rPr>
                <a:t>Principle</a:t>
              </a:r>
            </a:p>
          </p:txBody>
        </p:sp>
        <p:sp>
          <p:nvSpPr>
            <p:cNvPr id="73" name="Rectangle 72"/>
            <p:cNvSpPr/>
            <p:nvPr/>
          </p:nvSpPr>
          <p:spPr>
            <a:xfrm>
              <a:off x="1178207" y="2804128"/>
              <a:ext cx="1325119" cy="826848"/>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r>
                <a:rPr lang="en-US" sz="1350" dirty="0">
                  <a:solidFill>
                    <a:srgbClr val="1F497D"/>
                  </a:solidFill>
                  <a:latin typeface="Calibri"/>
                  <a:cs typeface="Calibri"/>
                </a:rPr>
                <a:t>Definition</a:t>
              </a:r>
            </a:p>
          </p:txBody>
        </p:sp>
        <p:sp>
          <p:nvSpPr>
            <p:cNvPr id="74" name="Rectangle 73"/>
            <p:cNvSpPr/>
            <p:nvPr/>
          </p:nvSpPr>
          <p:spPr>
            <a:xfrm>
              <a:off x="1178207" y="3742069"/>
              <a:ext cx="1325119" cy="82843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defTabSz="342883">
                <a:defRPr/>
              </a:pPr>
              <a:r>
                <a:rPr lang="en-US" sz="1350" dirty="0">
                  <a:solidFill>
                    <a:srgbClr val="1F497D"/>
                  </a:solidFill>
                  <a:latin typeface="Calibri"/>
                  <a:cs typeface="Calibri"/>
                </a:rPr>
                <a:t>Implications</a:t>
              </a:r>
            </a:p>
          </p:txBody>
        </p:sp>
      </p:grpSp>
      <p:cxnSp>
        <p:nvCxnSpPr>
          <p:cNvPr id="43" name="Elbow Connector 42"/>
          <p:cNvCxnSpPr>
            <a:stCxn id="75" idx="3"/>
            <a:endCxn id="16" idx="1"/>
          </p:cNvCxnSpPr>
          <p:nvPr/>
        </p:nvCxnSpPr>
        <p:spPr bwMode="auto">
          <a:xfrm>
            <a:off x="2652713" y="2037160"/>
            <a:ext cx="600075" cy="444103"/>
          </a:xfrm>
          <a:prstGeom prst="straightConnector1">
            <a:avLst/>
          </a:prstGeom>
          <a:solidFill>
            <a:srgbClr val="CC99FF"/>
          </a:solidFill>
          <a:ln w="38100"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46" name="Elbow Connector 42"/>
          <p:cNvCxnSpPr>
            <a:stCxn id="48" idx="3"/>
            <a:endCxn id="16" idx="1"/>
          </p:cNvCxnSpPr>
          <p:nvPr/>
        </p:nvCxnSpPr>
        <p:spPr bwMode="auto">
          <a:xfrm>
            <a:off x="2586038" y="2480073"/>
            <a:ext cx="666750" cy="1190"/>
          </a:xfrm>
          <a:prstGeom prst="straightConnector1">
            <a:avLst/>
          </a:prstGeom>
          <a:solidFill>
            <a:srgbClr val="CC99FF"/>
          </a:solidFill>
          <a:ln w="38100"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5866" name="TextBox 48"/>
          <p:cNvSpPr txBox="1">
            <a:spLocks noChangeArrowheads="1"/>
          </p:cNvSpPr>
          <p:nvPr/>
        </p:nvSpPr>
        <p:spPr bwMode="auto">
          <a:xfrm>
            <a:off x="4329112" y="2184797"/>
            <a:ext cx="592142" cy="230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Governs</a:t>
            </a:r>
          </a:p>
        </p:txBody>
      </p:sp>
      <p:sp>
        <p:nvSpPr>
          <p:cNvPr id="56" name="Can 55"/>
          <p:cNvSpPr/>
          <p:nvPr/>
        </p:nvSpPr>
        <p:spPr>
          <a:xfrm>
            <a:off x="6917531" y="3664744"/>
            <a:ext cx="676275" cy="433388"/>
          </a:xfrm>
          <a:prstGeom prst="can">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825" dirty="0">
                <a:solidFill>
                  <a:srgbClr val="FFFFFF"/>
                </a:solidFill>
                <a:latin typeface="Calibri"/>
                <a:cs typeface="Calibri"/>
              </a:rPr>
              <a:t>Information Resource</a:t>
            </a:r>
          </a:p>
        </p:txBody>
      </p:sp>
      <p:cxnSp>
        <p:nvCxnSpPr>
          <p:cNvPr id="77" name="Elbow Connector 76"/>
          <p:cNvCxnSpPr>
            <a:stCxn id="16" idx="3"/>
            <a:endCxn id="8" idx="1"/>
          </p:cNvCxnSpPr>
          <p:nvPr/>
        </p:nvCxnSpPr>
        <p:spPr bwMode="auto">
          <a:xfrm flipV="1">
            <a:off x="4329113" y="2480073"/>
            <a:ext cx="659606" cy="1190"/>
          </a:xfrm>
          <a:prstGeom prst="bentConnector3">
            <a:avLst>
              <a:gd name="adj1" fmla="val 50000"/>
            </a:avLst>
          </a:prstGeom>
          <a:solidFill>
            <a:srgbClr val="CC99FF"/>
          </a:solidFill>
          <a:ln w="38100" cap="flat" cmpd="sng" algn="ctr">
            <a:solidFill>
              <a:schemeClr val="accent3"/>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8" name="Straight Connector 77"/>
          <p:cNvCxnSpPr>
            <a:stCxn id="7" idx="2"/>
            <a:endCxn id="56" idx="1"/>
          </p:cNvCxnSpPr>
          <p:nvPr/>
        </p:nvCxnSpPr>
        <p:spPr bwMode="auto">
          <a:xfrm>
            <a:off x="7239000" y="2709863"/>
            <a:ext cx="16669" cy="954881"/>
          </a:xfrm>
          <a:prstGeom prst="line">
            <a:avLst/>
          </a:prstGeom>
          <a:solidFill>
            <a:srgbClr val="CC99FF"/>
          </a:solidFill>
          <a:ln w="38100" cap="flat" cmpd="sng" algn="ctr">
            <a:solidFill>
              <a:schemeClr val="accent5">
                <a:lumMod val="75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5870" name="TextBox 78"/>
          <p:cNvSpPr txBox="1">
            <a:spLocks noChangeArrowheads="1"/>
          </p:cNvSpPr>
          <p:nvPr/>
        </p:nvSpPr>
        <p:spPr bwMode="auto">
          <a:xfrm>
            <a:off x="6467476" y="3064669"/>
            <a:ext cx="667482" cy="230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Describes</a:t>
            </a:r>
          </a:p>
        </p:txBody>
      </p:sp>
      <p:sp>
        <p:nvSpPr>
          <p:cNvPr id="35871" name="TextBox 31"/>
          <p:cNvSpPr txBox="1">
            <a:spLocks noChangeArrowheads="1"/>
          </p:cNvSpPr>
          <p:nvPr/>
        </p:nvSpPr>
        <p:spPr bwMode="auto">
          <a:xfrm>
            <a:off x="3936207" y="3103960"/>
            <a:ext cx="1037777" cy="2308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6" tIns="34289" rIns="68576" bIns="34289">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Calibri" charset="0"/>
              </a:rPr>
              <a:t>Implemented by</a:t>
            </a:r>
          </a:p>
        </p:txBody>
      </p:sp>
    </p:spTree>
    <p:extLst>
      <p:ext uri="{BB962C8B-B14F-4D97-AF65-F5344CB8AC3E}">
        <p14:creationId xmlns:p14="http://schemas.microsoft.com/office/powerpoint/2010/main" val="8695508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r>
              <a:rPr lang="en-US">
                <a:latin typeface="Arial" charset="0"/>
                <a:ea typeface="MS PGothic" charset="0"/>
              </a:rPr>
              <a:t>Classification Schemes</a:t>
            </a:r>
          </a:p>
        </p:txBody>
      </p:sp>
      <p:sp>
        <p:nvSpPr>
          <p:cNvPr id="3" name="Content Placeholder 2"/>
          <p:cNvSpPr>
            <a:spLocks noGrp="1"/>
          </p:cNvSpPr>
          <p:nvPr>
            <p:ph idx="1"/>
          </p:nvPr>
        </p:nvSpPr>
        <p:spPr>
          <a:xfrm>
            <a:off x="1257300" y="965598"/>
            <a:ext cx="6572250" cy="3777853"/>
          </a:xfrm>
        </p:spPr>
        <p:txBody>
          <a:bodyPr>
            <a:normAutofit fontScale="62500" lnSpcReduction="20000"/>
          </a:bodyPr>
          <a:lstStyle/>
          <a:p>
            <a:pPr>
              <a:defRPr/>
            </a:pPr>
            <a:r>
              <a:rPr lang="en-GB" dirty="0"/>
              <a:t>Classification is at the heart of information governance.  It characterizes the type, value and cost of information, or the mechanism that manage it.  The design of the classification schemes is key to controlling the cost and effectiveness of the information governance program.</a:t>
            </a:r>
          </a:p>
          <a:p>
            <a:pPr lvl="1">
              <a:defRPr/>
            </a:pPr>
            <a:r>
              <a:rPr lang="en-US" b="1" i="1" dirty="0"/>
              <a:t>Business Classifications</a:t>
            </a:r>
            <a:endParaRPr lang="en-GB" b="1" i="1" dirty="0"/>
          </a:p>
          <a:p>
            <a:pPr lvl="2">
              <a:defRPr/>
            </a:pPr>
            <a:r>
              <a:rPr lang="en-GB" dirty="0"/>
              <a:t>Business classifications characterize information from a business perspective.  This captures its value, how it is used, and the impact to the business if it is misused.</a:t>
            </a:r>
          </a:p>
          <a:p>
            <a:pPr lvl="1">
              <a:defRPr/>
            </a:pPr>
            <a:r>
              <a:rPr lang="en-GB" b="1" i="1" dirty="0"/>
              <a:t>Role Classifications</a:t>
            </a:r>
          </a:p>
          <a:p>
            <a:pPr lvl="2">
              <a:defRPr/>
            </a:pPr>
            <a:r>
              <a:rPr lang="en-GB" dirty="0"/>
              <a:t>Role classifications characterize the relationship that an individual has to a particular kind of data.</a:t>
            </a:r>
          </a:p>
          <a:p>
            <a:pPr lvl="1">
              <a:defRPr/>
            </a:pPr>
            <a:r>
              <a:rPr lang="en-US" b="1" i="1" dirty="0"/>
              <a:t>Resource Classifications</a:t>
            </a:r>
            <a:endParaRPr lang="en-GB" b="1" i="1" dirty="0"/>
          </a:p>
          <a:p>
            <a:pPr lvl="2">
              <a:defRPr/>
            </a:pPr>
            <a:r>
              <a:rPr lang="en-US" dirty="0"/>
              <a:t>Resource classifications characterize the capability of the IT infrastructure that supports the management of information.  A resource's capability is partly due to its innate functions and partly controlled by the way it has been configured</a:t>
            </a:r>
            <a:r>
              <a:rPr lang="en-GB" dirty="0"/>
              <a:t>.</a:t>
            </a:r>
          </a:p>
          <a:p>
            <a:pPr lvl="1">
              <a:defRPr/>
            </a:pPr>
            <a:r>
              <a:rPr lang="en-US" b="1" i="1" dirty="0"/>
              <a:t>Activity Classifications</a:t>
            </a:r>
            <a:endParaRPr lang="en-GB" b="1" i="1" dirty="0"/>
          </a:p>
          <a:p>
            <a:pPr lvl="2">
              <a:defRPr/>
            </a:pPr>
            <a:r>
              <a:rPr lang="en-GB" dirty="0"/>
              <a:t>Activity classifications help to characterize procedures, actions and automated processes.</a:t>
            </a:r>
          </a:p>
          <a:p>
            <a:pPr lvl="1">
              <a:defRPr/>
            </a:pPr>
            <a:r>
              <a:rPr lang="en-US" b="1" i="1" dirty="0"/>
              <a:t>Semantic </a:t>
            </a:r>
            <a:r>
              <a:rPr lang="en-GB" b="1" i="1" dirty="0"/>
              <a:t>Mapping</a:t>
            </a:r>
          </a:p>
          <a:p>
            <a:pPr lvl="2">
              <a:defRPr/>
            </a:pPr>
            <a:r>
              <a:rPr lang="en-GB" dirty="0"/>
              <a:t>Semantic mapping identifies the meaning of an information element.  The classification scheme is a glossary of concepts from relevant subject areas.  These glossaries are industry specific and they are shipped with our industry models.  The semantic classifications are defined at two levels:</a:t>
            </a:r>
          </a:p>
          <a:p>
            <a:pPr lvl="3">
              <a:defRPr/>
            </a:pPr>
            <a:r>
              <a:rPr lang="en-GB" dirty="0"/>
              <a:t>Subject area mapping </a:t>
            </a:r>
          </a:p>
          <a:p>
            <a:pPr lvl="3">
              <a:defRPr/>
            </a:pPr>
            <a:r>
              <a:rPr lang="en-GB" dirty="0"/>
              <a:t>Business term mapping</a:t>
            </a:r>
          </a:p>
          <a:p>
            <a:pPr lvl="2">
              <a:defRPr/>
            </a:pPr>
            <a:endParaRPr lang="en-GB" dirty="0"/>
          </a:p>
          <a:p>
            <a:pPr lvl="1">
              <a:defRPr/>
            </a:pPr>
            <a:endParaRPr lang="en-GB" dirty="0"/>
          </a:p>
          <a:p>
            <a:pPr>
              <a:defRPr/>
            </a:pPr>
            <a:endParaRPr lang="en-US" dirty="0"/>
          </a:p>
        </p:txBody>
      </p:sp>
    </p:spTree>
    <p:extLst>
      <p:ext uri="{BB962C8B-B14F-4D97-AF65-F5344CB8AC3E}">
        <p14:creationId xmlns:p14="http://schemas.microsoft.com/office/powerpoint/2010/main" val="4120325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r>
              <a:rPr lang="en-US">
                <a:latin typeface="Arial" charset="0"/>
                <a:ea typeface="MS PGothic" charset="0"/>
                <a:cs typeface="MS PGothic" charset="0"/>
              </a:rPr>
              <a:t>Implementing Policies – through rules and classifications</a:t>
            </a:r>
          </a:p>
        </p:txBody>
      </p:sp>
      <p:sp>
        <p:nvSpPr>
          <p:cNvPr id="39938" name="Content Placeholder 2"/>
          <p:cNvSpPr>
            <a:spLocks noGrp="1"/>
          </p:cNvSpPr>
          <p:nvPr>
            <p:ph idx="1"/>
          </p:nvPr>
        </p:nvSpPr>
        <p:spPr/>
        <p:txBody>
          <a:bodyPr/>
          <a:lstStyle/>
          <a:p>
            <a:r>
              <a:rPr lang="en-US">
                <a:latin typeface="Calibri" charset="0"/>
                <a:ea typeface="MS PGothic" charset="0"/>
              </a:rPr>
              <a:t>A policy is a description of business intent for a class of assets to adhere to a certain behaviour.</a:t>
            </a:r>
          </a:p>
          <a:p>
            <a:pPr marL="439341" lvl="1" indent="-183356"/>
            <a:r>
              <a:rPr lang="en-US" u="sng">
                <a:latin typeface="Calibri" charset="0"/>
                <a:ea typeface="MS PGothic" charset="0"/>
              </a:rPr>
              <a:t>What</a:t>
            </a:r>
            <a:r>
              <a:rPr lang="en-US">
                <a:latin typeface="Calibri" charset="0"/>
                <a:ea typeface="MS PGothic" charset="0"/>
              </a:rPr>
              <a:t> are we trying to achieve</a:t>
            </a:r>
          </a:p>
          <a:p>
            <a:pPr marL="439341" lvl="1" indent="-183356"/>
            <a:r>
              <a:rPr lang="en-US">
                <a:latin typeface="Calibri" charset="0"/>
                <a:ea typeface="MS PGothic" charset="0"/>
              </a:rPr>
              <a:t>Example - </a:t>
            </a:r>
          </a:p>
          <a:p>
            <a:r>
              <a:rPr lang="en-US">
                <a:latin typeface="Calibri" charset="0"/>
                <a:ea typeface="MS PGothic" charset="0"/>
              </a:rPr>
              <a:t>A rule defines </a:t>
            </a:r>
            <a:r>
              <a:rPr lang="en-US" u="sng">
                <a:latin typeface="Calibri" charset="0"/>
                <a:ea typeface="MS PGothic" charset="0"/>
              </a:rPr>
              <a:t>how</a:t>
            </a:r>
            <a:r>
              <a:rPr lang="en-US">
                <a:latin typeface="Calibri" charset="0"/>
                <a:ea typeface="MS PGothic" charset="0"/>
              </a:rPr>
              <a:t> data of a particular classification will be governed in a specific situation – it is the policy response.</a:t>
            </a:r>
          </a:p>
          <a:p>
            <a:pPr marL="439341" lvl="1" indent="-183356"/>
            <a:r>
              <a:rPr lang="en-US">
                <a:latin typeface="Calibri" charset="0"/>
                <a:ea typeface="MS PGothic" charset="0"/>
              </a:rPr>
              <a:t>A rule has a logical definition and one or more implementations</a:t>
            </a:r>
          </a:p>
        </p:txBody>
      </p:sp>
    </p:spTree>
    <p:extLst>
      <p:ext uri="{BB962C8B-B14F-4D97-AF65-F5344CB8AC3E}">
        <p14:creationId xmlns:p14="http://schemas.microsoft.com/office/powerpoint/2010/main" val="1554829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Rectangle 175"/>
          <p:cNvSpPr/>
          <p:nvPr/>
        </p:nvSpPr>
        <p:spPr bwMode="auto">
          <a:xfrm>
            <a:off x="2389717" y="3699055"/>
            <a:ext cx="256118" cy="16560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900" dirty="0">
              <a:solidFill>
                <a:srgbClr val="1F497D"/>
              </a:solidFill>
              <a:latin typeface="Calibri"/>
              <a:cs typeface="Calibri"/>
            </a:endParaRPr>
          </a:p>
        </p:txBody>
      </p:sp>
      <p:sp>
        <p:nvSpPr>
          <p:cNvPr id="112" name="Rectangle 111"/>
          <p:cNvSpPr/>
          <p:nvPr/>
        </p:nvSpPr>
        <p:spPr bwMode="auto">
          <a:xfrm>
            <a:off x="5625640" y="2453873"/>
            <a:ext cx="297795" cy="114477"/>
          </a:xfrm>
          <a:prstGeom prst="rect">
            <a:avLst/>
          </a:prstGeom>
          <a:solidFill>
            <a:srgbClr val="FFFFFF"/>
          </a:solidFill>
          <a:ln>
            <a:solidFill>
              <a:srgbClr val="4F6228"/>
            </a:solidFill>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900" dirty="0">
              <a:solidFill>
                <a:srgbClr val="1F497D"/>
              </a:solidFill>
              <a:latin typeface="Calibri"/>
              <a:cs typeface="Calibri"/>
            </a:endParaRPr>
          </a:p>
        </p:txBody>
      </p:sp>
      <p:sp>
        <p:nvSpPr>
          <p:cNvPr id="147" name="Rectangle 146"/>
          <p:cNvSpPr/>
          <p:nvPr/>
        </p:nvSpPr>
        <p:spPr>
          <a:xfrm>
            <a:off x="3179222" y="2899465"/>
            <a:ext cx="1148954" cy="2103926"/>
          </a:xfrm>
          <a:prstGeom prst="rect">
            <a:avLst/>
          </a:prstGeom>
          <a:solidFill>
            <a:schemeClr val="bg1">
              <a:lumMod val="5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endParaRPr lang="en-US" sz="900" dirty="0">
              <a:solidFill>
                <a:schemeClr val="bg1"/>
              </a:solidFill>
              <a:latin typeface="Calibri"/>
              <a:cs typeface="Calibri"/>
            </a:endParaRPr>
          </a:p>
        </p:txBody>
      </p:sp>
      <p:sp>
        <p:nvSpPr>
          <p:cNvPr id="149" name="Rectangle 148"/>
          <p:cNvSpPr/>
          <p:nvPr/>
        </p:nvSpPr>
        <p:spPr>
          <a:xfrm>
            <a:off x="3145357" y="2929099"/>
            <a:ext cx="1148954" cy="2103926"/>
          </a:xfrm>
          <a:prstGeom prst="rect">
            <a:avLst/>
          </a:prstGeom>
          <a:solidFill>
            <a:schemeClr val="bg1">
              <a:lumMod val="5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endParaRPr lang="en-US" sz="900" dirty="0">
              <a:solidFill>
                <a:schemeClr val="bg1"/>
              </a:solidFill>
              <a:latin typeface="Calibri"/>
              <a:cs typeface="Calibri"/>
            </a:endParaRPr>
          </a:p>
        </p:txBody>
      </p:sp>
      <p:sp>
        <p:nvSpPr>
          <p:cNvPr id="150" name="Rectangle 149"/>
          <p:cNvSpPr/>
          <p:nvPr/>
        </p:nvSpPr>
        <p:spPr>
          <a:xfrm>
            <a:off x="3111491" y="2958733"/>
            <a:ext cx="1148954" cy="2103926"/>
          </a:xfrm>
          <a:prstGeom prst="rect">
            <a:avLst/>
          </a:prstGeom>
          <a:solidFill>
            <a:schemeClr val="bg1">
              <a:lumMod val="5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endParaRPr lang="en-US" sz="900" dirty="0">
              <a:solidFill>
                <a:schemeClr val="bg1"/>
              </a:solidFill>
              <a:latin typeface="Calibri"/>
              <a:cs typeface="Calibri"/>
            </a:endParaRPr>
          </a:p>
        </p:txBody>
      </p:sp>
      <p:sp>
        <p:nvSpPr>
          <p:cNvPr id="145" name="Rectangle 144"/>
          <p:cNvSpPr/>
          <p:nvPr/>
        </p:nvSpPr>
        <p:spPr>
          <a:xfrm>
            <a:off x="3068973" y="1894048"/>
            <a:ext cx="1186314" cy="744438"/>
          </a:xfrm>
          <a:prstGeom prst="rect">
            <a:avLst/>
          </a:prstGeom>
          <a:solidFill>
            <a:schemeClr val="accent5">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t"/>
          <a:lstStyle/>
          <a:p>
            <a:pPr algn="ctr">
              <a:defRPr/>
            </a:pPr>
            <a:endParaRPr lang="en-US" sz="900" dirty="0">
              <a:solidFill>
                <a:schemeClr val="tx1"/>
              </a:solidFill>
              <a:latin typeface="Calibri"/>
              <a:cs typeface="Calibri"/>
            </a:endParaRPr>
          </a:p>
        </p:txBody>
      </p:sp>
      <p:sp>
        <p:nvSpPr>
          <p:cNvPr id="83" name="Rectangle 82"/>
          <p:cNvSpPr/>
          <p:nvPr/>
        </p:nvSpPr>
        <p:spPr bwMode="auto">
          <a:xfrm>
            <a:off x="4804833" y="3701171"/>
            <a:ext cx="1174750" cy="16349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900" dirty="0">
              <a:solidFill>
                <a:srgbClr val="1F497D"/>
              </a:solidFill>
              <a:latin typeface="Calibri"/>
              <a:cs typeface="Calibri"/>
            </a:endParaRPr>
          </a:p>
        </p:txBody>
      </p:sp>
      <p:sp>
        <p:nvSpPr>
          <p:cNvPr id="80" name="Rectangle 79"/>
          <p:cNvSpPr/>
          <p:nvPr/>
        </p:nvSpPr>
        <p:spPr bwMode="auto">
          <a:xfrm>
            <a:off x="4866669" y="2984164"/>
            <a:ext cx="297795" cy="11447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900" dirty="0">
              <a:solidFill>
                <a:srgbClr val="1F497D"/>
              </a:solidFill>
              <a:latin typeface="Calibri"/>
              <a:cs typeface="Calibri"/>
            </a:endParaRPr>
          </a:p>
        </p:txBody>
      </p:sp>
      <p:sp>
        <p:nvSpPr>
          <p:cNvPr id="146" name="Rectangle 145"/>
          <p:cNvSpPr/>
          <p:nvPr/>
        </p:nvSpPr>
        <p:spPr bwMode="auto">
          <a:xfrm>
            <a:off x="4656667" y="1377580"/>
            <a:ext cx="1428750" cy="2664115"/>
          </a:xfrm>
          <a:prstGeom prst="rect">
            <a:avLst/>
          </a:prstGeom>
          <a:solidFill>
            <a:srgbClr val="DBEEF4"/>
          </a:solidFill>
          <a:ln w="38100" cmpd="sng">
            <a:solidFill>
              <a:srgbClr val="1F497D"/>
            </a:solidFill>
          </a:ln>
        </p:spPr>
        <p:style>
          <a:lnRef idx="1">
            <a:schemeClr val="accent1"/>
          </a:lnRef>
          <a:fillRef idx="3">
            <a:schemeClr val="accent1"/>
          </a:fillRef>
          <a:effectRef idx="2">
            <a:schemeClr val="accent1"/>
          </a:effectRef>
          <a:fontRef idx="minor">
            <a:schemeClr val="lt1"/>
          </a:fontRef>
        </p:style>
        <p:txBody>
          <a:bodyPr wrap="none" anchor="t"/>
          <a:lstStyle/>
          <a:p>
            <a:pPr algn="ctr">
              <a:defRPr/>
            </a:pPr>
            <a:r>
              <a:rPr lang="en-US" sz="900" dirty="0">
                <a:solidFill>
                  <a:srgbClr val="000000"/>
                </a:solidFill>
                <a:latin typeface="Calibri"/>
                <a:cs typeface="Calibri"/>
              </a:rPr>
              <a:t>Workflow</a:t>
            </a:r>
          </a:p>
        </p:txBody>
      </p:sp>
      <p:sp>
        <p:nvSpPr>
          <p:cNvPr id="97281" name="Title 3"/>
          <p:cNvSpPr>
            <a:spLocks noGrp="1"/>
          </p:cNvSpPr>
          <p:nvPr>
            <p:ph type="title"/>
          </p:nvPr>
        </p:nvSpPr>
        <p:spPr/>
        <p:txBody>
          <a:bodyPr/>
          <a:lstStyle/>
          <a:p>
            <a:r>
              <a:rPr lang="en-US" dirty="0"/>
              <a:t>Architectural Sketch of Operational Governance Ecosystem</a:t>
            </a:r>
          </a:p>
        </p:txBody>
      </p:sp>
      <p:sp>
        <p:nvSpPr>
          <p:cNvPr id="120" name="Rectangle 119"/>
          <p:cNvSpPr/>
          <p:nvPr/>
        </p:nvSpPr>
        <p:spPr>
          <a:xfrm>
            <a:off x="6420280" y="787483"/>
            <a:ext cx="1347886" cy="544174"/>
          </a:xfrm>
          <a:prstGeom prst="rect">
            <a:avLst/>
          </a:prstGeom>
          <a:solidFill>
            <a:srgbClr val="DBEEF4"/>
          </a:solidFill>
          <a:ln w="38100" cmpd="sng">
            <a:solidFill>
              <a:srgbClr val="1F497D"/>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r>
              <a:rPr lang="en-US" sz="900" dirty="0">
                <a:solidFill>
                  <a:srgbClr val="000000"/>
                </a:solidFill>
                <a:latin typeface="Calibri"/>
                <a:cs typeface="Calibri"/>
              </a:rPr>
              <a:t>Governance Team UI</a:t>
            </a:r>
          </a:p>
        </p:txBody>
      </p:sp>
      <p:sp>
        <p:nvSpPr>
          <p:cNvPr id="7" name="Rectangle 6"/>
          <p:cNvSpPr/>
          <p:nvPr/>
        </p:nvSpPr>
        <p:spPr>
          <a:xfrm>
            <a:off x="1550194" y="1387142"/>
            <a:ext cx="1087041" cy="2924712"/>
          </a:xfrm>
          <a:prstGeom prst="rect">
            <a:avLst/>
          </a:prstGeom>
          <a:solidFill>
            <a:srgbClr val="DBEEF4"/>
          </a:solidFill>
          <a:ln w="38100" cmpd="sng">
            <a:solidFill>
              <a:srgbClr val="1F497D"/>
            </a:solidFill>
          </a:ln>
        </p:spPr>
        <p:style>
          <a:lnRef idx="1">
            <a:schemeClr val="accent1"/>
          </a:lnRef>
          <a:fillRef idx="3">
            <a:schemeClr val="accent1"/>
          </a:fillRef>
          <a:effectRef idx="2">
            <a:schemeClr val="accent1"/>
          </a:effectRef>
          <a:fontRef idx="minor">
            <a:schemeClr val="lt1"/>
          </a:fontRef>
        </p:style>
        <p:txBody>
          <a:bodyPr wrap="none" anchor="b"/>
          <a:lstStyle/>
          <a:p>
            <a:pPr>
              <a:defRPr/>
            </a:pPr>
            <a:r>
              <a:rPr lang="en-US" sz="900" dirty="0">
                <a:solidFill>
                  <a:srgbClr val="000000"/>
                </a:solidFill>
                <a:latin typeface="Calibri"/>
                <a:cs typeface="Calibri"/>
              </a:rPr>
              <a:t>Catalog</a:t>
            </a:r>
          </a:p>
        </p:txBody>
      </p:sp>
      <p:sp>
        <p:nvSpPr>
          <p:cNvPr id="5" name="Rectangle 4"/>
          <p:cNvSpPr/>
          <p:nvPr/>
        </p:nvSpPr>
        <p:spPr>
          <a:xfrm>
            <a:off x="1674614" y="1540708"/>
            <a:ext cx="838200" cy="390525"/>
          </a:xfrm>
          <a:prstGeom prst="rect">
            <a:avLst/>
          </a:prstGeom>
          <a:solidFill>
            <a:srgbClr val="93CDDD"/>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Policy</a:t>
            </a:r>
          </a:p>
        </p:txBody>
      </p:sp>
      <p:sp>
        <p:nvSpPr>
          <p:cNvPr id="6" name="Rectangle 5"/>
          <p:cNvSpPr/>
          <p:nvPr/>
        </p:nvSpPr>
        <p:spPr>
          <a:xfrm>
            <a:off x="1674614" y="2173100"/>
            <a:ext cx="838200" cy="384617"/>
          </a:xfrm>
          <a:prstGeom prst="rect">
            <a:avLst/>
          </a:prstGeom>
          <a:solidFill>
            <a:srgbClr val="93CDDD"/>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Rule</a:t>
            </a:r>
          </a:p>
          <a:p>
            <a:pPr algn="ctr">
              <a:defRPr/>
            </a:pPr>
            <a:r>
              <a:rPr lang="en-US" sz="900" dirty="0">
                <a:solidFill>
                  <a:srgbClr val="1F497D"/>
                </a:solidFill>
                <a:latin typeface="Calibri"/>
                <a:cs typeface="Calibri"/>
              </a:rPr>
              <a:t>Description</a:t>
            </a:r>
          </a:p>
        </p:txBody>
      </p:sp>
      <p:sp>
        <p:nvSpPr>
          <p:cNvPr id="8" name="Rectangle 7"/>
          <p:cNvSpPr/>
          <p:nvPr/>
        </p:nvSpPr>
        <p:spPr>
          <a:xfrm>
            <a:off x="3018173" y="1949080"/>
            <a:ext cx="1186314" cy="744438"/>
          </a:xfrm>
          <a:prstGeom prst="rect">
            <a:avLst/>
          </a:prstGeom>
          <a:solidFill>
            <a:schemeClr val="accent5">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t"/>
          <a:lstStyle/>
          <a:p>
            <a:pPr algn="ctr">
              <a:defRPr/>
            </a:pPr>
            <a:r>
              <a:rPr lang="en-US" sz="900" dirty="0">
                <a:solidFill>
                  <a:schemeClr val="tx1"/>
                </a:solidFill>
                <a:latin typeface="Calibri"/>
                <a:cs typeface="Calibri"/>
              </a:rPr>
              <a:t>Development Tool</a:t>
            </a:r>
          </a:p>
        </p:txBody>
      </p:sp>
      <p:sp>
        <p:nvSpPr>
          <p:cNvPr id="9" name="Rectangle 8"/>
          <p:cNvSpPr/>
          <p:nvPr/>
        </p:nvSpPr>
        <p:spPr>
          <a:xfrm>
            <a:off x="3106941" y="2216230"/>
            <a:ext cx="915376" cy="300053"/>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endParaRPr lang="en-US" sz="900" dirty="0">
              <a:solidFill>
                <a:srgbClr val="1F497D"/>
              </a:solidFill>
              <a:latin typeface="Calibri"/>
              <a:cs typeface="Calibri"/>
            </a:endParaRPr>
          </a:p>
        </p:txBody>
      </p:sp>
      <p:sp>
        <p:nvSpPr>
          <p:cNvPr id="11" name="Rectangle 10"/>
          <p:cNvSpPr/>
          <p:nvPr/>
        </p:nvSpPr>
        <p:spPr>
          <a:xfrm>
            <a:off x="6487584" y="2127940"/>
            <a:ext cx="1206500" cy="2509307"/>
          </a:xfrm>
          <a:prstGeom prst="rect">
            <a:avLst/>
          </a:prstGeom>
          <a:solidFill>
            <a:srgbClr val="DBEEF4"/>
          </a:solidFill>
          <a:ln w="38100" cmpd="sng">
            <a:solidFill>
              <a:srgbClr val="1F497D"/>
            </a:solidFill>
          </a:ln>
        </p:spPr>
        <p:style>
          <a:lnRef idx="1">
            <a:schemeClr val="accent1"/>
          </a:lnRef>
          <a:fillRef idx="3">
            <a:schemeClr val="accent1"/>
          </a:fillRef>
          <a:effectRef idx="2">
            <a:schemeClr val="accent1"/>
          </a:effectRef>
          <a:fontRef idx="minor">
            <a:schemeClr val="lt1"/>
          </a:fontRef>
        </p:style>
        <p:txBody>
          <a:bodyPr wrap="none" anchor="b"/>
          <a:lstStyle/>
          <a:p>
            <a:pPr algn="ctr">
              <a:defRPr/>
            </a:pPr>
            <a:r>
              <a:rPr lang="en-US" sz="900" dirty="0">
                <a:solidFill>
                  <a:srgbClr val="000000"/>
                </a:solidFill>
                <a:latin typeface="Calibri"/>
                <a:cs typeface="Calibri"/>
              </a:rPr>
              <a:t>Data Mart</a:t>
            </a:r>
          </a:p>
        </p:txBody>
      </p:sp>
      <p:sp>
        <p:nvSpPr>
          <p:cNvPr id="12" name="Rectangle 11"/>
          <p:cNvSpPr/>
          <p:nvPr/>
        </p:nvSpPr>
        <p:spPr>
          <a:xfrm>
            <a:off x="3064922" y="2996830"/>
            <a:ext cx="1148954" cy="2103926"/>
          </a:xfrm>
          <a:prstGeom prst="rect">
            <a:avLst/>
          </a:prstGeom>
          <a:solidFill>
            <a:schemeClr val="bg1">
              <a:lumMod val="5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r>
              <a:rPr lang="en-US" sz="900" dirty="0">
                <a:solidFill>
                  <a:schemeClr val="bg1"/>
                </a:solidFill>
                <a:latin typeface="Calibri"/>
                <a:cs typeface="Calibri"/>
              </a:rPr>
              <a:t>Governance-Aware</a:t>
            </a:r>
          </a:p>
          <a:p>
            <a:pPr algn="ctr">
              <a:defRPr/>
            </a:pPr>
            <a:r>
              <a:rPr lang="en-US" sz="900" dirty="0">
                <a:solidFill>
                  <a:schemeClr val="bg1"/>
                </a:solidFill>
                <a:latin typeface="Calibri"/>
                <a:cs typeface="Calibri"/>
              </a:rPr>
              <a:t>Runtime</a:t>
            </a:r>
          </a:p>
        </p:txBody>
      </p:sp>
      <p:sp>
        <p:nvSpPr>
          <p:cNvPr id="14" name="Rectangle 13"/>
          <p:cNvSpPr/>
          <p:nvPr/>
        </p:nvSpPr>
        <p:spPr>
          <a:xfrm>
            <a:off x="6610350" y="2313129"/>
            <a:ext cx="956938" cy="390525"/>
          </a:xfrm>
          <a:prstGeom prst="rect">
            <a:avLst/>
          </a:prstGeom>
          <a:solidFill>
            <a:schemeClr val="accent3">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Control Point</a:t>
            </a:r>
          </a:p>
          <a:p>
            <a:pPr algn="ctr">
              <a:defRPr/>
            </a:pPr>
            <a:r>
              <a:rPr lang="en-US" sz="900" dirty="0">
                <a:solidFill>
                  <a:srgbClr val="1F497D"/>
                </a:solidFill>
                <a:latin typeface="Calibri"/>
                <a:cs typeface="Calibri"/>
              </a:rPr>
              <a:t>Measurements</a:t>
            </a:r>
          </a:p>
        </p:txBody>
      </p:sp>
      <p:sp>
        <p:nvSpPr>
          <p:cNvPr id="16" name="Rectangle 15"/>
          <p:cNvSpPr/>
          <p:nvPr/>
        </p:nvSpPr>
        <p:spPr>
          <a:xfrm>
            <a:off x="3125644" y="3378639"/>
            <a:ext cx="1022747" cy="1015191"/>
          </a:xfrm>
          <a:prstGeom prst="rect">
            <a:avLst/>
          </a:prstGeom>
          <a:solidFill>
            <a:schemeClr val="tx1">
              <a:lumMod val="75000"/>
              <a:lumOff val="25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r>
              <a:rPr lang="en-US" sz="900" dirty="0">
                <a:solidFill>
                  <a:schemeClr val="bg1"/>
                </a:solidFill>
                <a:latin typeface="Calibri"/>
                <a:cs typeface="Calibri"/>
              </a:rPr>
              <a:t>Execution Point</a:t>
            </a:r>
          </a:p>
        </p:txBody>
      </p:sp>
      <p:cxnSp>
        <p:nvCxnSpPr>
          <p:cNvPr id="18" name="Elbow Connector 17"/>
          <p:cNvCxnSpPr>
            <a:stCxn id="70" idx="1"/>
            <a:endCxn id="72" idx="3"/>
          </p:cNvCxnSpPr>
          <p:nvPr/>
        </p:nvCxnSpPr>
        <p:spPr bwMode="auto">
          <a:xfrm rot="10800000">
            <a:off x="2506775" y="3779219"/>
            <a:ext cx="729016" cy="416174"/>
          </a:xfrm>
          <a:prstGeom prst="bentConnector3">
            <a:avLst>
              <a:gd name="adj1" fmla="val 50000"/>
            </a:avLst>
          </a:prstGeom>
          <a:solidFill>
            <a:srgbClr val="CC99FF"/>
          </a:solidFill>
          <a:ln w="19050" cap="flat" cmpd="sng" algn="ctr">
            <a:solidFill>
              <a:schemeClr val="accent5"/>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21" name="Rectangle 20"/>
          <p:cNvSpPr/>
          <p:nvPr/>
        </p:nvSpPr>
        <p:spPr>
          <a:xfrm>
            <a:off x="6617494" y="4019269"/>
            <a:ext cx="967979" cy="366755"/>
          </a:xfrm>
          <a:prstGeom prst="rect">
            <a:avLst/>
          </a:prstGeom>
          <a:solidFill>
            <a:schemeClr val="accent3">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Enforcement</a:t>
            </a:r>
          </a:p>
          <a:p>
            <a:pPr algn="ctr">
              <a:defRPr/>
            </a:pPr>
            <a:r>
              <a:rPr lang="en-US" sz="900" dirty="0">
                <a:solidFill>
                  <a:srgbClr val="1F497D"/>
                </a:solidFill>
                <a:latin typeface="Calibri"/>
                <a:cs typeface="Calibri"/>
              </a:rPr>
              <a:t>Measurements</a:t>
            </a:r>
          </a:p>
        </p:txBody>
      </p:sp>
      <p:sp>
        <p:nvSpPr>
          <p:cNvPr id="23" name="Rectangle 22"/>
          <p:cNvSpPr/>
          <p:nvPr/>
        </p:nvSpPr>
        <p:spPr>
          <a:xfrm>
            <a:off x="3278045" y="4572588"/>
            <a:ext cx="722709" cy="283369"/>
          </a:xfrm>
          <a:prstGeom prst="rect">
            <a:avLst/>
          </a:prstGeom>
          <a:solidFill>
            <a:srgbClr val="D9D9D9"/>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Resources</a:t>
            </a:r>
          </a:p>
        </p:txBody>
      </p:sp>
      <p:sp>
        <p:nvSpPr>
          <p:cNvPr id="24" name="Rectangle 23"/>
          <p:cNvSpPr/>
          <p:nvPr/>
        </p:nvSpPr>
        <p:spPr>
          <a:xfrm>
            <a:off x="3324876" y="4620610"/>
            <a:ext cx="723900" cy="282179"/>
          </a:xfrm>
          <a:prstGeom prst="rect">
            <a:avLst/>
          </a:prstGeom>
          <a:solidFill>
            <a:srgbClr val="D9D9D9"/>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Resources</a:t>
            </a:r>
          </a:p>
        </p:txBody>
      </p:sp>
      <p:sp>
        <p:nvSpPr>
          <p:cNvPr id="25" name="Rectangle 24"/>
          <p:cNvSpPr/>
          <p:nvPr/>
        </p:nvSpPr>
        <p:spPr>
          <a:xfrm>
            <a:off x="3381100" y="4679216"/>
            <a:ext cx="725091" cy="282178"/>
          </a:xfrm>
          <a:prstGeom prst="rect">
            <a:avLst/>
          </a:prstGeom>
          <a:solidFill>
            <a:srgbClr val="D9D9D9"/>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Resources</a:t>
            </a:r>
          </a:p>
        </p:txBody>
      </p:sp>
      <p:cxnSp>
        <p:nvCxnSpPr>
          <p:cNvPr id="26" name="Elbow Connector 25"/>
          <p:cNvCxnSpPr>
            <a:stCxn id="72" idx="2"/>
            <a:endCxn id="23" idx="1"/>
          </p:cNvCxnSpPr>
          <p:nvPr/>
        </p:nvCxnSpPr>
        <p:spPr bwMode="auto">
          <a:xfrm rot="16200000" flipH="1">
            <a:off x="2315984" y="3752212"/>
            <a:ext cx="739791" cy="1184330"/>
          </a:xfrm>
          <a:prstGeom prst="bentConnector2">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9" name="Elbow Connector 28"/>
          <p:cNvCxnSpPr>
            <a:stCxn id="16" idx="2"/>
            <a:endCxn id="23" idx="0"/>
          </p:cNvCxnSpPr>
          <p:nvPr/>
        </p:nvCxnSpPr>
        <p:spPr bwMode="auto">
          <a:xfrm>
            <a:off x="3637018" y="4393830"/>
            <a:ext cx="2381" cy="178758"/>
          </a:xfrm>
          <a:prstGeom prst="straightConnector1">
            <a:avLst/>
          </a:prstGeom>
          <a:solidFill>
            <a:srgbClr val="CC99FF"/>
          </a:solidFill>
          <a:ln w="19050" cap="flat" cmpd="sng" algn="ctr">
            <a:solidFill>
              <a:srgbClr val="FFFFFF"/>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7" name="Rectangle 36"/>
          <p:cNvSpPr/>
          <p:nvPr/>
        </p:nvSpPr>
        <p:spPr>
          <a:xfrm>
            <a:off x="4785514" y="1604266"/>
            <a:ext cx="1193676" cy="524732"/>
          </a:xfrm>
          <a:prstGeom prst="rect">
            <a:avLst/>
          </a:prstGeom>
          <a:solidFill>
            <a:schemeClr val="accent3">
              <a:lumMod val="20000"/>
              <a:lumOff val="80000"/>
            </a:schemeClr>
          </a:solidFill>
          <a:ln>
            <a:solidFill>
              <a:srgbClr val="4F6228"/>
            </a:solidFill>
          </a:ln>
        </p:spPr>
        <p:style>
          <a:lnRef idx="1">
            <a:schemeClr val="accent1"/>
          </a:lnRef>
          <a:fillRef idx="3">
            <a:schemeClr val="accent1"/>
          </a:fillRef>
          <a:effectRef idx="2">
            <a:schemeClr val="accent1"/>
          </a:effectRef>
          <a:fontRef idx="minor">
            <a:schemeClr val="lt1"/>
          </a:fontRef>
        </p:style>
        <p:txBody>
          <a:bodyPr wrap="none"/>
          <a:lstStyle/>
          <a:p>
            <a:pPr algn="ctr">
              <a:defRPr/>
            </a:pPr>
            <a:r>
              <a:rPr lang="en-US" sz="900" dirty="0">
                <a:solidFill>
                  <a:schemeClr val="tx2"/>
                </a:solidFill>
                <a:latin typeface="Calibri"/>
                <a:cs typeface="Calibri"/>
              </a:rPr>
              <a:t>Steward’s Tasks</a:t>
            </a:r>
          </a:p>
        </p:txBody>
      </p:sp>
      <p:sp>
        <p:nvSpPr>
          <p:cNvPr id="39" name="Rectangle 38"/>
          <p:cNvSpPr/>
          <p:nvPr/>
        </p:nvSpPr>
        <p:spPr>
          <a:xfrm>
            <a:off x="6506559" y="1027857"/>
            <a:ext cx="475060" cy="245269"/>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Report</a:t>
            </a:r>
          </a:p>
        </p:txBody>
      </p:sp>
      <p:sp>
        <p:nvSpPr>
          <p:cNvPr id="40" name="Rectangle 39"/>
          <p:cNvSpPr/>
          <p:nvPr/>
        </p:nvSpPr>
        <p:spPr>
          <a:xfrm>
            <a:off x="7037917" y="1031429"/>
            <a:ext cx="666545" cy="24466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Dashboard</a:t>
            </a:r>
          </a:p>
        </p:txBody>
      </p:sp>
      <p:cxnSp>
        <p:nvCxnSpPr>
          <p:cNvPr id="44" name="Elbow Connector 43"/>
          <p:cNvCxnSpPr>
            <a:stCxn id="120" idx="1"/>
            <a:endCxn id="7" idx="0"/>
          </p:cNvCxnSpPr>
          <p:nvPr/>
        </p:nvCxnSpPr>
        <p:spPr bwMode="auto">
          <a:xfrm rot="10800000" flipV="1">
            <a:off x="2093714" y="1059570"/>
            <a:ext cx="4326566" cy="327572"/>
          </a:xfrm>
          <a:prstGeom prst="bentConnector2">
            <a:avLst/>
          </a:prstGeom>
          <a:solidFill>
            <a:srgbClr val="CC99FF"/>
          </a:solidFill>
          <a:ln w="19050" cap="flat" cmpd="sng" algn="ctr">
            <a:solidFill>
              <a:srgbClr val="1F497D"/>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48" name="Elbow Connector 47"/>
          <p:cNvCxnSpPr>
            <a:stCxn id="120" idx="2"/>
            <a:endCxn id="11" idx="0"/>
          </p:cNvCxnSpPr>
          <p:nvPr/>
        </p:nvCxnSpPr>
        <p:spPr bwMode="auto">
          <a:xfrm flipH="1">
            <a:off x="7090834" y="1331657"/>
            <a:ext cx="3389" cy="796283"/>
          </a:xfrm>
          <a:prstGeom prst="straightConnector1">
            <a:avLst/>
          </a:prstGeom>
          <a:solidFill>
            <a:srgbClr val="CC99FF"/>
          </a:solidFill>
          <a:ln w="19050" cap="flat" cmpd="sng" algn="ctr">
            <a:solidFill>
              <a:srgbClr val="1F497D"/>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53" name="Elbow Connector 52"/>
          <p:cNvCxnSpPr>
            <a:stCxn id="5" idx="2"/>
            <a:endCxn id="6" idx="0"/>
          </p:cNvCxnSpPr>
          <p:nvPr/>
        </p:nvCxnSpPr>
        <p:spPr bwMode="auto">
          <a:xfrm>
            <a:off x="2093714" y="1931233"/>
            <a:ext cx="0" cy="241867"/>
          </a:xfrm>
          <a:prstGeom prst="straightConnector1">
            <a:avLst/>
          </a:prstGeom>
          <a:solidFill>
            <a:srgbClr val="CC99FF"/>
          </a:solidFill>
          <a:ln w="19050" cap="flat" cmpd="sng" algn="ctr">
            <a:solidFill>
              <a:srgbClr val="1F497D"/>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55" name="Elbow Connector 54"/>
          <p:cNvCxnSpPr>
            <a:stCxn id="68" idx="2"/>
            <a:endCxn id="72" idx="0"/>
          </p:cNvCxnSpPr>
          <p:nvPr/>
        </p:nvCxnSpPr>
        <p:spPr bwMode="auto">
          <a:xfrm>
            <a:off x="2093714" y="3284172"/>
            <a:ext cx="0" cy="299785"/>
          </a:xfrm>
          <a:prstGeom prst="straightConnector1">
            <a:avLst/>
          </a:prstGeom>
          <a:solidFill>
            <a:srgbClr val="CC99FF"/>
          </a:solidFill>
          <a:ln w="19050" cap="flat" cmpd="sng" algn="ctr">
            <a:solidFill>
              <a:srgbClr val="1F497D"/>
            </a:solidFill>
            <a:prstDash val="solid"/>
            <a:round/>
            <a:headEnd type="arrow"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9" name="Elbow Connector 68"/>
          <p:cNvCxnSpPr>
            <a:stCxn id="6" idx="3"/>
            <a:endCxn id="9" idx="1"/>
          </p:cNvCxnSpPr>
          <p:nvPr/>
        </p:nvCxnSpPr>
        <p:spPr bwMode="auto">
          <a:xfrm>
            <a:off x="2512814" y="2365409"/>
            <a:ext cx="594126" cy="848"/>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3" name="Rectangle 32"/>
          <p:cNvSpPr/>
          <p:nvPr/>
        </p:nvSpPr>
        <p:spPr bwMode="auto">
          <a:xfrm>
            <a:off x="4794250" y="3367956"/>
            <a:ext cx="1184498" cy="565547"/>
          </a:xfrm>
          <a:prstGeom prst="rect">
            <a:avLst/>
          </a:prstGeom>
          <a:solidFill>
            <a:schemeClr val="accent3">
              <a:lumMod val="20000"/>
              <a:lumOff val="80000"/>
            </a:schemeClr>
          </a:solidFill>
          <a:ln>
            <a:solidFill>
              <a:srgbClr val="4F6228"/>
            </a:solidFill>
          </a:ln>
        </p:spPr>
        <p:style>
          <a:lnRef idx="1">
            <a:schemeClr val="accent1"/>
          </a:lnRef>
          <a:fillRef idx="3">
            <a:schemeClr val="accent1"/>
          </a:fillRef>
          <a:effectRef idx="2">
            <a:schemeClr val="accent1"/>
          </a:effectRef>
          <a:fontRef idx="minor">
            <a:schemeClr val="lt1"/>
          </a:fontRef>
        </p:style>
        <p:txBody>
          <a:bodyPr wrap="none" anchor="t"/>
          <a:lstStyle/>
          <a:p>
            <a:pPr algn="ctr">
              <a:defRPr/>
            </a:pPr>
            <a:r>
              <a:rPr lang="en-US" sz="900" dirty="0">
                <a:solidFill>
                  <a:schemeClr val="tx2"/>
                </a:solidFill>
                <a:latin typeface="Calibri"/>
                <a:cs typeface="Calibri"/>
              </a:rPr>
              <a:t>Triage Process</a:t>
            </a:r>
          </a:p>
        </p:txBody>
      </p:sp>
      <p:sp>
        <p:nvSpPr>
          <p:cNvPr id="45" name="Rectangle 44"/>
          <p:cNvSpPr/>
          <p:nvPr/>
        </p:nvSpPr>
        <p:spPr bwMode="auto">
          <a:xfrm>
            <a:off x="4955672" y="3592101"/>
            <a:ext cx="810816" cy="217885"/>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Exception</a:t>
            </a:r>
          </a:p>
        </p:txBody>
      </p:sp>
      <p:sp>
        <p:nvSpPr>
          <p:cNvPr id="46" name="Rectangle 45"/>
          <p:cNvSpPr/>
          <p:nvPr/>
        </p:nvSpPr>
        <p:spPr bwMode="auto">
          <a:xfrm>
            <a:off x="5044970" y="3664786"/>
            <a:ext cx="810815" cy="217885"/>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Exception</a:t>
            </a:r>
          </a:p>
        </p:txBody>
      </p:sp>
      <p:sp>
        <p:nvSpPr>
          <p:cNvPr id="51" name="Rectangle 50"/>
          <p:cNvSpPr/>
          <p:nvPr/>
        </p:nvSpPr>
        <p:spPr>
          <a:xfrm>
            <a:off x="6606779" y="2785408"/>
            <a:ext cx="967978" cy="357188"/>
          </a:xfrm>
          <a:prstGeom prst="rect">
            <a:avLst/>
          </a:prstGeom>
          <a:solidFill>
            <a:schemeClr val="accent3">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Stewardship</a:t>
            </a:r>
          </a:p>
          <a:p>
            <a:pPr algn="ctr">
              <a:defRPr/>
            </a:pPr>
            <a:r>
              <a:rPr lang="en-US" sz="900" dirty="0">
                <a:solidFill>
                  <a:srgbClr val="1F497D"/>
                </a:solidFill>
                <a:latin typeface="Calibri"/>
                <a:cs typeface="Calibri"/>
              </a:rPr>
              <a:t>Measurements</a:t>
            </a:r>
          </a:p>
        </p:txBody>
      </p:sp>
      <p:cxnSp>
        <p:nvCxnSpPr>
          <p:cNvPr id="56" name="Elbow Connector 55"/>
          <p:cNvCxnSpPr>
            <a:stCxn id="112" idx="3"/>
            <a:endCxn id="51" idx="1"/>
          </p:cNvCxnSpPr>
          <p:nvPr/>
        </p:nvCxnSpPr>
        <p:spPr bwMode="auto">
          <a:xfrm>
            <a:off x="5923435" y="2511112"/>
            <a:ext cx="683344" cy="452891"/>
          </a:xfrm>
          <a:prstGeom prst="bentConnector3">
            <a:avLst>
              <a:gd name="adj1" fmla="val 50000"/>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59" name="Elbow Connector 58"/>
          <p:cNvCxnSpPr>
            <a:stCxn id="101" idx="2"/>
          </p:cNvCxnSpPr>
          <p:nvPr/>
        </p:nvCxnSpPr>
        <p:spPr bwMode="auto">
          <a:xfrm rot="5400000">
            <a:off x="3450297" y="2774456"/>
            <a:ext cx="379726" cy="1521"/>
          </a:xfrm>
          <a:prstGeom prst="bentConnector3">
            <a:avLst>
              <a:gd name="adj1" fmla="val 50000"/>
            </a:avLst>
          </a:prstGeom>
          <a:solidFill>
            <a:srgbClr val="CC99FF"/>
          </a:solidFill>
          <a:ln w="19050" cap="flat" cmpd="sng" algn="ctr">
            <a:solidFill>
              <a:schemeClr val="tx1"/>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70" name="Rectangle 69"/>
          <p:cNvSpPr/>
          <p:nvPr/>
        </p:nvSpPr>
        <p:spPr>
          <a:xfrm>
            <a:off x="3235790" y="4076331"/>
            <a:ext cx="810816" cy="23812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Enforcement</a:t>
            </a:r>
          </a:p>
        </p:txBody>
      </p:sp>
      <p:sp>
        <p:nvSpPr>
          <p:cNvPr id="15" name="Rectangle 14"/>
          <p:cNvSpPr/>
          <p:nvPr/>
        </p:nvSpPr>
        <p:spPr>
          <a:xfrm>
            <a:off x="3236981" y="3636079"/>
            <a:ext cx="810815" cy="28417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Verification</a:t>
            </a:r>
          </a:p>
        </p:txBody>
      </p:sp>
      <p:cxnSp>
        <p:nvCxnSpPr>
          <p:cNvPr id="32" name="Elbow Connector 31"/>
          <p:cNvCxnSpPr>
            <a:stCxn id="70" idx="3"/>
            <a:endCxn id="21" idx="1"/>
          </p:cNvCxnSpPr>
          <p:nvPr/>
        </p:nvCxnSpPr>
        <p:spPr bwMode="auto">
          <a:xfrm>
            <a:off x="4046606" y="4195393"/>
            <a:ext cx="2570888" cy="7254"/>
          </a:xfrm>
          <a:prstGeom prst="straightConnector1">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97" name="Elbow Connector 96"/>
          <p:cNvCxnSpPr>
            <a:stCxn id="15" idx="3"/>
            <a:endCxn id="83" idx="1"/>
          </p:cNvCxnSpPr>
          <p:nvPr/>
        </p:nvCxnSpPr>
        <p:spPr bwMode="auto">
          <a:xfrm>
            <a:off x="4047796" y="3778164"/>
            <a:ext cx="757037" cy="4754"/>
          </a:xfrm>
          <a:prstGeom prst="straightConnector1">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43" name="Rectangle 42"/>
          <p:cNvSpPr/>
          <p:nvPr/>
        </p:nvSpPr>
        <p:spPr>
          <a:xfrm>
            <a:off x="5231502" y="1822084"/>
            <a:ext cx="306631" cy="223512"/>
          </a:xfrm>
          <a:prstGeom prst="rect">
            <a:avLst/>
          </a:prstGeom>
          <a:solidFill>
            <a:srgbClr val="FFFFFF"/>
          </a:solidFill>
          <a:ln w="19050" cmpd="sng">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Task</a:t>
            </a:r>
          </a:p>
        </p:txBody>
      </p:sp>
      <p:sp>
        <p:nvSpPr>
          <p:cNvPr id="50" name="Rectangle 49"/>
          <p:cNvSpPr/>
          <p:nvPr/>
        </p:nvSpPr>
        <p:spPr bwMode="auto">
          <a:xfrm>
            <a:off x="4783575" y="2245413"/>
            <a:ext cx="1206592" cy="969822"/>
          </a:xfrm>
          <a:prstGeom prst="rect">
            <a:avLst/>
          </a:prstGeom>
          <a:solidFill>
            <a:schemeClr val="accent3">
              <a:lumMod val="20000"/>
              <a:lumOff val="80000"/>
            </a:schemeClr>
          </a:solidFill>
          <a:ln>
            <a:solidFill>
              <a:srgbClr val="4F6228"/>
            </a:solidFill>
          </a:ln>
        </p:spPr>
        <p:style>
          <a:lnRef idx="1">
            <a:schemeClr val="accent1"/>
          </a:lnRef>
          <a:fillRef idx="3">
            <a:schemeClr val="accent1"/>
          </a:fillRef>
          <a:effectRef idx="2">
            <a:schemeClr val="accent1"/>
          </a:effectRef>
          <a:fontRef idx="minor">
            <a:schemeClr val="lt1"/>
          </a:fontRef>
        </p:style>
        <p:txBody>
          <a:bodyPr wrap="none" anchor="b"/>
          <a:lstStyle/>
          <a:p>
            <a:pPr algn="ctr">
              <a:defRPr/>
            </a:pPr>
            <a:r>
              <a:rPr lang="en-US" sz="900" dirty="0">
                <a:solidFill>
                  <a:schemeClr val="tx2"/>
                </a:solidFill>
                <a:latin typeface="Calibri"/>
                <a:cs typeface="Calibri"/>
              </a:rPr>
              <a:t>Stewardship</a:t>
            </a:r>
          </a:p>
          <a:p>
            <a:pPr algn="ctr">
              <a:defRPr/>
            </a:pPr>
            <a:r>
              <a:rPr lang="en-US" sz="900" dirty="0">
                <a:solidFill>
                  <a:schemeClr val="tx2"/>
                </a:solidFill>
                <a:latin typeface="Calibri"/>
                <a:cs typeface="Calibri"/>
              </a:rPr>
              <a:t>Process</a:t>
            </a:r>
          </a:p>
        </p:txBody>
      </p:sp>
      <p:cxnSp>
        <p:nvCxnSpPr>
          <p:cNvPr id="107" name="Elbow Connector 106"/>
          <p:cNvCxnSpPr>
            <a:stCxn id="33" idx="0"/>
            <a:endCxn id="50" idx="2"/>
          </p:cNvCxnSpPr>
          <p:nvPr/>
        </p:nvCxnSpPr>
        <p:spPr bwMode="auto">
          <a:xfrm rot="5400000" flipH="1" flipV="1">
            <a:off x="5310324" y="3291411"/>
            <a:ext cx="152721" cy="371"/>
          </a:xfrm>
          <a:prstGeom prst="bentConnector3">
            <a:avLst>
              <a:gd name="adj1" fmla="val 50000"/>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11" name="Elbow Connector 110"/>
          <p:cNvCxnSpPr>
            <a:stCxn id="112" idx="3"/>
            <a:endCxn id="14" idx="1"/>
          </p:cNvCxnSpPr>
          <p:nvPr/>
        </p:nvCxnSpPr>
        <p:spPr bwMode="auto">
          <a:xfrm flipV="1">
            <a:off x="5923435" y="2508392"/>
            <a:ext cx="686915" cy="2720"/>
          </a:xfrm>
          <a:prstGeom prst="straightConnector1">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4" name="Right Arrow 113"/>
          <p:cNvSpPr/>
          <p:nvPr/>
        </p:nvSpPr>
        <p:spPr>
          <a:xfrm>
            <a:off x="1262535" y="1415414"/>
            <a:ext cx="386953" cy="192881"/>
          </a:xfrm>
          <a:prstGeom prst="right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rgbClr val="1F497D"/>
              </a:solidFill>
              <a:latin typeface="Calibri"/>
              <a:cs typeface="Calibri"/>
            </a:endParaRPr>
          </a:p>
        </p:txBody>
      </p:sp>
      <p:sp>
        <p:nvSpPr>
          <p:cNvPr id="97326" name="TextBox 114"/>
          <p:cNvSpPr txBox="1">
            <a:spLocks noChangeArrowheads="1"/>
          </p:cNvSpPr>
          <p:nvPr/>
        </p:nvSpPr>
        <p:spPr bwMode="auto">
          <a:xfrm>
            <a:off x="1143000" y="1043019"/>
            <a:ext cx="76495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900" dirty="0">
                <a:latin typeface="Calibri" charset="0"/>
              </a:rPr>
              <a:t>Policies and </a:t>
            </a:r>
          </a:p>
          <a:p>
            <a:pPr eaLnBrk="1" hangingPunct="1"/>
            <a:r>
              <a:rPr lang="en-US" sz="900" dirty="0">
                <a:latin typeface="Calibri" charset="0"/>
              </a:rPr>
              <a:t>Regulations</a:t>
            </a:r>
          </a:p>
        </p:txBody>
      </p:sp>
      <p:sp>
        <p:nvSpPr>
          <p:cNvPr id="117" name="Right Arrow 116"/>
          <p:cNvSpPr/>
          <p:nvPr/>
        </p:nvSpPr>
        <p:spPr>
          <a:xfrm>
            <a:off x="7615237" y="2113513"/>
            <a:ext cx="385763" cy="194072"/>
          </a:xfrm>
          <a:prstGeom prst="rightArrow">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200" dirty="0">
              <a:solidFill>
                <a:srgbClr val="1F497D"/>
              </a:solidFill>
              <a:latin typeface="Calibri"/>
              <a:cs typeface="Calibri"/>
            </a:endParaRPr>
          </a:p>
        </p:txBody>
      </p:sp>
      <p:sp>
        <p:nvSpPr>
          <p:cNvPr id="97328" name="TextBox 117"/>
          <p:cNvSpPr txBox="1">
            <a:spLocks noChangeArrowheads="1"/>
          </p:cNvSpPr>
          <p:nvPr/>
        </p:nvSpPr>
        <p:spPr bwMode="auto">
          <a:xfrm>
            <a:off x="7155897" y="1766592"/>
            <a:ext cx="84510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US" sz="900" dirty="0">
                <a:latin typeface="Calibri" charset="0"/>
              </a:rPr>
              <a:t>Compliance</a:t>
            </a:r>
          </a:p>
          <a:p>
            <a:pPr algn="r" eaLnBrk="1" hangingPunct="1"/>
            <a:r>
              <a:rPr lang="en-US" sz="900" dirty="0">
                <a:latin typeface="Calibri" charset="0"/>
              </a:rPr>
              <a:t>&amp; Risk reports</a:t>
            </a:r>
          </a:p>
        </p:txBody>
      </p:sp>
      <p:sp>
        <p:nvSpPr>
          <p:cNvPr id="68" name="Rectangle 67"/>
          <p:cNvSpPr/>
          <p:nvPr/>
        </p:nvSpPr>
        <p:spPr>
          <a:xfrm>
            <a:off x="1674614" y="2892456"/>
            <a:ext cx="838200" cy="391716"/>
          </a:xfrm>
          <a:prstGeom prst="rect">
            <a:avLst/>
          </a:prstGeom>
          <a:solidFill>
            <a:srgbClr val="93CDDD"/>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Classification</a:t>
            </a:r>
          </a:p>
        </p:txBody>
      </p:sp>
      <p:sp>
        <p:nvSpPr>
          <p:cNvPr id="101" name="Rectangle 100"/>
          <p:cNvSpPr/>
          <p:nvPr/>
        </p:nvSpPr>
        <p:spPr>
          <a:xfrm>
            <a:off x="3183232" y="2285302"/>
            <a:ext cx="915376" cy="300053"/>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Action</a:t>
            </a:r>
          </a:p>
          <a:p>
            <a:pPr algn="ctr">
              <a:defRPr/>
            </a:pPr>
            <a:r>
              <a:rPr lang="en-US" sz="900" dirty="0">
                <a:solidFill>
                  <a:srgbClr val="1F497D"/>
                </a:solidFill>
                <a:latin typeface="Calibri"/>
                <a:cs typeface="Calibri"/>
              </a:rPr>
              <a:t>Implementation</a:t>
            </a:r>
          </a:p>
        </p:txBody>
      </p:sp>
      <p:cxnSp>
        <p:nvCxnSpPr>
          <p:cNvPr id="104" name="Elbow Connector 103"/>
          <p:cNvCxnSpPr>
            <a:stCxn id="6" idx="2"/>
            <a:endCxn id="68" idx="0"/>
          </p:cNvCxnSpPr>
          <p:nvPr/>
        </p:nvCxnSpPr>
        <p:spPr bwMode="auto">
          <a:xfrm>
            <a:off x="2093714" y="2557717"/>
            <a:ext cx="0" cy="334739"/>
          </a:xfrm>
          <a:prstGeom prst="straightConnector1">
            <a:avLst/>
          </a:prstGeom>
          <a:solidFill>
            <a:srgbClr val="CC99FF"/>
          </a:solidFill>
          <a:ln w="19050" cap="flat" cmpd="sng" algn="ctr">
            <a:solidFill>
              <a:srgbClr val="1F497D"/>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1" name="Rectangle 90"/>
          <p:cNvSpPr/>
          <p:nvPr/>
        </p:nvSpPr>
        <p:spPr>
          <a:xfrm>
            <a:off x="6614169" y="3599569"/>
            <a:ext cx="967978" cy="357188"/>
          </a:xfrm>
          <a:prstGeom prst="rect">
            <a:avLst/>
          </a:prstGeom>
          <a:solidFill>
            <a:schemeClr val="accent3">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Exception</a:t>
            </a:r>
          </a:p>
          <a:p>
            <a:pPr algn="ctr">
              <a:defRPr/>
            </a:pPr>
            <a:r>
              <a:rPr lang="en-US" sz="900" dirty="0">
                <a:solidFill>
                  <a:srgbClr val="1F497D"/>
                </a:solidFill>
                <a:latin typeface="Calibri"/>
                <a:cs typeface="Calibri"/>
              </a:rPr>
              <a:t>Measurements</a:t>
            </a:r>
          </a:p>
        </p:txBody>
      </p:sp>
      <p:cxnSp>
        <p:nvCxnSpPr>
          <p:cNvPr id="92" name="Elbow Connector 91"/>
          <p:cNvCxnSpPr>
            <a:stCxn id="83" idx="3"/>
            <a:endCxn id="91" idx="1"/>
          </p:cNvCxnSpPr>
          <p:nvPr/>
        </p:nvCxnSpPr>
        <p:spPr bwMode="auto">
          <a:xfrm flipV="1">
            <a:off x="5979583" y="3778164"/>
            <a:ext cx="634586" cy="4754"/>
          </a:xfrm>
          <a:prstGeom prst="straightConnector1">
            <a:avLst/>
          </a:prstGeom>
          <a:solidFill>
            <a:srgbClr val="CC99FF"/>
          </a:solidFill>
          <a:ln w="19050" cap="flat" cmpd="sng" algn="ctr">
            <a:solidFill>
              <a:schemeClr val="accent3">
                <a:lumMod val="50000"/>
              </a:schemeClr>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67" name="Rectangle 166"/>
          <p:cNvSpPr/>
          <p:nvPr/>
        </p:nvSpPr>
        <p:spPr>
          <a:xfrm>
            <a:off x="5579007" y="1824340"/>
            <a:ext cx="306631" cy="223512"/>
          </a:xfrm>
          <a:prstGeom prst="rect">
            <a:avLst/>
          </a:prstGeom>
          <a:solidFill>
            <a:srgbClr val="FFFFFF"/>
          </a:solidFill>
          <a:ln>
            <a:solidFill>
              <a:schemeClr val="accent4">
                <a:lumMod val="40000"/>
                <a:lumOff val="60000"/>
              </a:schemeClr>
            </a:solidFill>
            <a:prstDash val="sysDash"/>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7F7F7F"/>
                </a:solidFill>
                <a:latin typeface="Calibri"/>
                <a:cs typeface="Calibri"/>
              </a:rPr>
              <a:t>Task</a:t>
            </a:r>
          </a:p>
        </p:txBody>
      </p:sp>
      <p:sp>
        <p:nvSpPr>
          <p:cNvPr id="169" name="Rectangle 168"/>
          <p:cNvSpPr/>
          <p:nvPr/>
        </p:nvSpPr>
        <p:spPr>
          <a:xfrm>
            <a:off x="4878869" y="1824340"/>
            <a:ext cx="306631" cy="223512"/>
          </a:xfrm>
          <a:prstGeom prst="rect">
            <a:avLst/>
          </a:prstGeom>
          <a:solidFill>
            <a:schemeClr val="accent3">
              <a:lumMod val="40000"/>
              <a:lumOff val="6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chemeClr val="bg1">
                    <a:lumMod val="50000"/>
                  </a:schemeClr>
                </a:solidFill>
                <a:latin typeface="Calibri"/>
                <a:cs typeface="Calibri"/>
              </a:rPr>
              <a:t>Task</a:t>
            </a:r>
          </a:p>
        </p:txBody>
      </p:sp>
      <p:sp>
        <p:nvSpPr>
          <p:cNvPr id="97313" name="TextBox 97312"/>
          <p:cNvSpPr txBox="1"/>
          <p:nvPr/>
        </p:nvSpPr>
        <p:spPr bwMode="auto">
          <a:xfrm>
            <a:off x="4895542" y="1729634"/>
            <a:ext cx="258545" cy="253916"/>
          </a:xfrm>
          <a:prstGeom prst="rect">
            <a:avLst/>
          </a:prstGeom>
          <a:noFill/>
          <a:ln w="9525">
            <a:noFill/>
            <a:miter lim="800000"/>
            <a:headEnd/>
            <a:tailEnd/>
          </a:ln>
        </p:spPr>
        <p:txBody>
          <a:bodyPr wrap="square" rtlCol="0">
            <a:prstTxWarp prst="textNoShape">
              <a:avLst/>
            </a:prstTxWarp>
            <a:spAutoFit/>
          </a:bodyPr>
          <a:lstStyle/>
          <a:p>
            <a:r>
              <a:rPr lang="en-US" sz="1050" dirty="0">
                <a:solidFill>
                  <a:srgbClr val="4F6228"/>
                </a:solidFill>
                <a:latin typeface="Zapf Dingbats"/>
                <a:ea typeface="Zapf Dingbats"/>
                <a:cs typeface="Zapf Dingbats"/>
                <a:sym typeface="Zapf Dingbats"/>
              </a:rPr>
              <a:t>✓</a:t>
            </a:r>
            <a:endParaRPr lang="en-US" sz="1050" dirty="0">
              <a:solidFill>
                <a:srgbClr val="4F6228"/>
              </a:solidFill>
              <a:latin typeface="Calibri" pitchFamily="-1" charset="0"/>
            </a:endParaRPr>
          </a:p>
        </p:txBody>
      </p:sp>
      <p:cxnSp>
        <p:nvCxnSpPr>
          <p:cNvPr id="77" name="Elbow Connector 76"/>
          <p:cNvCxnSpPr>
            <a:stCxn id="15" idx="1"/>
            <a:endCxn id="72" idx="3"/>
          </p:cNvCxnSpPr>
          <p:nvPr/>
        </p:nvCxnSpPr>
        <p:spPr bwMode="auto">
          <a:xfrm rot="10800000" flipV="1">
            <a:off x="2506775" y="3778164"/>
            <a:ext cx="730207" cy="1055"/>
          </a:xfrm>
          <a:prstGeom prst="bentConnector3">
            <a:avLst>
              <a:gd name="adj1" fmla="val 50000"/>
            </a:avLst>
          </a:prstGeom>
          <a:solidFill>
            <a:srgbClr val="CC99FF"/>
          </a:solidFill>
          <a:ln w="19050" cap="flat" cmpd="sng" algn="ctr">
            <a:solidFill>
              <a:schemeClr val="accent5"/>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72" name="Rectangle 71"/>
          <p:cNvSpPr/>
          <p:nvPr/>
        </p:nvSpPr>
        <p:spPr>
          <a:xfrm>
            <a:off x="1680655" y="3583957"/>
            <a:ext cx="826119" cy="390525"/>
          </a:xfrm>
          <a:prstGeom prst="rect">
            <a:avLst/>
          </a:prstGeom>
          <a:solidFill>
            <a:srgbClr val="93CDDD"/>
          </a:solidFill>
          <a:ln>
            <a:solidFill>
              <a:schemeClr val="tx2"/>
            </a:solidFill>
          </a:ln>
        </p:spPr>
        <p:style>
          <a:lnRef idx="1">
            <a:schemeClr val="accent1"/>
          </a:lnRef>
          <a:fillRef idx="3">
            <a:schemeClr val="accent1"/>
          </a:fillRef>
          <a:effectRef idx="2">
            <a:schemeClr val="accent1"/>
          </a:effectRef>
          <a:fontRef idx="minor">
            <a:schemeClr val="lt1"/>
          </a:fontRef>
        </p:style>
        <p:txBody>
          <a:bodyPr wrap="none" anchor="ctr"/>
          <a:lstStyle/>
          <a:p>
            <a:pPr algn="ctr">
              <a:defRPr/>
            </a:pPr>
            <a:r>
              <a:rPr lang="en-US" sz="900" dirty="0">
                <a:solidFill>
                  <a:srgbClr val="1F497D"/>
                </a:solidFill>
                <a:latin typeface="Calibri"/>
                <a:cs typeface="Calibri"/>
              </a:rPr>
              <a:t>Resource</a:t>
            </a:r>
          </a:p>
          <a:p>
            <a:pPr algn="ctr">
              <a:defRPr/>
            </a:pPr>
            <a:r>
              <a:rPr lang="en-US" sz="900" dirty="0">
                <a:solidFill>
                  <a:srgbClr val="1F497D"/>
                </a:solidFill>
                <a:latin typeface="Calibri"/>
                <a:cs typeface="Calibri"/>
              </a:rPr>
              <a:t>Description</a:t>
            </a:r>
          </a:p>
        </p:txBody>
      </p:sp>
      <p:sp>
        <p:nvSpPr>
          <p:cNvPr id="97284" name="TextBox 97283"/>
          <p:cNvSpPr txBox="1"/>
          <p:nvPr/>
        </p:nvSpPr>
        <p:spPr bwMode="auto">
          <a:xfrm>
            <a:off x="3740910" y="2695565"/>
            <a:ext cx="460382"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Deploy</a:t>
            </a:r>
          </a:p>
        </p:txBody>
      </p:sp>
      <p:sp>
        <p:nvSpPr>
          <p:cNvPr id="103" name="TextBox 102"/>
          <p:cNvSpPr txBox="1"/>
          <p:nvPr/>
        </p:nvSpPr>
        <p:spPr bwMode="auto">
          <a:xfrm>
            <a:off x="2647081" y="2376930"/>
            <a:ext cx="447558"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Link to</a:t>
            </a:r>
          </a:p>
        </p:txBody>
      </p:sp>
      <p:sp>
        <p:nvSpPr>
          <p:cNvPr id="105" name="TextBox 104"/>
          <p:cNvSpPr txBox="1"/>
          <p:nvPr/>
        </p:nvSpPr>
        <p:spPr bwMode="auto">
          <a:xfrm>
            <a:off x="2572999" y="4723248"/>
            <a:ext cx="524503"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Describe</a:t>
            </a:r>
          </a:p>
        </p:txBody>
      </p:sp>
      <p:sp>
        <p:nvSpPr>
          <p:cNvPr id="106" name="TextBox 105"/>
          <p:cNvSpPr txBox="1"/>
          <p:nvPr/>
        </p:nvSpPr>
        <p:spPr bwMode="auto">
          <a:xfrm>
            <a:off x="2647081" y="3568764"/>
            <a:ext cx="495649"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Look up</a:t>
            </a:r>
          </a:p>
        </p:txBody>
      </p:sp>
      <p:sp>
        <p:nvSpPr>
          <p:cNvPr id="108" name="TextBox 107"/>
          <p:cNvSpPr txBox="1"/>
          <p:nvPr/>
        </p:nvSpPr>
        <p:spPr bwMode="auto">
          <a:xfrm>
            <a:off x="4292608" y="3568764"/>
            <a:ext cx="453970"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Report</a:t>
            </a:r>
          </a:p>
        </p:txBody>
      </p:sp>
      <p:sp>
        <p:nvSpPr>
          <p:cNvPr id="109" name="TextBox 108"/>
          <p:cNvSpPr txBox="1"/>
          <p:nvPr/>
        </p:nvSpPr>
        <p:spPr bwMode="auto">
          <a:xfrm>
            <a:off x="6068602" y="4010163"/>
            <a:ext cx="453970"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Report</a:t>
            </a:r>
          </a:p>
        </p:txBody>
      </p:sp>
      <p:sp>
        <p:nvSpPr>
          <p:cNvPr id="110" name="TextBox 109"/>
          <p:cNvSpPr txBox="1"/>
          <p:nvPr/>
        </p:nvSpPr>
        <p:spPr bwMode="auto">
          <a:xfrm>
            <a:off x="6068602" y="3568764"/>
            <a:ext cx="453970"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Report</a:t>
            </a:r>
          </a:p>
        </p:txBody>
      </p:sp>
      <p:sp>
        <p:nvSpPr>
          <p:cNvPr id="115" name="TextBox 114"/>
          <p:cNvSpPr txBox="1"/>
          <p:nvPr/>
        </p:nvSpPr>
        <p:spPr bwMode="auto">
          <a:xfrm>
            <a:off x="6068602" y="2325376"/>
            <a:ext cx="453970"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Report</a:t>
            </a:r>
          </a:p>
        </p:txBody>
      </p:sp>
      <p:sp>
        <p:nvSpPr>
          <p:cNvPr id="122" name="TextBox 121"/>
          <p:cNvSpPr txBox="1"/>
          <p:nvPr/>
        </p:nvSpPr>
        <p:spPr bwMode="auto">
          <a:xfrm>
            <a:off x="2087849" y="876672"/>
            <a:ext cx="495649"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Look up</a:t>
            </a:r>
          </a:p>
        </p:txBody>
      </p:sp>
      <p:sp>
        <p:nvSpPr>
          <p:cNvPr id="123" name="TextBox 122"/>
          <p:cNvSpPr txBox="1"/>
          <p:nvPr/>
        </p:nvSpPr>
        <p:spPr bwMode="auto">
          <a:xfrm>
            <a:off x="6715976" y="1338468"/>
            <a:ext cx="425116" cy="207749"/>
          </a:xfrm>
          <a:prstGeom prst="rect">
            <a:avLst/>
          </a:prstGeom>
          <a:noFill/>
          <a:ln w="9525">
            <a:noFill/>
            <a:miter lim="800000"/>
            <a:headEnd/>
            <a:tailEnd/>
          </a:ln>
        </p:spPr>
        <p:txBody>
          <a:bodyPr wrap="none" rtlCol="0">
            <a:prstTxWarp prst="textNoShape">
              <a:avLst/>
            </a:prstTxWarp>
            <a:spAutoFit/>
          </a:bodyPr>
          <a:lstStyle/>
          <a:p>
            <a:r>
              <a:rPr lang="en-US" sz="750" dirty="0">
                <a:latin typeface="Calibri" pitchFamily="-1" charset="0"/>
              </a:rPr>
              <a:t>Query</a:t>
            </a:r>
          </a:p>
        </p:txBody>
      </p:sp>
      <p:sp>
        <p:nvSpPr>
          <p:cNvPr id="79" name="Rounded Rectangle 78"/>
          <p:cNvSpPr/>
          <p:nvPr/>
        </p:nvSpPr>
        <p:spPr>
          <a:xfrm>
            <a:off x="4868333" y="2330081"/>
            <a:ext cx="1047750" cy="539749"/>
          </a:xfrm>
          <a:prstGeom prst="roundRect">
            <a:avLst/>
          </a:prstGeom>
          <a:solidFill>
            <a:schemeClr val="accent3">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solidFill>
                <a:srgbClr val="1F497D"/>
              </a:solidFill>
              <a:latin typeface="Calibri"/>
              <a:cs typeface="Calibri"/>
            </a:endParaRPr>
          </a:p>
        </p:txBody>
      </p:sp>
      <p:sp>
        <p:nvSpPr>
          <p:cNvPr id="27" name="Rounded Rectangle 26"/>
          <p:cNvSpPr/>
          <p:nvPr/>
        </p:nvSpPr>
        <p:spPr bwMode="auto">
          <a:xfrm>
            <a:off x="4939728" y="2485363"/>
            <a:ext cx="109313" cy="92626"/>
          </a:xfrm>
          <a:prstGeom prst="roundRect">
            <a:avLst/>
          </a:prstGeom>
          <a:solidFill>
            <a:srgbClr val="FFFFFF"/>
          </a:solidFill>
          <a:ln>
            <a:solidFill>
              <a:srgbClr val="4F6228"/>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50" dirty="0">
              <a:solidFill>
                <a:srgbClr val="1F497D"/>
              </a:solidFill>
              <a:latin typeface="Calibri"/>
              <a:cs typeface="Calibri"/>
            </a:endParaRPr>
          </a:p>
        </p:txBody>
      </p:sp>
      <p:sp>
        <p:nvSpPr>
          <p:cNvPr id="52" name="Rounded Rectangle 51"/>
          <p:cNvSpPr/>
          <p:nvPr/>
        </p:nvSpPr>
        <p:spPr bwMode="auto">
          <a:xfrm>
            <a:off x="5591557" y="2730205"/>
            <a:ext cx="107885" cy="92626"/>
          </a:xfrm>
          <a:prstGeom prst="roundRect">
            <a:avLst/>
          </a:prstGeom>
          <a:solidFill>
            <a:srgbClr val="FFFFFF"/>
          </a:solidFill>
          <a:ln>
            <a:solidFill>
              <a:srgbClr val="4F6228"/>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50" dirty="0">
              <a:solidFill>
                <a:srgbClr val="1F497D"/>
              </a:solidFill>
              <a:latin typeface="Calibri"/>
              <a:cs typeface="Calibri"/>
            </a:endParaRPr>
          </a:p>
        </p:txBody>
      </p:sp>
      <p:sp>
        <p:nvSpPr>
          <p:cNvPr id="57" name="Rounded Rectangle 56"/>
          <p:cNvSpPr/>
          <p:nvPr/>
        </p:nvSpPr>
        <p:spPr bwMode="auto">
          <a:xfrm>
            <a:off x="5590367" y="2382517"/>
            <a:ext cx="107884" cy="92627"/>
          </a:xfrm>
          <a:prstGeom prst="roundRect">
            <a:avLst/>
          </a:prstGeom>
          <a:solidFill>
            <a:srgbClr val="FFFFFF"/>
          </a:solidFill>
          <a:ln>
            <a:solidFill>
              <a:srgbClr val="4F6228"/>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50" dirty="0">
              <a:solidFill>
                <a:srgbClr val="1F497D"/>
              </a:solidFill>
              <a:latin typeface="Calibri"/>
              <a:cs typeface="Calibri"/>
            </a:endParaRPr>
          </a:p>
        </p:txBody>
      </p:sp>
      <p:sp>
        <p:nvSpPr>
          <p:cNvPr id="28" name="Decision 27"/>
          <p:cNvSpPr/>
          <p:nvPr/>
        </p:nvSpPr>
        <p:spPr bwMode="auto">
          <a:xfrm>
            <a:off x="5244916" y="2492343"/>
            <a:ext cx="144066" cy="78581"/>
          </a:xfrm>
          <a:prstGeom prst="flowChartDecision">
            <a:avLst/>
          </a:prstGeom>
          <a:solidFill>
            <a:srgbClr val="FFFFFF"/>
          </a:solidFill>
          <a:ln>
            <a:solidFill>
              <a:srgbClr val="4F6228"/>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50" dirty="0">
              <a:solidFill>
                <a:srgbClr val="1F497D"/>
              </a:solidFill>
              <a:latin typeface="Calibri"/>
              <a:cs typeface="Calibri"/>
            </a:endParaRPr>
          </a:p>
        </p:txBody>
      </p:sp>
      <p:cxnSp>
        <p:nvCxnSpPr>
          <p:cNvPr id="31" name="Elbow Connector 30"/>
          <p:cNvCxnSpPr>
            <a:stCxn id="27" idx="3"/>
            <a:endCxn id="28" idx="1"/>
          </p:cNvCxnSpPr>
          <p:nvPr/>
        </p:nvCxnSpPr>
        <p:spPr bwMode="auto">
          <a:xfrm flipV="1">
            <a:off x="5049041" y="2531634"/>
            <a:ext cx="195875" cy="43"/>
          </a:xfrm>
          <a:prstGeom prst="bentConnector3">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58" name="Elbow Connector 57"/>
          <p:cNvCxnSpPr>
            <a:stCxn id="28" idx="0"/>
            <a:endCxn id="57" idx="1"/>
          </p:cNvCxnSpPr>
          <p:nvPr/>
        </p:nvCxnSpPr>
        <p:spPr bwMode="auto">
          <a:xfrm rot="5400000" flipH="1" flipV="1">
            <a:off x="5421901" y="2323878"/>
            <a:ext cx="63512" cy="273418"/>
          </a:xfrm>
          <a:prstGeom prst="bentConnector2">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38" name="Oval 37"/>
          <p:cNvSpPr/>
          <p:nvPr/>
        </p:nvSpPr>
        <p:spPr bwMode="auto">
          <a:xfrm>
            <a:off x="5772363" y="2586565"/>
            <a:ext cx="52388" cy="42863"/>
          </a:xfrm>
          <a:prstGeom prst="ellipse">
            <a:avLst/>
          </a:prstGeom>
          <a:solidFill>
            <a:srgbClr val="FFFFFF"/>
          </a:solidFill>
          <a:ln>
            <a:solidFill>
              <a:srgbClr val="4F6228"/>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050" dirty="0">
              <a:solidFill>
                <a:srgbClr val="1F497D"/>
              </a:solidFill>
              <a:latin typeface="Calibri"/>
              <a:cs typeface="Calibri"/>
            </a:endParaRPr>
          </a:p>
        </p:txBody>
      </p:sp>
      <p:cxnSp>
        <p:nvCxnSpPr>
          <p:cNvPr id="63" name="Elbow Connector 62"/>
          <p:cNvCxnSpPr>
            <a:stCxn id="28" idx="2"/>
            <a:endCxn id="52" idx="1"/>
          </p:cNvCxnSpPr>
          <p:nvPr/>
        </p:nvCxnSpPr>
        <p:spPr bwMode="auto">
          <a:xfrm rot="16200000" flipH="1">
            <a:off x="5351455" y="2536416"/>
            <a:ext cx="205595" cy="274609"/>
          </a:xfrm>
          <a:prstGeom prst="bentConnector2">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6" name="Elbow Connector 65"/>
          <p:cNvCxnSpPr>
            <a:stCxn id="57" idx="3"/>
            <a:endCxn id="38" idx="0"/>
          </p:cNvCxnSpPr>
          <p:nvPr/>
        </p:nvCxnSpPr>
        <p:spPr bwMode="auto">
          <a:xfrm>
            <a:off x="5698250" y="2428831"/>
            <a:ext cx="100307" cy="157735"/>
          </a:xfrm>
          <a:prstGeom prst="bentConnector2">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1" name="Elbow Connector 70"/>
          <p:cNvCxnSpPr>
            <a:stCxn id="52" idx="3"/>
            <a:endCxn id="38" idx="4"/>
          </p:cNvCxnSpPr>
          <p:nvPr/>
        </p:nvCxnSpPr>
        <p:spPr bwMode="auto">
          <a:xfrm flipV="1">
            <a:off x="5699442" y="2629428"/>
            <a:ext cx="99115" cy="147090"/>
          </a:xfrm>
          <a:prstGeom prst="bentConnector2">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84" name="Elbow Connector 83"/>
          <p:cNvCxnSpPr>
            <a:stCxn id="27" idx="0"/>
            <a:endCxn id="43" idx="2"/>
          </p:cNvCxnSpPr>
          <p:nvPr/>
        </p:nvCxnSpPr>
        <p:spPr bwMode="auto">
          <a:xfrm rot="5400000" flipH="1" flipV="1">
            <a:off x="4969718" y="2070262"/>
            <a:ext cx="439767" cy="390434"/>
          </a:xfrm>
          <a:prstGeom prst="bentConnector3">
            <a:avLst>
              <a:gd name="adj1" fmla="val 64440"/>
            </a:avLst>
          </a:prstGeom>
          <a:solidFill>
            <a:srgbClr val="CC99FF"/>
          </a:solidFill>
          <a:ln w="19050" cap="flat" cmpd="sng" algn="ctr">
            <a:solidFill>
              <a:srgbClr val="1F497D"/>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3" name="Elbow Connector 72"/>
          <p:cNvCxnSpPr>
            <a:stCxn id="57" idx="0"/>
            <a:endCxn id="167" idx="2"/>
          </p:cNvCxnSpPr>
          <p:nvPr/>
        </p:nvCxnSpPr>
        <p:spPr bwMode="auto">
          <a:xfrm rot="5400000" flipH="1" flipV="1">
            <a:off x="5520984" y="2171178"/>
            <a:ext cx="334666" cy="88014"/>
          </a:xfrm>
          <a:prstGeom prst="bentConnector3">
            <a:avLst>
              <a:gd name="adj1" fmla="val 50000"/>
            </a:avLst>
          </a:prstGeom>
          <a:solidFill>
            <a:srgbClr val="CC99FF"/>
          </a:solidFill>
          <a:ln w="19050" cap="flat" cmpd="sng" algn="ctr">
            <a:solidFill>
              <a:srgbClr val="1F497D"/>
            </a:solidFill>
            <a:prstDash val="dot"/>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2" name="Elbow Connector 101"/>
          <p:cNvCxnSpPr>
            <a:stCxn id="28" idx="3"/>
            <a:endCxn id="38" idx="2"/>
          </p:cNvCxnSpPr>
          <p:nvPr/>
        </p:nvCxnSpPr>
        <p:spPr bwMode="auto">
          <a:xfrm>
            <a:off x="5388982" y="2531633"/>
            <a:ext cx="383381" cy="76364"/>
          </a:xfrm>
          <a:prstGeom prst="bentConnector3">
            <a:avLst>
              <a:gd name="adj1" fmla="val 50000"/>
            </a:avLst>
          </a:prstGeom>
          <a:solidFill>
            <a:srgbClr val="CC99FF"/>
          </a:solidFill>
          <a:ln w="19050" cap="flat" cmpd="sng" algn="ctr">
            <a:solidFill>
              <a:srgbClr val="4F6228"/>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7324" name="Rectangle 112"/>
          <p:cNvSpPr>
            <a:spLocks noChangeArrowheads="1"/>
          </p:cNvSpPr>
          <p:nvPr/>
        </p:nvSpPr>
        <p:spPr bwMode="auto">
          <a:xfrm>
            <a:off x="4804472" y="2544639"/>
            <a:ext cx="478016"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ctr"/>
            <a:r>
              <a:rPr lang="en-US" sz="750" dirty="0">
                <a:latin typeface="Calibri" charset="0"/>
                <a:cs typeface="Calibri" charset="0"/>
              </a:rPr>
              <a:t>Control</a:t>
            </a:r>
          </a:p>
          <a:p>
            <a:pPr algn="ctr"/>
            <a:r>
              <a:rPr lang="en-US" sz="750" dirty="0">
                <a:latin typeface="Calibri" charset="0"/>
                <a:cs typeface="Calibri" charset="0"/>
              </a:rPr>
              <a:t>Point</a:t>
            </a:r>
          </a:p>
        </p:txBody>
      </p:sp>
    </p:spTree>
    <p:extLst>
      <p:ext uri="{BB962C8B-B14F-4D97-AF65-F5344CB8AC3E}">
        <p14:creationId xmlns:p14="http://schemas.microsoft.com/office/powerpoint/2010/main" val="1769247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3" name="Picture 1" descr="Data Reservoir Users.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83644" y="2081212"/>
            <a:ext cx="4094560" cy="2462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4514" name="Title 1"/>
          <p:cNvSpPr>
            <a:spLocks noGrp="1"/>
          </p:cNvSpPr>
          <p:nvPr>
            <p:ph type="title"/>
          </p:nvPr>
        </p:nvSpPr>
        <p:spPr/>
        <p:txBody>
          <a:bodyPr/>
          <a:lstStyle/>
          <a:p>
            <a:r>
              <a:rPr lang="en-US">
                <a:latin typeface="Arial" charset="0"/>
                <a:ea typeface="MS PGothic" charset="0"/>
                <a:cs typeface="MS PGothic" charset="0"/>
              </a:rPr>
              <a:t>Governance Rules</a:t>
            </a:r>
            <a:br>
              <a:rPr lang="en-US">
                <a:latin typeface="Arial" charset="0"/>
                <a:ea typeface="MS PGothic" charset="0"/>
                <a:cs typeface="MS PGothic" charset="0"/>
              </a:rPr>
            </a:br>
            <a:r>
              <a:rPr lang="en-US" sz="1500" i="1">
                <a:solidFill>
                  <a:schemeClr val="tx2"/>
                </a:solidFill>
                <a:latin typeface="Arial" charset="0"/>
                <a:ea typeface="MS PGothic" charset="0"/>
                <a:cs typeface="MS PGothic" charset="0"/>
              </a:rPr>
              <a:t>Defined for each classification for each situation</a:t>
            </a:r>
            <a:endParaRPr lang="en-US">
              <a:solidFill>
                <a:schemeClr val="tx2"/>
              </a:solidFill>
              <a:latin typeface="Arial" charset="0"/>
              <a:ea typeface="MS PGothic" charset="0"/>
              <a:cs typeface="MS PGothic" charset="0"/>
            </a:endParaRPr>
          </a:p>
        </p:txBody>
      </p:sp>
      <p:sp>
        <p:nvSpPr>
          <p:cNvPr id="6" name="Rounded Rectangular Callout 5"/>
          <p:cNvSpPr/>
          <p:nvPr/>
        </p:nvSpPr>
        <p:spPr>
          <a:xfrm>
            <a:off x="4442222" y="1262063"/>
            <a:ext cx="1666875" cy="569119"/>
          </a:xfrm>
          <a:prstGeom prst="wedgeRoundRectCallout">
            <a:avLst>
              <a:gd name="adj1" fmla="val -53373"/>
              <a:gd name="adj2" fmla="val 192733"/>
              <a:gd name="adj3" fmla="val 16667"/>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solidFill>
                  <a:srgbClr val="1F497D"/>
                </a:solidFill>
                <a:latin typeface="Calibri"/>
                <a:cs typeface="Calibri"/>
              </a:rPr>
              <a:t>Personal information masked here</a:t>
            </a:r>
          </a:p>
        </p:txBody>
      </p:sp>
      <p:sp>
        <p:nvSpPr>
          <p:cNvPr id="7" name="Rounded Rectangular Callout 6"/>
          <p:cNvSpPr/>
          <p:nvPr/>
        </p:nvSpPr>
        <p:spPr>
          <a:xfrm>
            <a:off x="4442223" y="1260873"/>
            <a:ext cx="1668065" cy="569119"/>
          </a:xfrm>
          <a:prstGeom prst="wedgeRoundRectCallout">
            <a:avLst>
              <a:gd name="adj1" fmla="val 29960"/>
              <a:gd name="adj2" fmla="val 332268"/>
              <a:gd name="adj3" fmla="val 16667"/>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350" dirty="0">
                <a:solidFill>
                  <a:srgbClr val="1F497D"/>
                </a:solidFill>
                <a:latin typeface="Calibri"/>
                <a:cs typeface="Calibri"/>
              </a:rPr>
              <a:t>Personal information masked here</a:t>
            </a:r>
          </a:p>
        </p:txBody>
      </p:sp>
      <p:sp>
        <p:nvSpPr>
          <p:cNvPr id="8" name="Rounded Rectangular Callout 7"/>
          <p:cNvSpPr/>
          <p:nvPr/>
        </p:nvSpPr>
        <p:spPr>
          <a:xfrm>
            <a:off x="1622823" y="1194198"/>
            <a:ext cx="1849040" cy="569119"/>
          </a:xfrm>
          <a:prstGeom prst="wedgeRoundRectCallout">
            <a:avLst>
              <a:gd name="adj1" fmla="val 29960"/>
              <a:gd name="adj2" fmla="val 332268"/>
              <a:gd name="adj3" fmla="val 16667"/>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350" dirty="0">
                <a:solidFill>
                  <a:srgbClr val="1F497D"/>
                </a:solidFill>
                <a:latin typeface="Calibri"/>
                <a:cs typeface="Calibri"/>
              </a:rPr>
              <a:t>Sensitive information masked here</a:t>
            </a:r>
          </a:p>
        </p:txBody>
      </p:sp>
    </p:spTree>
    <p:extLst>
      <p:ext uri="{BB962C8B-B14F-4D97-AF65-F5344CB8AC3E}">
        <p14:creationId xmlns:p14="http://schemas.microsoft.com/office/powerpoint/2010/main" val="4759657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p:txBody>
          <a:bodyPr/>
          <a:lstStyle/>
          <a:p>
            <a:r>
              <a:rPr lang="en-US">
                <a:latin typeface="Arial" charset="0"/>
                <a:ea typeface="MS PGothic" charset="0"/>
              </a:rPr>
              <a:t>Monitoring Policies and Auditing </a:t>
            </a:r>
          </a:p>
        </p:txBody>
      </p:sp>
      <p:sp>
        <p:nvSpPr>
          <p:cNvPr id="48130" name="Content Placeholder 2"/>
          <p:cNvSpPr>
            <a:spLocks noGrp="1"/>
          </p:cNvSpPr>
          <p:nvPr>
            <p:ph idx="1"/>
          </p:nvPr>
        </p:nvSpPr>
        <p:spPr>
          <a:xfrm>
            <a:off x="1257300" y="997744"/>
            <a:ext cx="6572250" cy="1649016"/>
          </a:xfrm>
        </p:spPr>
        <p:txBody>
          <a:bodyPr/>
          <a:lstStyle/>
          <a:p>
            <a:r>
              <a:rPr lang="en-US">
                <a:latin typeface="Calibri" charset="0"/>
                <a:ea typeface="MS PGothic" charset="0"/>
              </a:rPr>
              <a:t>Information governance catalogue data is available through SQL Views to enable reporting on compliance.</a:t>
            </a:r>
          </a:p>
        </p:txBody>
      </p:sp>
      <p:sp>
        <p:nvSpPr>
          <p:cNvPr id="4" name="Magnetic Disk 3"/>
          <p:cNvSpPr/>
          <p:nvPr/>
        </p:nvSpPr>
        <p:spPr>
          <a:xfrm>
            <a:off x="4337447" y="4068367"/>
            <a:ext cx="852488" cy="591740"/>
          </a:xfrm>
          <a:prstGeom prst="flowChartMagneticDisk">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050" dirty="0">
                <a:solidFill>
                  <a:srgbClr val="1F497D"/>
                </a:solidFill>
                <a:latin typeface="Calibri"/>
                <a:cs typeface="Calibri"/>
              </a:rPr>
              <a:t>Policies</a:t>
            </a:r>
          </a:p>
        </p:txBody>
      </p:sp>
      <p:sp>
        <p:nvSpPr>
          <p:cNvPr id="5" name="Magnetic Disk 4"/>
          <p:cNvSpPr/>
          <p:nvPr/>
        </p:nvSpPr>
        <p:spPr>
          <a:xfrm>
            <a:off x="5504260" y="4062413"/>
            <a:ext cx="852488" cy="591741"/>
          </a:xfrm>
          <a:prstGeom prst="flowChartMagneticDisk">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050" dirty="0">
                <a:solidFill>
                  <a:srgbClr val="1F497D"/>
                </a:solidFill>
                <a:latin typeface="Calibri"/>
                <a:cs typeface="Calibri"/>
              </a:rPr>
              <a:t>KPIs Data Mart</a:t>
            </a:r>
          </a:p>
        </p:txBody>
      </p:sp>
      <p:sp>
        <p:nvSpPr>
          <p:cNvPr id="6" name="Magnetic Disk 5"/>
          <p:cNvSpPr/>
          <p:nvPr/>
        </p:nvSpPr>
        <p:spPr>
          <a:xfrm>
            <a:off x="6781800" y="4065985"/>
            <a:ext cx="852488" cy="591740"/>
          </a:xfrm>
          <a:prstGeom prst="flowChartMagneticDisk">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050" dirty="0">
                <a:solidFill>
                  <a:srgbClr val="1F497D"/>
                </a:solidFill>
                <a:latin typeface="Calibri"/>
                <a:cs typeface="Calibri"/>
              </a:rPr>
              <a:t>Exception DB</a:t>
            </a:r>
          </a:p>
        </p:txBody>
      </p:sp>
      <p:grpSp>
        <p:nvGrpSpPr>
          <p:cNvPr id="48134" name="Group 27668"/>
          <p:cNvGrpSpPr>
            <a:grpSpLocks/>
          </p:cNvGrpSpPr>
          <p:nvPr/>
        </p:nvGrpSpPr>
        <p:grpSpPr bwMode="auto">
          <a:xfrm>
            <a:off x="5480448" y="2634854"/>
            <a:ext cx="921544" cy="647700"/>
            <a:chOff x="640045" y="3157538"/>
            <a:chExt cx="1228725" cy="863600"/>
          </a:xfrm>
        </p:grpSpPr>
        <p:sp>
          <p:nvSpPr>
            <p:cNvPr id="11" name="Rectangle 10"/>
            <p:cNvSpPr/>
            <p:nvPr/>
          </p:nvSpPr>
          <p:spPr bwMode="auto">
            <a:xfrm>
              <a:off x="640045" y="3157538"/>
              <a:ext cx="1228725" cy="863600"/>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2" name="Rectangle 11"/>
            <p:cNvSpPr/>
            <p:nvPr/>
          </p:nvSpPr>
          <p:spPr bwMode="auto">
            <a:xfrm>
              <a:off x="690845" y="3198813"/>
              <a:ext cx="1136650" cy="80962"/>
            </a:xfrm>
            <a:prstGeom prst="rect">
              <a:avLst/>
            </a:prstGeom>
            <a:solidFill>
              <a:schemeClr val="tx1"/>
            </a:solidFill>
            <a:ln>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3" name="Rectangle 12"/>
            <p:cNvSpPr/>
            <p:nvPr/>
          </p:nvSpPr>
          <p:spPr bwMode="auto">
            <a:xfrm>
              <a:off x="700370" y="3309938"/>
              <a:ext cx="274637" cy="660400"/>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4" name="Rectangle 13"/>
            <p:cNvSpPr/>
            <p:nvPr/>
          </p:nvSpPr>
          <p:spPr bwMode="auto">
            <a:xfrm>
              <a:off x="1533807" y="3309938"/>
              <a:ext cx="287338" cy="314325"/>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5" name="Rectangle 14"/>
            <p:cNvSpPr/>
            <p:nvPr/>
          </p:nvSpPr>
          <p:spPr bwMode="auto">
            <a:xfrm>
              <a:off x="1005170" y="3309938"/>
              <a:ext cx="498475" cy="193675"/>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6" name="Rectangle 15"/>
            <p:cNvSpPr/>
            <p:nvPr/>
          </p:nvSpPr>
          <p:spPr bwMode="auto">
            <a:xfrm>
              <a:off x="1005170" y="3813175"/>
              <a:ext cx="225425" cy="157163"/>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7" name="Rectangle 16"/>
            <p:cNvSpPr/>
            <p:nvPr/>
          </p:nvSpPr>
          <p:spPr bwMode="auto">
            <a:xfrm>
              <a:off x="1270282" y="3814763"/>
              <a:ext cx="234950" cy="157162"/>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8" name="Rectangle 17"/>
            <p:cNvSpPr/>
            <p:nvPr/>
          </p:nvSpPr>
          <p:spPr bwMode="auto">
            <a:xfrm>
              <a:off x="1532220" y="3656013"/>
              <a:ext cx="288925" cy="314325"/>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19" name="Rectangle 18"/>
            <p:cNvSpPr/>
            <p:nvPr/>
          </p:nvSpPr>
          <p:spPr bwMode="auto">
            <a:xfrm>
              <a:off x="1049620" y="3354388"/>
              <a:ext cx="406400" cy="122237"/>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20" name="Rectangle 19"/>
            <p:cNvSpPr/>
            <p:nvPr/>
          </p:nvSpPr>
          <p:spPr bwMode="auto">
            <a:xfrm>
              <a:off x="744820" y="3370263"/>
              <a:ext cx="180975" cy="550862"/>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21" name="Rectangle 20"/>
            <p:cNvSpPr/>
            <p:nvPr/>
          </p:nvSpPr>
          <p:spPr bwMode="auto">
            <a:xfrm>
              <a:off x="1587782" y="3708400"/>
              <a:ext cx="163513" cy="225425"/>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22" name="Rectangle 21"/>
            <p:cNvSpPr/>
            <p:nvPr/>
          </p:nvSpPr>
          <p:spPr bwMode="auto">
            <a:xfrm>
              <a:off x="1592545" y="3354388"/>
              <a:ext cx="163512" cy="225425"/>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23" name="Rectangle 22"/>
            <p:cNvSpPr/>
            <p:nvPr/>
          </p:nvSpPr>
          <p:spPr bwMode="auto">
            <a:xfrm>
              <a:off x="1308382" y="3860800"/>
              <a:ext cx="134938" cy="85725"/>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24" name="Rectangle 23"/>
            <p:cNvSpPr/>
            <p:nvPr/>
          </p:nvSpPr>
          <p:spPr bwMode="auto">
            <a:xfrm>
              <a:off x="1054382" y="3852863"/>
              <a:ext cx="134938" cy="85725"/>
            </a:xfrm>
            <a:prstGeom prst="rect">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grpSp>
          <p:nvGrpSpPr>
            <p:cNvPr id="48157" name="Group 294"/>
            <p:cNvGrpSpPr>
              <a:grpSpLocks/>
            </p:cNvGrpSpPr>
            <p:nvPr/>
          </p:nvGrpSpPr>
          <p:grpSpPr bwMode="auto">
            <a:xfrm>
              <a:off x="997419" y="3522291"/>
              <a:ext cx="496710" cy="257828"/>
              <a:chOff x="339996" y="3313113"/>
              <a:chExt cx="1120775" cy="655637"/>
            </a:xfrm>
          </p:grpSpPr>
          <p:sp>
            <p:nvSpPr>
              <p:cNvPr id="26" name="Rectangle 25"/>
              <p:cNvSpPr/>
              <p:nvPr/>
            </p:nvSpPr>
            <p:spPr bwMode="auto">
              <a:xfrm>
                <a:off x="339574" y="3314059"/>
                <a:ext cx="1121177" cy="65397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cxnSp>
            <p:nvCxnSpPr>
              <p:cNvPr id="27" name="Straight Connector 26"/>
              <p:cNvCxnSpPr/>
              <p:nvPr/>
            </p:nvCxnSpPr>
            <p:spPr bwMode="auto">
              <a:xfrm>
                <a:off x="450618" y="3402871"/>
                <a:ext cx="0" cy="504610"/>
              </a:xfrm>
              <a:prstGeom prst="line">
                <a:avLst/>
              </a:prstGeom>
              <a:solidFill>
                <a:srgbClr val="CC99FF"/>
              </a:solidFill>
              <a:ln w="19050" cap="flat" cmpd="sng" algn="ctr">
                <a:solidFill>
                  <a:schemeClr val="tx2"/>
                </a:solidFill>
                <a:prstDash val="solid"/>
                <a:round/>
                <a:headEnd type="none"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8" name="Straight Connector 27"/>
              <p:cNvCxnSpPr/>
              <p:nvPr/>
            </p:nvCxnSpPr>
            <p:spPr bwMode="auto">
              <a:xfrm>
                <a:off x="425543" y="3883259"/>
                <a:ext cx="909836" cy="0"/>
              </a:xfrm>
              <a:prstGeom prst="line">
                <a:avLst/>
              </a:prstGeom>
              <a:solidFill>
                <a:srgbClr val="CC99FF"/>
              </a:solidFill>
              <a:ln w="19050" cap="flat" cmpd="sng" algn="ctr">
                <a:solidFill>
                  <a:schemeClr val="tx2"/>
                </a:solidFill>
                <a:prstDash val="solid"/>
                <a:round/>
                <a:headEnd type="none"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29" name="Rectangle 28"/>
              <p:cNvSpPr/>
              <p:nvPr/>
            </p:nvSpPr>
            <p:spPr bwMode="auto">
              <a:xfrm>
                <a:off x="550915" y="3487644"/>
                <a:ext cx="96714" cy="395615"/>
              </a:xfrm>
              <a:prstGeom prst="rect">
                <a:avLst/>
              </a:prstGeom>
              <a:solidFill>
                <a:schemeClr val="accent2">
                  <a:lumMod val="7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30" name="Rectangle 29"/>
              <p:cNvSpPr/>
              <p:nvPr/>
            </p:nvSpPr>
            <p:spPr bwMode="auto">
              <a:xfrm>
                <a:off x="751509" y="3588568"/>
                <a:ext cx="107461" cy="286618"/>
              </a:xfrm>
              <a:prstGeom prst="rect">
                <a:avLst/>
              </a:prstGeom>
              <a:solidFill>
                <a:schemeClr val="accent4">
                  <a:lumMod val="7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31" name="Rectangle 30"/>
              <p:cNvSpPr/>
              <p:nvPr/>
            </p:nvSpPr>
            <p:spPr bwMode="auto">
              <a:xfrm>
                <a:off x="1109712" y="3709674"/>
                <a:ext cx="93133" cy="169549"/>
              </a:xfrm>
              <a:prstGeom prst="rect">
                <a:avLst/>
              </a:prstGeom>
              <a:solidFill>
                <a:schemeClr val="accent6">
                  <a:lumMod val="7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sp>
            <p:nvSpPr>
              <p:cNvPr id="32" name="Rectangle 31"/>
              <p:cNvSpPr/>
              <p:nvPr/>
            </p:nvSpPr>
            <p:spPr bwMode="auto">
              <a:xfrm>
                <a:off x="941355" y="3528013"/>
                <a:ext cx="85969" cy="351211"/>
              </a:xfrm>
              <a:prstGeom prst="rect">
                <a:avLst/>
              </a:prstGeom>
              <a:solidFill>
                <a:schemeClr val="accent5">
                  <a:lumMod val="75000"/>
                </a:schemeClr>
              </a:solidFill>
              <a:ln>
                <a:solidFill>
                  <a:schemeClr val="tx2"/>
                </a:solid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342883" eaLnBrk="0" hangingPunct="0">
                  <a:defRPr/>
                </a:pPr>
                <a:endParaRPr lang="en-US" sz="1350" dirty="0">
                  <a:solidFill>
                    <a:srgbClr val="1F497D"/>
                  </a:solidFill>
                  <a:latin typeface="Calibri"/>
                  <a:cs typeface="Calibri"/>
                </a:endParaRPr>
              </a:p>
            </p:txBody>
          </p:sp>
        </p:grpSp>
      </p:grpSp>
      <p:cxnSp>
        <p:nvCxnSpPr>
          <p:cNvPr id="34" name="Straight Connector 33"/>
          <p:cNvCxnSpPr>
            <a:stCxn id="11" idx="2"/>
            <a:endCxn id="4" idx="1"/>
          </p:cNvCxnSpPr>
          <p:nvPr/>
        </p:nvCxnSpPr>
        <p:spPr bwMode="auto">
          <a:xfrm rot="5400000">
            <a:off x="4959549" y="3086696"/>
            <a:ext cx="785813" cy="1177528"/>
          </a:xfrm>
          <a:prstGeom prst="bentConnector3">
            <a:avLst>
              <a:gd name="adj1" fmla="val 50000"/>
            </a:avLst>
          </a:prstGeom>
          <a:solidFill>
            <a:srgbClr val="CC99FF"/>
          </a:solidFill>
          <a:ln w="19050" cap="flat" cmpd="sng" algn="ctr">
            <a:solidFill>
              <a:schemeClr val="tx2"/>
            </a:solidFill>
            <a:prstDash val="solid"/>
            <a:round/>
            <a:headEnd type="none"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5" name="Straight Connector 33"/>
          <p:cNvCxnSpPr>
            <a:stCxn id="11" idx="2"/>
            <a:endCxn id="5" idx="1"/>
          </p:cNvCxnSpPr>
          <p:nvPr/>
        </p:nvCxnSpPr>
        <p:spPr bwMode="auto">
          <a:xfrm rot="5400000">
            <a:off x="5545932" y="3667126"/>
            <a:ext cx="779859" cy="10715"/>
          </a:xfrm>
          <a:prstGeom prst="bentConnector3">
            <a:avLst>
              <a:gd name="adj1" fmla="val 50000"/>
            </a:avLst>
          </a:prstGeom>
          <a:solidFill>
            <a:srgbClr val="CC99FF"/>
          </a:solidFill>
          <a:ln w="19050" cap="flat" cmpd="sng" algn="ctr">
            <a:solidFill>
              <a:schemeClr val="tx2"/>
            </a:solidFill>
            <a:prstDash val="solid"/>
            <a:round/>
            <a:headEnd type="none"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6" name="Straight Connector 33"/>
          <p:cNvCxnSpPr>
            <a:stCxn id="11" idx="2"/>
            <a:endCxn id="6" idx="1"/>
          </p:cNvCxnSpPr>
          <p:nvPr/>
        </p:nvCxnSpPr>
        <p:spPr bwMode="auto">
          <a:xfrm rot="16200000" flipH="1">
            <a:off x="6182916" y="3040857"/>
            <a:ext cx="783431" cy="1266825"/>
          </a:xfrm>
          <a:prstGeom prst="bentConnector3">
            <a:avLst>
              <a:gd name="adj1" fmla="val 50000"/>
            </a:avLst>
          </a:prstGeom>
          <a:solidFill>
            <a:srgbClr val="CC99FF"/>
          </a:solidFill>
          <a:ln w="19050" cap="flat" cmpd="sng" algn="ctr">
            <a:solidFill>
              <a:schemeClr val="tx2"/>
            </a:solidFill>
            <a:prstDash val="solid"/>
            <a:round/>
            <a:headEnd type="none" w="med" len="med"/>
            <a:tailEnd type="none"/>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8" name="Rectangle 7"/>
          <p:cNvSpPr/>
          <p:nvPr/>
        </p:nvSpPr>
        <p:spPr>
          <a:xfrm>
            <a:off x="4335066" y="3558778"/>
            <a:ext cx="3406378" cy="290513"/>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r>
              <a:rPr lang="en-US" sz="1350" dirty="0">
                <a:solidFill>
                  <a:srgbClr val="1F497D"/>
                </a:solidFill>
                <a:latin typeface="Calibri"/>
                <a:cs typeface="Calibri"/>
              </a:rPr>
              <a:t>Information Virtualization</a:t>
            </a:r>
          </a:p>
        </p:txBody>
      </p:sp>
      <p:cxnSp>
        <p:nvCxnSpPr>
          <p:cNvPr id="3" name="Elbow Connector 2"/>
          <p:cNvCxnSpPr>
            <a:stCxn id="4" idx="2"/>
            <a:endCxn id="48141" idx="2"/>
          </p:cNvCxnSpPr>
          <p:nvPr/>
        </p:nvCxnSpPr>
        <p:spPr bwMode="auto">
          <a:xfrm rot="10800000">
            <a:off x="3262313" y="3255169"/>
            <a:ext cx="1075135" cy="1109663"/>
          </a:xfrm>
          <a:prstGeom prst="bentConnector2">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9" name="Elbow Connector 8"/>
          <p:cNvCxnSpPr>
            <a:stCxn id="38" idx="3"/>
            <a:endCxn id="11" idx="1"/>
          </p:cNvCxnSpPr>
          <p:nvPr/>
        </p:nvCxnSpPr>
        <p:spPr bwMode="auto">
          <a:xfrm>
            <a:off x="4711304" y="2525316"/>
            <a:ext cx="769144" cy="433388"/>
          </a:xfrm>
          <a:prstGeom prst="bentConnector3">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pic>
        <p:nvPicPr>
          <p:cNvPr id="48141"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6179" y="1689497"/>
            <a:ext cx="2912269" cy="1565672"/>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pic>
      <p:sp>
        <p:nvSpPr>
          <p:cNvPr id="38" name="Rounded Rectangle 37"/>
          <p:cNvSpPr/>
          <p:nvPr/>
        </p:nvSpPr>
        <p:spPr>
          <a:xfrm>
            <a:off x="2868216" y="2300288"/>
            <a:ext cx="1843088" cy="448866"/>
          </a:xfrm>
          <a:prstGeom prst="roundRect">
            <a:avLst/>
          </a:prstGeom>
          <a:noFill/>
          <a:ln>
            <a:solidFill>
              <a:srgbClr val="800000"/>
            </a:solidFill>
          </a:ln>
        </p:spPr>
        <p:style>
          <a:lnRef idx="1">
            <a:schemeClr val="accent1"/>
          </a:lnRef>
          <a:fillRef idx="3">
            <a:schemeClr val="accent1"/>
          </a:fillRef>
          <a:effectRef idx="2">
            <a:schemeClr val="accent1"/>
          </a:effectRef>
          <a:fontRef idx="minor">
            <a:schemeClr val="lt1"/>
          </a:fontRef>
        </p:style>
        <p:txBody>
          <a:bodyPr lIns="68576" tIns="34289" rIns="68576" bIns="34289" anchor="ctr"/>
          <a:lstStyle/>
          <a:p>
            <a:pPr algn="ctr" defTabSz="342883">
              <a:defRPr/>
            </a:pPr>
            <a:endParaRPr lang="en-US" sz="1350" dirty="0">
              <a:solidFill>
                <a:srgbClr val="1F497D"/>
              </a:solidFill>
              <a:latin typeface="Calibri"/>
              <a:cs typeface="Calibri"/>
            </a:endParaRPr>
          </a:p>
        </p:txBody>
      </p:sp>
    </p:spTree>
    <p:extLst>
      <p:ext uri="{BB962C8B-B14F-4D97-AF65-F5344CB8AC3E}">
        <p14:creationId xmlns:p14="http://schemas.microsoft.com/office/powerpoint/2010/main" val="1770335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2"/>
          <p:cNvPicPr>
            <a:picLocks noChangeAspect="1"/>
          </p:cNvPicPr>
          <p:nvPr/>
        </p:nvPicPr>
        <p:blipFill>
          <a:blip r:embed="rId2">
            <a:extLst>
              <a:ext uri="{28A0092B-C50C-407E-A947-70E740481C1C}">
                <a14:useLocalDpi xmlns:a14="http://schemas.microsoft.com/office/drawing/2010/main" val="0"/>
              </a:ext>
            </a:extLst>
          </a:blip>
          <a:srcRect t="2525"/>
          <a:stretch>
            <a:fillRect/>
          </a:stretch>
        </p:blipFill>
        <p:spPr bwMode="auto">
          <a:xfrm>
            <a:off x="3151585" y="1560910"/>
            <a:ext cx="2684859" cy="269319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9154" name="Title 1"/>
          <p:cNvSpPr>
            <a:spLocks noGrp="1"/>
          </p:cNvSpPr>
          <p:nvPr>
            <p:ph type="title"/>
          </p:nvPr>
        </p:nvSpPr>
        <p:spPr/>
        <p:txBody>
          <a:bodyPr/>
          <a:lstStyle/>
          <a:p>
            <a:r>
              <a:rPr lang="en-US">
                <a:latin typeface="Arial" charset="0"/>
                <a:ea typeface="MS PGothic" charset="0"/>
              </a:rPr>
              <a:t>Setting up and monitoring policies - summary</a:t>
            </a:r>
          </a:p>
        </p:txBody>
      </p:sp>
      <p:sp>
        <p:nvSpPr>
          <p:cNvPr id="49155" name="Rectangle 1"/>
          <p:cNvSpPr>
            <a:spLocks noChangeArrowheads="1"/>
          </p:cNvSpPr>
          <p:nvPr/>
        </p:nvSpPr>
        <p:spPr bwMode="auto">
          <a:xfrm>
            <a:off x="2638425" y="909638"/>
            <a:ext cx="1382316"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(1) Jules Keeper establishes a set of information governance principles</a:t>
            </a:r>
          </a:p>
        </p:txBody>
      </p:sp>
      <p:sp>
        <p:nvSpPr>
          <p:cNvPr id="49156" name="Rectangle 2"/>
          <p:cNvSpPr>
            <a:spLocks noChangeArrowheads="1"/>
          </p:cNvSpPr>
          <p:nvPr/>
        </p:nvSpPr>
        <p:spPr bwMode="auto">
          <a:xfrm>
            <a:off x="4130279" y="876300"/>
            <a:ext cx="240625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(2) Jules works with Ivor Padlock (Security) and Faith Keeper (Auditor) to expand the definitions of the principles to cover the security and audit requirements around information.</a:t>
            </a:r>
          </a:p>
        </p:txBody>
      </p:sp>
      <p:sp>
        <p:nvSpPr>
          <p:cNvPr id="49157" name="Rectangle 3"/>
          <p:cNvSpPr>
            <a:spLocks noChangeArrowheads="1"/>
          </p:cNvSpPr>
          <p:nvPr/>
        </p:nvSpPr>
        <p:spPr bwMode="auto">
          <a:xfrm>
            <a:off x="1246585" y="1664494"/>
            <a:ext cx="1201340" cy="1569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(3) Each of the information owners, such as Tom Tally (Accounts Manager) and Tessa Tube (Lead Researcher) work with Jules and Erin Overview (Information Architect) to consider how these principles should be implemented for their information. </a:t>
            </a:r>
          </a:p>
          <a:p>
            <a:endParaRPr lang="en-US" sz="600"/>
          </a:p>
          <a:p>
            <a:r>
              <a:rPr lang="en-US" sz="600"/>
              <a:t>They flesh out more detailed policies and rules that they will follow.  Again these are documented in the Governance catalog.</a:t>
            </a:r>
          </a:p>
        </p:txBody>
      </p:sp>
      <p:sp>
        <p:nvSpPr>
          <p:cNvPr id="49158" name="Rectangle 4"/>
          <p:cNvSpPr>
            <a:spLocks noChangeArrowheads="1"/>
          </p:cNvSpPr>
          <p:nvPr/>
        </p:nvSpPr>
        <p:spPr bwMode="auto">
          <a:xfrm>
            <a:off x="6018610" y="2016919"/>
            <a:ext cx="1770459"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(4) Erin and Peter Profile (Information Analyst) ensure information is classified correctly so they are assigned to the correct policies and rules.  The classification involves creating a basic definition to the information sources and classifying them according to their content.  </a:t>
            </a:r>
          </a:p>
        </p:txBody>
      </p:sp>
      <p:sp>
        <p:nvSpPr>
          <p:cNvPr id="49159" name="Rectangle 5"/>
          <p:cNvSpPr>
            <a:spLocks noChangeArrowheads="1"/>
          </p:cNvSpPr>
          <p:nvPr/>
        </p:nvSpPr>
        <p:spPr bwMode="auto">
          <a:xfrm>
            <a:off x="6018610" y="2678907"/>
            <a:ext cx="1750219"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(5) For important sources, Peter uses the survey framework is used to initiate deeper analysis of the information sources.   He sets this analysis up to run over night when the load on the systems is low.</a:t>
            </a:r>
          </a:p>
        </p:txBody>
      </p:sp>
      <p:sp>
        <p:nvSpPr>
          <p:cNvPr id="49160" name="Rectangle 6"/>
          <p:cNvSpPr>
            <a:spLocks noChangeArrowheads="1"/>
          </p:cNvSpPr>
          <p:nvPr/>
        </p:nvSpPr>
        <p:spPr bwMode="auto">
          <a:xfrm>
            <a:off x="6018610" y="3259931"/>
            <a:ext cx="1602581"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(6) Erin asks Polly Tasker (IT Project Manager) to get her team to implement some new quality rules and exception management capability to support the program.</a:t>
            </a:r>
          </a:p>
        </p:txBody>
      </p:sp>
      <p:sp>
        <p:nvSpPr>
          <p:cNvPr id="49161" name="Rectangle 7"/>
          <p:cNvSpPr>
            <a:spLocks noChangeArrowheads="1"/>
          </p:cNvSpPr>
          <p:nvPr/>
        </p:nvSpPr>
        <p:spPr bwMode="auto">
          <a:xfrm>
            <a:off x="3048001" y="4220766"/>
            <a:ext cx="2526506" cy="5539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(7) Individuals are given responsibility for correcting errors that are found in particular types of data.  For example, Harry Hopeful (Sales) becomes responsible for data about his customers.  He is notified when issues are discovered and he must fix them as soon as possible.</a:t>
            </a:r>
          </a:p>
        </p:txBody>
      </p:sp>
      <p:sp>
        <p:nvSpPr>
          <p:cNvPr id="49162" name="Rectangle 8"/>
          <p:cNvSpPr>
            <a:spLocks noChangeArrowheads="1"/>
          </p:cNvSpPr>
          <p:nvPr/>
        </p:nvSpPr>
        <p:spPr bwMode="auto">
          <a:xfrm>
            <a:off x="2622947" y="1237060"/>
            <a:ext cx="3851672" cy="27699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r>
              <a:rPr lang="en-US" sz="600"/>
              <a:t>(8) The summaries of the rules execution and exceptions detected are recorded for Jules to review.  He is looking for continual improvement.  He reviews the results with Erin and they plan further improvements.</a:t>
            </a:r>
          </a:p>
        </p:txBody>
      </p:sp>
    </p:spTree>
    <p:extLst>
      <p:ext uri="{BB962C8B-B14F-4D97-AF65-F5344CB8AC3E}">
        <p14:creationId xmlns:p14="http://schemas.microsoft.com/office/powerpoint/2010/main" val="2528029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Information Supply Chain Design</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37</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2198340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1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436489" y="1205945"/>
            <a:ext cx="6271022" cy="31194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1987" name="Title 2"/>
          <p:cNvSpPr>
            <a:spLocks noGrp="1"/>
          </p:cNvSpPr>
          <p:nvPr>
            <p:ph type="title"/>
          </p:nvPr>
        </p:nvSpPr>
        <p:spPr/>
        <p:txBody>
          <a:bodyPr>
            <a:normAutofit/>
          </a:bodyPr>
          <a:lstStyle/>
          <a:p>
            <a:r>
              <a:rPr lang="en-US" dirty="0">
                <a:latin typeface="Arial" charset="0"/>
                <a:ea typeface="MS PGothic" charset="0"/>
              </a:rPr>
              <a:t>Analysis of an information supply chain</a:t>
            </a:r>
          </a:p>
        </p:txBody>
      </p:sp>
    </p:spTree>
    <p:extLst>
      <p:ext uri="{BB962C8B-B14F-4D97-AF65-F5344CB8AC3E}">
        <p14:creationId xmlns:p14="http://schemas.microsoft.com/office/powerpoint/2010/main" val="2531862616"/>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09" name="Picture 93"/>
          <p:cNvPicPr>
            <a:picLocks noChangeAspect="1" noChangeArrowheads="1"/>
          </p:cNvPicPr>
          <p:nvPr/>
        </p:nvPicPr>
        <p:blipFill>
          <a:blip r:embed="rId2">
            <a:extLst>
              <a:ext uri="{28A0092B-C50C-407E-A947-70E740481C1C}">
                <a14:useLocalDpi xmlns:a14="http://schemas.microsoft.com/office/drawing/2010/main" val="0"/>
              </a:ext>
            </a:extLst>
          </a:blip>
          <a:srcRect t="-2390" b="-2948"/>
          <a:stretch>
            <a:fillRect/>
          </a:stretch>
        </p:blipFill>
        <p:spPr bwMode="auto">
          <a:xfrm>
            <a:off x="3599260" y="1959769"/>
            <a:ext cx="4181475" cy="2671763"/>
          </a:xfrm>
          <a:prstGeom prst="rect">
            <a:avLst/>
          </a:prstGeom>
          <a:noFill/>
          <a:ln w="12700" cap="rnd">
            <a:solidFill>
              <a:schemeClr val="tx2"/>
            </a:solidFill>
            <a:miter lim="800000"/>
            <a:headEnd/>
            <a:tailEnd/>
          </a:ln>
          <a:extLst>
            <a:ext uri="{909E8E84-426E-40dd-AFC4-6F175D3DCCD1}">
              <a14:hiddenFill xmlns="" xmlns:a14="http://schemas.microsoft.com/office/drawing/2010/main">
                <a:solidFill>
                  <a:schemeClr val="accent1"/>
                </a:solidFill>
              </a14:hiddenFill>
            </a:ext>
          </a:extLst>
        </p:spPr>
      </p:pic>
      <p:sp>
        <p:nvSpPr>
          <p:cNvPr id="43010" name="Title 1"/>
          <p:cNvSpPr>
            <a:spLocks noGrp="1"/>
          </p:cNvSpPr>
          <p:nvPr>
            <p:ph type="title"/>
          </p:nvPr>
        </p:nvSpPr>
        <p:spPr/>
        <p:txBody>
          <a:bodyPr/>
          <a:lstStyle/>
          <a:p>
            <a:r>
              <a:rPr lang="en-US">
                <a:latin typeface="Arial" charset="0"/>
                <a:ea typeface="MS PGothic" charset="0"/>
              </a:rPr>
              <a:t>The Custodian Ownership Model</a:t>
            </a:r>
          </a:p>
        </p:txBody>
      </p:sp>
      <p:sp>
        <p:nvSpPr>
          <p:cNvPr id="2" name="Content Placeholder 1">
            <a:extLst>
              <a:ext uri="{FF2B5EF4-FFF2-40B4-BE49-F238E27FC236}">
                <a16:creationId xmlns:a16="http://schemas.microsoft.com/office/drawing/2014/main" id="{C796AA3A-88ED-FA4F-A9A3-6C905103FD87}"/>
              </a:ext>
            </a:extLst>
          </p:cNvPr>
          <p:cNvSpPr>
            <a:spLocks noGrp="1"/>
          </p:cNvSpPr>
          <p:nvPr>
            <p:ph idx="1"/>
          </p:nvPr>
        </p:nvSpPr>
        <p:spPr/>
        <p:txBody>
          <a:bodyPr>
            <a:normAutofit fontScale="70000" lnSpcReduction="20000"/>
          </a:bodyPr>
          <a:lstStyle/>
          <a:p>
            <a:pPr marL="261938" indent="-150019" defTabSz="481013">
              <a:defRPr/>
            </a:pPr>
            <a:r>
              <a:rPr lang="en-US" dirty="0">
                <a:solidFill>
                  <a:schemeClr val="accent4"/>
                </a:solidFill>
                <a:latin typeface="Calibri" charset="0"/>
                <a:ea typeface="ヒラギノ角ゴ ProN W3" charset="0"/>
                <a:cs typeface="ヒラギノ角ゴ ProN W3" charset="0"/>
                <a:sym typeface="Gill Sans" charset="0"/>
              </a:rPr>
              <a:t>The custodian model states that the responsibility for data quality is with the owner of the system where it resides.  </a:t>
            </a:r>
          </a:p>
          <a:p>
            <a:pPr marL="261938" indent="-150019" defTabSz="481013">
              <a:defRPr/>
            </a:pPr>
            <a:r>
              <a:rPr lang="en-US" dirty="0">
                <a:solidFill>
                  <a:schemeClr val="accent4"/>
                </a:solidFill>
                <a:latin typeface="Calibri" charset="0"/>
                <a:ea typeface="ヒラギノ角ゴ ProN W3" charset="0"/>
                <a:cs typeface="ヒラギノ角ゴ ProN W3" charset="0"/>
                <a:sym typeface="Gill Sans" charset="0"/>
              </a:rPr>
              <a:t>When data passes from one system to another, the source owner is responsible for supplying high quality data, but once it is stored in the target system then the owner of the target system is now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responsible for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data quality of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received values. </a:t>
            </a:r>
          </a:p>
          <a:p>
            <a:pPr marL="261938" indent="-150019" defTabSz="481013">
              <a:defRPr/>
            </a:pPr>
            <a:r>
              <a:rPr lang="en-US" dirty="0">
                <a:solidFill>
                  <a:schemeClr val="accent4"/>
                </a:solidFill>
                <a:latin typeface="Calibri" charset="0"/>
                <a:ea typeface="ヒラギノ角ゴ ProN W3" charset="0"/>
                <a:cs typeface="ヒラギノ角ゴ ProN W3" charset="0"/>
                <a:sym typeface="Gill Sans" charset="0"/>
              </a:rPr>
              <a:t>In the picture, each of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the areas in the grid is a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different zone and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systems within each zone</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 have their own team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managing the information. </a:t>
            </a:r>
          </a:p>
          <a:p>
            <a:pPr marL="261938" indent="-150019" defTabSz="481013">
              <a:defRPr/>
            </a:pPr>
            <a:r>
              <a:rPr lang="en-US" dirty="0">
                <a:solidFill>
                  <a:schemeClr val="accent4"/>
                </a:solidFill>
                <a:latin typeface="Calibri" charset="0"/>
                <a:ea typeface="ヒラギノ角ゴ ProN W3" charset="0"/>
                <a:cs typeface="ヒラギノ角ゴ ProN W3" charset="0"/>
                <a:sym typeface="Gill Sans" charset="0"/>
              </a:rPr>
              <a:t>The crossing points of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connections between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systems is where the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responsibility is passed to </a:t>
            </a:r>
            <a:br>
              <a:rPr lang="en-US" dirty="0">
                <a:solidFill>
                  <a:schemeClr val="accent4"/>
                </a:solidFill>
                <a:latin typeface="Calibri" charset="0"/>
                <a:ea typeface="ヒラギノ角ゴ ProN W3" charset="0"/>
                <a:cs typeface="ヒラギノ角ゴ ProN W3" charset="0"/>
                <a:sym typeface="Gill Sans" charset="0"/>
              </a:rPr>
            </a:br>
            <a:r>
              <a:rPr lang="en-US" dirty="0">
                <a:solidFill>
                  <a:schemeClr val="accent4"/>
                </a:solidFill>
                <a:latin typeface="Calibri" charset="0"/>
                <a:ea typeface="ヒラギノ角ゴ ProN W3" charset="0"/>
                <a:cs typeface="ヒラギノ角ゴ ProN W3" charset="0"/>
                <a:sym typeface="Gill Sans" charset="0"/>
              </a:rPr>
              <a:t>the next team.</a:t>
            </a:r>
          </a:p>
          <a:p>
            <a:endParaRPr lang="en-US" dirty="0"/>
          </a:p>
        </p:txBody>
      </p:sp>
    </p:spTree>
    <p:extLst>
      <p:ext uri="{BB962C8B-B14F-4D97-AF65-F5344CB8AC3E}">
        <p14:creationId xmlns:p14="http://schemas.microsoft.com/office/powerpoint/2010/main" val="1424550358"/>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p:txBody>
          <a:bodyPr/>
          <a:lstStyle/>
          <a:p>
            <a:r>
              <a:rPr lang="en-US">
                <a:latin typeface="Arial" charset="0"/>
                <a:ea typeface="MS PGothic" charset="0"/>
              </a:rPr>
              <a:t>Information Supply Chain</a:t>
            </a:r>
          </a:p>
        </p:txBody>
      </p:sp>
      <p:sp>
        <p:nvSpPr>
          <p:cNvPr id="63490" name="Content Placeholder 11"/>
          <p:cNvSpPr>
            <a:spLocks noGrp="1"/>
          </p:cNvSpPr>
          <p:nvPr>
            <p:ph idx="1"/>
          </p:nvPr>
        </p:nvSpPr>
        <p:spPr>
          <a:xfrm>
            <a:off x="741680" y="3925491"/>
            <a:ext cx="7087870" cy="817959"/>
          </a:xfrm>
        </p:spPr>
        <p:txBody>
          <a:bodyPr>
            <a:normAutofit lnSpcReduction="10000"/>
          </a:bodyPr>
          <a:lstStyle/>
          <a:p>
            <a:r>
              <a:rPr lang="en-US" dirty="0">
                <a:latin typeface="Calibri" charset="0"/>
                <a:ea typeface="MS PGothic" charset="0"/>
              </a:rPr>
              <a:t>Optimized to improve timeliness, remove inconsistencies, reduce cost</a:t>
            </a:r>
          </a:p>
          <a:p>
            <a:r>
              <a:rPr lang="en-US" dirty="0">
                <a:latin typeface="Calibri" charset="0"/>
                <a:ea typeface="MS PGothic" charset="0"/>
              </a:rPr>
              <a:t>Discovered through governance metadata …</a:t>
            </a:r>
          </a:p>
        </p:txBody>
      </p:sp>
      <p:sp>
        <p:nvSpPr>
          <p:cNvPr id="4" name="Rectangle 3"/>
          <p:cNvSpPr/>
          <p:nvPr/>
        </p:nvSpPr>
        <p:spPr>
          <a:xfrm>
            <a:off x="1826419" y="1639491"/>
            <a:ext cx="1240631" cy="1643063"/>
          </a:xfrm>
          <a:prstGeom prst="rect">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Operational Systems</a:t>
            </a:r>
          </a:p>
        </p:txBody>
      </p:sp>
      <p:sp>
        <p:nvSpPr>
          <p:cNvPr id="5" name="Rectangle 4"/>
          <p:cNvSpPr/>
          <p:nvPr/>
        </p:nvSpPr>
        <p:spPr>
          <a:xfrm>
            <a:off x="3167063" y="1639491"/>
            <a:ext cx="3534966" cy="1643063"/>
          </a:xfrm>
          <a:prstGeom prst="rect">
            <a:avLst/>
          </a:prstGeom>
          <a:solidFill>
            <a:schemeClr val="accent5">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Data Lake</a:t>
            </a:r>
          </a:p>
        </p:txBody>
      </p:sp>
      <p:sp>
        <p:nvSpPr>
          <p:cNvPr id="6" name="Rectangle 5"/>
          <p:cNvSpPr/>
          <p:nvPr/>
        </p:nvSpPr>
        <p:spPr>
          <a:xfrm>
            <a:off x="1826419" y="3396854"/>
            <a:ext cx="4875610" cy="350044"/>
          </a:xfrm>
          <a:prstGeom prst="rect">
            <a:avLst/>
          </a:prstGeom>
          <a:solidFill>
            <a:schemeClr val="accent3">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US" sz="1200" dirty="0">
                <a:solidFill>
                  <a:srgbClr val="1F497D"/>
                </a:solidFill>
                <a:latin typeface="Calibri"/>
                <a:cs typeface="Calibri"/>
              </a:rPr>
              <a:t>Governance Catalog (Metadata)</a:t>
            </a:r>
          </a:p>
        </p:txBody>
      </p:sp>
      <p:sp>
        <p:nvSpPr>
          <p:cNvPr id="8" name="Can 7"/>
          <p:cNvSpPr/>
          <p:nvPr/>
        </p:nvSpPr>
        <p:spPr>
          <a:xfrm>
            <a:off x="2100263" y="25729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4" name="Can 13"/>
          <p:cNvSpPr/>
          <p:nvPr/>
        </p:nvSpPr>
        <p:spPr>
          <a:xfrm>
            <a:off x="3268266" y="25646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8" name="Folded Corner 17"/>
          <p:cNvSpPr/>
          <p:nvPr/>
        </p:nvSpPr>
        <p:spPr>
          <a:xfrm>
            <a:off x="6193632" y="2122885"/>
            <a:ext cx="388144" cy="457200"/>
          </a:xfrm>
          <a:prstGeom prst="foldedCorner">
            <a:avLst/>
          </a:prstGeom>
          <a:solidFill>
            <a:schemeClr val="accent5">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0" name="Can 19"/>
          <p:cNvSpPr/>
          <p:nvPr/>
        </p:nvSpPr>
        <p:spPr>
          <a:xfrm>
            <a:off x="5391151" y="2365772"/>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1" name="Can 20"/>
          <p:cNvSpPr/>
          <p:nvPr/>
        </p:nvSpPr>
        <p:spPr>
          <a:xfrm>
            <a:off x="5391151" y="2808685"/>
            <a:ext cx="451247" cy="20121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4" name="Straight Arrow Connector 23"/>
          <p:cNvCxnSpPr>
            <a:stCxn id="22" idx="4"/>
            <a:endCxn id="20" idx="2"/>
          </p:cNvCxnSpPr>
          <p:nvPr/>
        </p:nvCxnSpPr>
        <p:spPr bwMode="auto">
          <a:xfrm flipV="1">
            <a:off x="5144691" y="2465785"/>
            <a:ext cx="246459" cy="132159"/>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5" name="Straight Arrow Connector 24"/>
          <p:cNvCxnSpPr>
            <a:stCxn id="127" idx="4"/>
            <a:endCxn id="21" idx="2"/>
          </p:cNvCxnSpPr>
          <p:nvPr/>
        </p:nvCxnSpPr>
        <p:spPr bwMode="auto">
          <a:xfrm flipV="1">
            <a:off x="5143500" y="2908697"/>
            <a:ext cx="247650" cy="10001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22" name="Can 21"/>
          <p:cNvSpPr/>
          <p:nvPr/>
        </p:nvSpPr>
        <p:spPr>
          <a:xfrm>
            <a:off x="4407694" y="2387204"/>
            <a:ext cx="736997" cy="421481"/>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8" name="Straight Arrow Connector 27"/>
          <p:cNvCxnSpPr>
            <a:stCxn id="14" idx="4"/>
            <a:endCxn id="22" idx="2"/>
          </p:cNvCxnSpPr>
          <p:nvPr/>
        </p:nvCxnSpPr>
        <p:spPr bwMode="auto">
          <a:xfrm flipV="1">
            <a:off x="3719513" y="2597944"/>
            <a:ext cx="688181" cy="666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1" name="Straight Arrow Connector 30"/>
          <p:cNvCxnSpPr>
            <a:stCxn id="15" idx="4"/>
            <a:endCxn id="22" idx="2"/>
          </p:cNvCxnSpPr>
          <p:nvPr/>
        </p:nvCxnSpPr>
        <p:spPr bwMode="auto">
          <a:xfrm flipV="1">
            <a:off x="3833813" y="2597944"/>
            <a:ext cx="573881" cy="1809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2" name="Straight Arrow Connector 31"/>
          <p:cNvCxnSpPr>
            <a:stCxn id="16" idx="4"/>
            <a:endCxn id="22" idx="2"/>
          </p:cNvCxnSpPr>
          <p:nvPr/>
        </p:nvCxnSpPr>
        <p:spPr bwMode="auto">
          <a:xfrm flipV="1">
            <a:off x="3948113" y="2597944"/>
            <a:ext cx="459581" cy="2952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3" name="Straight Arrow Connector 32"/>
          <p:cNvCxnSpPr>
            <a:stCxn id="17" idx="4"/>
            <a:endCxn id="127" idx="2"/>
          </p:cNvCxnSpPr>
          <p:nvPr/>
        </p:nvCxnSpPr>
        <p:spPr bwMode="auto">
          <a:xfrm>
            <a:off x="4062413" y="3007519"/>
            <a:ext cx="345281" cy="1191"/>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3" name="Rectangle 52"/>
          <p:cNvSpPr/>
          <p:nvPr/>
        </p:nvSpPr>
        <p:spPr>
          <a:xfrm>
            <a:off x="6244829" y="2233613"/>
            <a:ext cx="18930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57" name="Straight Arrow Connector 56"/>
          <p:cNvCxnSpPr>
            <a:stCxn id="8" idx="4"/>
            <a:endCxn id="14" idx="2"/>
          </p:cNvCxnSpPr>
          <p:nvPr/>
        </p:nvCxnSpPr>
        <p:spPr bwMode="auto">
          <a:xfrm flipV="1">
            <a:off x="2551510" y="26646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8" name="Rectangle 57"/>
          <p:cNvSpPr/>
          <p:nvPr/>
        </p:nvSpPr>
        <p:spPr>
          <a:xfrm>
            <a:off x="6240066" y="2157413"/>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59" name="Rectangle 58"/>
          <p:cNvSpPr/>
          <p:nvPr/>
        </p:nvSpPr>
        <p:spPr>
          <a:xfrm>
            <a:off x="6448426" y="2233612"/>
            <a:ext cx="89297"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0" name="Rectangle 59"/>
          <p:cNvSpPr/>
          <p:nvPr/>
        </p:nvSpPr>
        <p:spPr>
          <a:xfrm>
            <a:off x="6453187" y="2428875"/>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1" name="Folded Corner 60"/>
          <p:cNvSpPr/>
          <p:nvPr/>
        </p:nvSpPr>
        <p:spPr>
          <a:xfrm>
            <a:off x="6198394" y="2682479"/>
            <a:ext cx="388144" cy="457200"/>
          </a:xfrm>
          <a:prstGeom prst="foldedCorner">
            <a:avLst/>
          </a:prstGeom>
          <a:solidFill>
            <a:srgbClr val="DBEEF4"/>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2" name="Rectangle 61"/>
          <p:cNvSpPr/>
          <p:nvPr/>
        </p:nvSpPr>
        <p:spPr>
          <a:xfrm>
            <a:off x="6250782" y="2793207"/>
            <a:ext cx="18811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3" name="Rectangle 62"/>
          <p:cNvSpPr/>
          <p:nvPr/>
        </p:nvSpPr>
        <p:spPr>
          <a:xfrm>
            <a:off x="6246019" y="2717006"/>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4" name="Rectangle 63"/>
          <p:cNvSpPr/>
          <p:nvPr/>
        </p:nvSpPr>
        <p:spPr>
          <a:xfrm>
            <a:off x="6453187" y="2793206"/>
            <a:ext cx="90488"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5" name="Rectangle 64"/>
          <p:cNvSpPr/>
          <p:nvPr/>
        </p:nvSpPr>
        <p:spPr>
          <a:xfrm>
            <a:off x="6457950" y="2988469"/>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66" name="Straight Arrow Connector 65"/>
          <p:cNvCxnSpPr>
            <a:stCxn id="18" idx="1"/>
            <a:endCxn id="20" idx="4"/>
          </p:cNvCxnSpPr>
          <p:nvPr/>
        </p:nvCxnSpPr>
        <p:spPr bwMode="auto">
          <a:xfrm rot="10800000" flipV="1">
            <a:off x="5842397" y="2351485"/>
            <a:ext cx="351234" cy="114300"/>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9" name="Straight Arrow Connector 65"/>
          <p:cNvCxnSpPr>
            <a:stCxn id="61" idx="1"/>
            <a:endCxn id="21" idx="4"/>
          </p:cNvCxnSpPr>
          <p:nvPr/>
        </p:nvCxnSpPr>
        <p:spPr bwMode="auto">
          <a:xfrm rot="10800000">
            <a:off x="5842397" y="2908698"/>
            <a:ext cx="355997" cy="2381"/>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3518" name="Group 88"/>
          <p:cNvGrpSpPr>
            <a:grpSpLocks/>
          </p:cNvGrpSpPr>
          <p:nvPr/>
        </p:nvGrpSpPr>
        <p:grpSpPr bwMode="auto">
          <a:xfrm>
            <a:off x="6983017" y="2178844"/>
            <a:ext cx="153590" cy="280988"/>
            <a:chOff x="7802563" y="3073400"/>
            <a:chExt cx="355600" cy="654050"/>
          </a:xfrm>
        </p:grpSpPr>
        <p:sp>
          <p:nvSpPr>
            <p:cNvPr id="84" name="Delay 83"/>
            <p:cNvSpPr/>
            <p:nvPr/>
          </p:nvSpPr>
          <p:spPr bwMode="auto">
            <a:xfrm rot="16200000">
              <a:off x="7744794" y="3314081"/>
              <a:ext cx="471138" cy="355600"/>
            </a:xfrm>
            <a:prstGeom prst="flowChartDelay">
              <a:avLst/>
            </a:prstGeom>
            <a:solidFill>
              <a:schemeClr val="tx2"/>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sp>
          <p:nvSpPr>
            <p:cNvPr id="85" name="Isosceles Triangle 84"/>
            <p:cNvSpPr/>
            <p:nvPr/>
          </p:nvSpPr>
          <p:spPr>
            <a:xfrm flipV="1">
              <a:off x="7893530" y="3328369"/>
              <a:ext cx="173666" cy="155198"/>
            </a:xfrm>
            <a:prstGeom prst="triangl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dirty="0">
                <a:solidFill>
                  <a:srgbClr val="1F497D"/>
                </a:solidFill>
                <a:cs typeface="Calibri"/>
              </a:endParaRPr>
            </a:p>
          </p:txBody>
        </p:sp>
        <p:sp>
          <p:nvSpPr>
            <p:cNvPr id="86" name="Oval 85"/>
            <p:cNvSpPr/>
            <p:nvPr/>
          </p:nvSpPr>
          <p:spPr bwMode="auto">
            <a:xfrm>
              <a:off x="7827963" y="3073400"/>
              <a:ext cx="304800" cy="279400"/>
            </a:xfrm>
            <a:prstGeom prst="ellipse">
              <a:avLst/>
            </a:prstGeom>
            <a:solidFill>
              <a:schemeClr val="bg2"/>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grpSp>
      <p:cxnSp>
        <p:nvCxnSpPr>
          <p:cNvPr id="88" name="Straight Arrow Connector 87"/>
          <p:cNvCxnSpPr>
            <a:stCxn id="84" idx="0"/>
            <a:endCxn id="18" idx="3"/>
          </p:cNvCxnSpPr>
          <p:nvPr/>
        </p:nvCxnSpPr>
        <p:spPr bwMode="auto">
          <a:xfrm flipH="1" flipV="1">
            <a:off x="6581775" y="2351485"/>
            <a:ext cx="401241" cy="7144"/>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3520" name="Group 92"/>
          <p:cNvGrpSpPr>
            <a:grpSpLocks/>
          </p:cNvGrpSpPr>
          <p:nvPr/>
        </p:nvGrpSpPr>
        <p:grpSpPr bwMode="auto">
          <a:xfrm>
            <a:off x="3274219" y="2112169"/>
            <a:ext cx="526256" cy="314325"/>
            <a:chOff x="3092024" y="2506732"/>
            <a:chExt cx="700919" cy="419784"/>
          </a:xfrm>
        </p:grpSpPr>
        <p:sp>
          <p:nvSpPr>
            <p:cNvPr id="94" name="Can 93"/>
            <p:cNvSpPr/>
            <p:nvPr/>
          </p:nvSpPr>
          <p:spPr>
            <a:xfrm>
              <a:off x="3191929" y="2506732"/>
              <a:ext cx="601014"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95" name="Can 94"/>
            <p:cNvSpPr/>
            <p:nvPr/>
          </p:nvSpPr>
          <p:spPr>
            <a:xfrm>
              <a:off x="3092024" y="2659381"/>
              <a:ext cx="601015"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grpSp>
      <p:cxnSp>
        <p:nvCxnSpPr>
          <p:cNvPr id="98" name="Straight Arrow Connector 97"/>
          <p:cNvCxnSpPr>
            <a:stCxn id="94" idx="4"/>
            <a:endCxn id="22" idx="2"/>
          </p:cNvCxnSpPr>
          <p:nvPr/>
        </p:nvCxnSpPr>
        <p:spPr bwMode="auto">
          <a:xfrm>
            <a:off x="3800475" y="2212181"/>
            <a:ext cx="607219" cy="3857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1" name="Straight Arrow Connector 100"/>
          <p:cNvCxnSpPr>
            <a:stCxn id="95" idx="4"/>
            <a:endCxn id="22" idx="2"/>
          </p:cNvCxnSpPr>
          <p:nvPr/>
        </p:nvCxnSpPr>
        <p:spPr bwMode="auto">
          <a:xfrm>
            <a:off x="3725466" y="2326481"/>
            <a:ext cx="682228" cy="2714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05" name="Cube 104"/>
          <p:cNvSpPr/>
          <p:nvPr/>
        </p:nvSpPr>
        <p:spPr>
          <a:xfrm>
            <a:off x="4632723" y="1978819"/>
            <a:ext cx="311944" cy="238125"/>
          </a:xfrm>
          <a:prstGeom prst="cube">
            <a:avLst>
              <a:gd name="adj" fmla="val 11841"/>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06" name="Straight Arrow Connector 105"/>
          <p:cNvCxnSpPr>
            <a:stCxn id="105" idx="3"/>
            <a:endCxn id="22" idx="1"/>
          </p:cNvCxnSpPr>
          <p:nvPr/>
        </p:nvCxnSpPr>
        <p:spPr bwMode="auto">
          <a:xfrm>
            <a:off x="4774407" y="2216944"/>
            <a:ext cx="2381" cy="170260"/>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1" name="Rectangle 110"/>
          <p:cNvSpPr/>
          <p:nvPr/>
        </p:nvSpPr>
        <p:spPr>
          <a:xfrm>
            <a:off x="6242447" y="2274094"/>
            <a:ext cx="295275" cy="50006"/>
          </a:xfrm>
          <a:prstGeom prst="rect">
            <a:avLst/>
          </a:prstGeom>
          <a:solidFill>
            <a:srgbClr val="80000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2" name="Rectangle 111"/>
          <p:cNvSpPr/>
          <p:nvPr/>
        </p:nvSpPr>
        <p:spPr>
          <a:xfrm>
            <a:off x="5469731" y="2453879"/>
            <a:ext cx="295275" cy="50006"/>
          </a:xfrm>
          <a:prstGeom prst="rect">
            <a:avLst/>
          </a:prstGeom>
          <a:solidFill>
            <a:srgbClr val="80000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3" name="Rectangle 112"/>
          <p:cNvSpPr/>
          <p:nvPr/>
        </p:nvSpPr>
        <p:spPr>
          <a:xfrm>
            <a:off x="4623197" y="2576513"/>
            <a:ext cx="295275" cy="50006"/>
          </a:xfrm>
          <a:prstGeom prst="rect">
            <a:avLst/>
          </a:prstGeom>
          <a:solidFill>
            <a:srgbClr val="800000"/>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27" name="Can 126"/>
          <p:cNvSpPr/>
          <p:nvPr/>
        </p:nvSpPr>
        <p:spPr>
          <a:xfrm>
            <a:off x="4407694" y="2906316"/>
            <a:ext cx="735806" cy="204788"/>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0" name="Rectangle 129"/>
          <p:cNvSpPr/>
          <p:nvPr/>
        </p:nvSpPr>
        <p:spPr>
          <a:xfrm>
            <a:off x="4631532" y="3002757"/>
            <a:ext cx="29408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31" name="Straight Arrow Connector 130"/>
          <p:cNvCxnSpPr>
            <a:stCxn id="17" idx="4"/>
            <a:endCxn id="22" idx="2"/>
          </p:cNvCxnSpPr>
          <p:nvPr/>
        </p:nvCxnSpPr>
        <p:spPr bwMode="auto">
          <a:xfrm flipV="1">
            <a:off x="4062413" y="2597944"/>
            <a:ext cx="345281" cy="4095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35" name="Rectangle 134"/>
          <p:cNvSpPr/>
          <p:nvPr/>
        </p:nvSpPr>
        <p:spPr>
          <a:xfrm>
            <a:off x="5467350" y="2903935"/>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6" name="Rectangle 135"/>
          <p:cNvSpPr/>
          <p:nvPr/>
        </p:nvSpPr>
        <p:spPr>
          <a:xfrm>
            <a:off x="6247210" y="2845594"/>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7" name="Rectangle 136"/>
          <p:cNvSpPr/>
          <p:nvPr/>
        </p:nvSpPr>
        <p:spPr>
          <a:xfrm>
            <a:off x="2182416" y="2656285"/>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8" name="Rectangle 137"/>
          <p:cNvSpPr/>
          <p:nvPr/>
        </p:nvSpPr>
        <p:spPr>
          <a:xfrm>
            <a:off x="3349229" y="2647951"/>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9" name="Can 8"/>
          <p:cNvSpPr/>
          <p:nvPr/>
        </p:nvSpPr>
        <p:spPr>
          <a:xfrm>
            <a:off x="2214563" y="26872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 name="Can 9"/>
          <p:cNvSpPr/>
          <p:nvPr/>
        </p:nvSpPr>
        <p:spPr>
          <a:xfrm>
            <a:off x="2328863" y="28015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5" name="Can 14"/>
          <p:cNvSpPr/>
          <p:nvPr/>
        </p:nvSpPr>
        <p:spPr>
          <a:xfrm>
            <a:off x="3382566" y="26789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6" name="Can 15"/>
          <p:cNvSpPr/>
          <p:nvPr/>
        </p:nvSpPr>
        <p:spPr>
          <a:xfrm>
            <a:off x="3496866" y="27932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3" name="Straight Arrow Connector 42"/>
          <p:cNvCxnSpPr>
            <a:stCxn id="9" idx="4"/>
            <a:endCxn id="15" idx="2"/>
          </p:cNvCxnSpPr>
          <p:nvPr/>
        </p:nvCxnSpPr>
        <p:spPr bwMode="auto">
          <a:xfrm flipV="1">
            <a:off x="2665810" y="27789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44" name="Straight Arrow Connector 43"/>
          <p:cNvCxnSpPr>
            <a:stCxn id="10" idx="4"/>
            <a:endCxn id="16" idx="2"/>
          </p:cNvCxnSpPr>
          <p:nvPr/>
        </p:nvCxnSpPr>
        <p:spPr bwMode="auto">
          <a:xfrm flipV="1">
            <a:off x="2780110" y="28932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5" name="Rectangle 114"/>
          <p:cNvSpPr/>
          <p:nvPr/>
        </p:nvSpPr>
        <p:spPr>
          <a:xfrm>
            <a:off x="3579019" y="2878932"/>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7" name="Rectangle 116"/>
          <p:cNvSpPr/>
          <p:nvPr/>
        </p:nvSpPr>
        <p:spPr>
          <a:xfrm>
            <a:off x="2421731" y="2878932"/>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 name="Can 10"/>
          <p:cNvSpPr/>
          <p:nvPr/>
        </p:nvSpPr>
        <p:spPr>
          <a:xfrm>
            <a:off x="2443163" y="29158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7" name="Can 16"/>
          <p:cNvSpPr/>
          <p:nvPr/>
        </p:nvSpPr>
        <p:spPr>
          <a:xfrm>
            <a:off x="3611166" y="29075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5" name="Straight Arrow Connector 44"/>
          <p:cNvCxnSpPr>
            <a:stCxn id="11" idx="4"/>
            <a:endCxn id="17" idx="2"/>
          </p:cNvCxnSpPr>
          <p:nvPr/>
        </p:nvCxnSpPr>
        <p:spPr bwMode="auto">
          <a:xfrm flipV="1">
            <a:off x="2894410" y="30075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4" name="Rectangle 113"/>
          <p:cNvSpPr/>
          <p:nvPr/>
        </p:nvSpPr>
        <p:spPr>
          <a:xfrm>
            <a:off x="3694510" y="2994423"/>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6" name="Rectangle 115"/>
          <p:cNvSpPr/>
          <p:nvPr/>
        </p:nvSpPr>
        <p:spPr>
          <a:xfrm>
            <a:off x="2528888" y="3001567"/>
            <a:ext cx="295275" cy="50006"/>
          </a:xfrm>
          <a:prstGeom prst="rect">
            <a:avLst/>
          </a:prstGeom>
          <a:solidFill>
            <a:schemeClr val="accent2">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3548" name="TextBox 6"/>
          <p:cNvSpPr txBox="1">
            <a:spLocks noChangeArrowheads="1"/>
          </p:cNvSpPr>
          <p:nvPr/>
        </p:nvSpPr>
        <p:spPr bwMode="auto">
          <a:xfrm>
            <a:off x="613172" y="882698"/>
            <a:ext cx="527923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i="1" dirty="0">
                <a:solidFill>
                  <a:schemeClr val="tx2"/>
                </a:solidFill>
                <a:latin typeface="Calibri" charset="0"/>
              </a:rPr>
              <a:t>The end to end flow of a particular type of data.</a:t>
            </a:r>
          </a:p>
        </p:txBody>
      </p:sp>
    </p:spTree>
    <p:extLst>
      <p:ext uri="{BB962C8B-B14F-4D97-AF65-F5344CB8AC3E}">
        <p14:creationId xmlns:p14="http://schemas.microsoft.com/office/powerpoint/2010/main" val="2009819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animBg="1"/>
      <p:bldP spid="112" grpId="0" animBg="1"/>
      <p:bldP spid="113" grpId="0" animBg="1"/>
      <p:bldP spid="130" grpId="0" animBg="1"/>
      <p:bldP spid="135" grpId="0" animBg="1"/>
      <p:bldP spid="136" grpId="0" animBg="1"/>
      <p:bldP spid="137" grpId="0" animBg="1"/>
      <p:bldP spid="138" grpId="0" animBg="1"/>
      <p:bldP spid="115" grpId="0" animBg="1"/>
      <p:bldP spid="117" grpId="0" animBg="1"/>
      <p:bldP spid="114" grpId="0" animBg="1"/>
      <p:bldP spid="116"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r>
              <a:rPr lang="en-US" dirty="0">
                <a:latin typeface="Arial" charset="0"/>
                <a:ea typeface="MS PGothic" charset="0"/>
              </a:rPr>
              <a:t>Glossary Terms</a:t>
            </a:r>
          </a:p>
        </p:txBody>
      </p:sp>
      <p:sp>
        <p:nvSpPr>
          <p:cNvPr id="4" name="Rectangle 3"/>
          <p:cNvSpPr/>
          <p:nvPr/>
        </p:nvSpPr>
        <p:spPr>
          <a:xfrm>
            <a:off x="1826419" y="1639491"/>
            <a:ext cx="1240631" cy="1643063"/>
          </a:xfrm>
          <a:prstGeom prst="rect">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Operational Systems</a:t>
            </a:r>
          </a:p>
        </p:txBody>
      </p:sp>
      <p:sp>
        <p:nvSpPr>
          <p:cNvPr id="5" name="Rectangle 4"/>
          <p:cNvSpPr/>
          <p:nvPr/>
        </p:nvSpPr>
        <p:spPr>
          <a:xfrm>
            <a:off x="3167063" y="1639491"/>
            <a:ext cx="3534966" cy="1643063"/>
          </a:xfrm>
          <a:prstGeom prst="rect">
            <a:avLst/>
          </a:prstGeom>
          <a:solidFill>
            <a:schemeClr val="accent5">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Data Lake</a:t>
            </a:r>
          </a:p>
        </p:txBody>
      </p:sp>
      <p:sp>
        <p:nvSpPr>
          <p:cNvPr id="6" name="Rectangle 5"/>
          <p:cNvSpPr/>
          <p:nvPr/>
        </p:nvSpPr>
        <p:spPr>
          <a:xfrm>
            <a:off x="1826419" y="3396854"/>
            <a:ext cx="4875610" cy="446484"/>
          </a:xfrm>
          <a:prstGeom prst="rect">
            <a:avLst/>
          </a:prstGeom>
          <a:solidFill>
            <a:schemeClr val="accent3">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defRPr/>
            </a:pPr>
            <a:r>
              <a:rPr lang="en-US" sz="1200" dirty="0">
                <a:solidFill>
                  <a:srgbClr val="1F497D"/>
                </a:solidFill>
                <a:latin typeface="Calibri"/>
                <a:cs typeface="Calibri"/>
              </a:rPr>
              <a:t>Governance Catalog</a:t>
            </a:r>
          </a:p>
          <a:p>
            <a:pPr>
              <a:defRPr/>
            </a:pPr>
            <a:r>
              <a:rPr lang="en-US" sz="1200" dirty="0">
                <a:solidFill>
                  <a:srgbClr val="1F497D"/>
                </a:solidFill>
                <a:latin typeface="Calibri"/>
                <a:cs typeface="Calibri"/>
              </a:rPr>
              <a:t>(Metadata)</a:t>
            </a:r>
          </a:p>
        </p:txBody>
      </p:sp>
      <p:sp>
        <p:nvSpPr>
          <p:cNvPr id="8" name="Can 7"/>
          <p:cNvSpPr/>
          <p:nvPr/>
        </p:nvSpPr>
        <p:spPr>
          <a:xfrm>
            <a:off x="2100263" y="25729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4" name="Can 13"/>
          <p:cNvSpPr/>
          <p:nvPr/>
        </p:nvSpPr>
        <p:spPr>
          <a:xfrm>
            <a:off x="3268266" y="25646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8" name="Folded Corner 17"/>
          <p:cNvSpPr/>
          <p:nvPr/>
        </p:nvSpPr>
        <p:spPr>
          <a:xfrm>
            <a:off x="6193632" y="2122885"/>
            <a:ext cx="388144" cy="457200"/>
          </a:xfrm>
          <a:prstGeom prst="foldedCorner">
            <a:avLst/>
          </a:prstGeom>
          <a:solidFill>
            <a:schemeClr val="accent5">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0" name="Can 19"/>
          <p:cNvSpPr/>
          <p:nvPr/>
        </p:nvSpPr>
        <p:spPr>
          <a:xfrm>
            <a:off x="5391151" y="2365772"/>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1" name="Can 20"/>
          <p:cNvSpPr/>
          <p:nvPr/>
        </p:nvSpPr>
        <p:spPr>
          <a:xfrm>
            <a:off x="5391151" y="2808685"/>
            <a:ext cx="451247" cy="20121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4" name="Straight Arrow Connector 23"/>
          <p:cNvCxnSpPr>
            <a:stCxn id="22" idx="4"/>
            <a:endCxn id="20" idx="2"/>
          </p:cNvCxnSpPr>
          <p:nvPr/>
        </p:nvCxnSpPr>
        <p:spPr bwMode="auto">
          <a:xfrm flipV="1">
            <a:off x="5144691" y="2465785"/>
            <a:ext cx="246459" cy="132159"/>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5" name="Straight Arrow Connector 24"/>
          <p:cNvCxnSpPr>
            <a:stCxn id="127" idx="4"/>
            <a:endCxn id="21" idx="2"/>
          </p:cNvCxnSpPr>
          <p:nvPr/>
        </p:nvCxnSpPr>
        <p:spPr bwMode="auto">
          <a:xfrm flipV="1">
            <a:off x="5143500" y="2908697"/>
            <a:ext cx="247650" cy="10001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22" name="Can 21"/>
          <p:cNvSpPr/>
          <p:nvPr/>
        </p:nvSpPr>
        <p:spPr>
          <a:xfrm>
            <a:off x="4407694" y="2387204"/>
            <a:ext cx="736997" cy="421481"/>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8" name="Straight Arrow Connector 27"/>
          <p:cNvCxnSpPr>
            <a:stCxn id="14" idx="4"/>
            <a:endCxn id="22" idx="2"/>
          </p:cNvCxnSpPr>
          <p:nvPr/>
        </p:nvCxnSpPr>
        <p:spPr bwMode="auto">
          <a:xfrm flipV="1">
            <a:off x="3719513" y="2597944"/>
            <a:ext cx="688181" cy="666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1" name="Straight Arrow Connector 30"/>
          <p:cNvCxnSpPr>
            <a:stCxn id="15" idx="4"/>
            <a:endCxn id="22" idx="2"/>
          </p:cNvCxnSpPr>
          <p:nvPr/>
        </p:nvCxnSpPr>
        <p:spPr bwMode="auto">
          <a:xfrm flipV="1">
            <a:off x="3833813" y="2597944"/>
            <a:ext cx="573881" cy="1809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2" name="Straight Arrow Connector 31"/>
          <p:cNvCxnSpPr>
            <a:stCxn id="16" idx="4"/>
            <a:endCxn id="22" idx="2"/>
          </p:cNvCxnSpPr>
          <p:nvPr/>
        </p:nvCxnSpPr>
        <p:spPr bwMode="auto">
          <a:xfrm flipV="1">
            <a:off x="3948113" y="2597944"/>
            <a:ext cx="459581" cy="2952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3" name="Straight Arrow Connector 32"/>
          <p:cNvCxnSpPr>
            <a:stCxn id="17" idx="4"/>
            <a:endCxn id="127" idx="2"/>
          </p:cNvCxnSpPr>
          <p:nvPr/>
        </p:nvCxnSpPr>
        <p:spPr bwMode="auto">
          <a:xfrm>
            <a:off x="4062413" y="3007519"/>
            <a:ext cx="345281" cy="1191"/>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3" name="Rectangle 52"/>
          <p:cNvSpPr/>
          <p:nvPr/>
        </p:nvSpPr>
        <p:spPr>
          <a:xfrm>
            <a:off x="6244829" y="2233613"/>
            <a:ext cx="18930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57" name="Straight Arrow Connector 56"/>
          <p:cNvCxnSpPr>
            <a:stCxn id="8" idx="4"/>
            <a:endCxn id="14" idx="2"/>
          </p:cNvCxnSpPr>
          <p:nvPr/>
        </p:nvCxnSpPr>
        <p:spPr bwMode="auto">
          <a:xfrm flipV="1">
            <a:off x="2551510" y="26646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8" name="Rectangle 57"/>
          <p:cNvSpPr/>
          <p:nvPr/>
        </p:nvSpPr>
        <p:spPr>
          <a:xfrm>
            <a:off x="6240066" y="2157413"/>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59" name="Rectangle 58"/>
          <p:cNvSpPr/>
          <p:nvPr/>
        </p:nvSpPr>
        <p:spPr>
          <a:xfrm>
            <a:off x="6448426" y="2233612"/>
            <a:ext cx="89297"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0" name="Rectangle 59"/>
          <p:cNvSpPr/>
          <p:nvPr/>
        </p:nvSpPr>
        <p:spPr>
          <a:xfrm>
            <a:off x="6453187" y="2428875"/>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1" name="Folded Corner 60"/>
          <p:cNvSpPr/>
          <p:nvPr/>
        </p:nvSpPr>
        <p:spPr>
          <a:xfrm>
            <a:off x="6198394" y="2682479"/>
            <a:ext cx="388144" cy="457200"/>
          </a:xfrm>
          <a:prstGeom prst="foldedCorner">
            <a:avLst/>
          </a:prstGeom>
          <a:solidFill>
            <a:srgbClr val="DBEEF4"/>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2" name="Rectangle 61"/>
          <p:cNvSpPr/>
          <p:nvPr/>
        </p:nvSpPr>
        <p:spPr>
          <a:xfrm>
            <a:off x="6250782" y="2793207"/>
            <a:ext cx="18811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3" name="Rectangle 62"/>
          <p:cNvSpPr/>
          <p:nvPr/>
        </p:nvSpPr>
        <p:spPr>
          <a:xfrm>
            <a:off x="6246019" y="2717006"/>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4" name="Rectangle 63"/>
          <p:cNvSpPr/>
          <p:nvPr/>
        </p:nvSpPr>
        <p:spPr>
          <a:xfrm>
            <a:off x="6453187" y="2793206"/>
            <a:ext cx="90488"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5" name="Rectangle 64"/>
          <p:cNvSpPr/>
          <p:nvPr/>
        </p:nvSpPr>
        <p:spPr>
          <a:xfrm>
            <a:off x="6457950" y="2988469"/>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66" name="Straight Arrow Connector 65"/>
          <p:cNvCxnSpPr>
            <a:stCxn id="18" idx="1"/>
            <a:endCxn id="20" idx="4"/>
          </p:cNvCxnSpPr>
          <p:nvPr/>
        </p:nvCxnSpPr>
        <p:spPr bwMode="auto">
          <a:xfrm rot="10800000" flipV="1">
            <a:off x="5842397" y="2351485"/>
            <a:ext cx="351234" cy="114300"/>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9" name="Straight Arrow Connector 65"/>
          <p:cNvCxnSpPr>
            <a:stCxn id="61" idx="1"/>
            <a:endCxn id="21" idx="4"/>
          </p:cNvCxnSpPr>
          <p:nvPr/>
        </p:nvCxnSpPr>
        <p:spPr bwMode="auto">
          <a:xfrm rot="10800000">
            <a:off x="5842397" y="2908698"/>
            <a:ext cx="355997" cy="2381"/>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4541" name="Group 88"/>
          <p:cNvGrpSpPr>
            <a:grpSpLocks/>
          </p:cNvGrpSpPr>
          <p:nvPr/>
        </p:nvGrpSpPr>
        <p:grpSpPr bwMode="auto">
          <a:xfrm>
            <a:off x="6983017" y="2178844"/>
            <a:ext cx="153590" cy="280988"/>
            <a:chOff x="7802563" y="3073400"/>
            <a:chExt cx="355600" cy="654050"/>
          </a:xfrm>
        </p:grpSpPr>
        <p:sp>
          <p:nvSpPr>
            <p:cNvPr id="84" name="Delay 83"/>
            <p:cNvSpPr/>
            <p:nvPr/>
          </p:nvSpPr>
          <p:spPr bwMode="auto">
            <a:xfrm rot="16200000">
              <a:off x="7744794" y="3314081"/>
              <a:ext cx="471138" cy="355600"/>
            </a:xfrm>
            <a:prstGeom prst="flowChartDelay">
              <a:avLst/>
            </a:prstGeom>
            <a:solidFill>
              <a:schemeClr val="tx2"/>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sp>
          <p:nvSpPr>
            <p:cNvPr id="85" name="Isosceles Triangle 84"/>
            <p:cNvSpPr/>
            <p:nvPr/>
          </p:nvSpPr>
          <p:spPr>
            <a:xfrm flipV="1">
              <a:off x="7893530" y="3328369"/>
              <a:ext cx="173666" cy="155198"/>
            </a:xfrm>
            <a:prstGeom prst="triangl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dirty="0">
                <a:solidFill>
                  <a:srgbClr val="1F497D"/>
                </a:solidFill>
                <a:cs typeface="Calibri"/>
              </a:endParaRPr>
            </a:p>
          </p:txBody>
        </p:sp>
        <p:sp>
          <p:nvSpPr>
            <p:cNvPr id="86" name="Oval 85"/>
            <p:cNvSpPr/>
            <p:nvPr/>
          </p:nvSpPr>
          <p:spPr bwMode="auto">
            <a:xfrm>
              <a:off x="7827963" y="3073400"/>
              <a:ext cx="304800" cy="279400"/>
            </a:xfrm>
            <a:prstGeom prst="ellipse">
              <a:avLst/>
            </a:prstGeom>
            <a:solidFill>
              <a:schemeClr val="bg2"/>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grpSp>
      <p:cxnSp>
        <p:nvCxnSpPr>
          <p:cNvPr id="88" name="Straight Arrow Connector 87"/>
          <p:cNvCxnSpPr>
            <a:stCxn id="84" idx="0"/>
            <a:endCxn id="18" idx="3"/>
          </p:cNvCxnSpPr>
          <p:nvPr/>
        </p:nvCxnSpPr>
        <p:spPr bwMode="auto">
          <a:xfrm flipH="1" flipV="1">
            <a:off x="6581775" y="2351485"/>
            <a:ext cx="401241" cy="7144"/>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4543" name="Group 92"/>
          <p:cNvGrpSpPr>
            <a:grpSpLocks/>
          </p:cNvGrpSpPr>
          <p:nvPr/>
        </p:nvGrpSpPr>
        <p:grpSpPr bwMode="auto">
          <a:xfrm>
            <a:off x="3274219" y="2112169"/>
            <a:ext cx="526256" cy="314325"/>
            <a:chOff x="3092024" y="2506732"/>
            <a:chExt cx="700919" cy="419784"/>
          </a:xfrm>
        </p:grpSpPr>
        <p:sp>
          <p:nvSpPr>
            <p:cNvPr id="94" name="Can 93"/>
            <p:cNvSpPr/>
            <p:nvPr/>
          </p:nvSpPr>
          <p:spPr>
            <a:xfrm>
              <a:off x="3191929" y="2506732"/>
              <a:ext cx="601014"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95" name="Can 94"/>
            <p:cNvSpPr/>
            <p:nvPr/>
          </p:nvSpPr>
          <p:spPr>
            <a:xfrm>
              <a:off x="3092024" y="2659381"/>
              <a:ext cx="601015"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grpSp>
      <p:cxnSp>
        <p:nvCxnSpPr>
          <p:cNvPr id="98" name="Straight Arrow Connector 97"/>
          <p:cNvCxnSpPr>
            <a:stCxn id="94" idx="4"/>
            <a:endCxn id="22" idx="2"/>
          </p:cNvCxnSpPr>
          <p:nvPr/>
        </p:nvCxnSpPr>
        <p:spPr bwMode="auto">
          <a:xfrm>
            <a:off x="3800475" y="2212181"/>
            <a:ext cx="607219" cy="3857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1" name="Straight Arrow Connector 100"/>
          <p:cNvCxnSpPr>
            <a:stCxn id="95" idx="4"/>
            <a:endCxn id="22" idx="2"/>
          </p:cNvCxnSpPr>
          <p:nvPr/>
        </p:nvCxnSpPr>
        <p:spPr bwMode="auto">
          <a:xfrm>
            <a:off x="3725466" y="2326481"/>
            <a:ext cx="682228" cy="2714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05" name="Cube 104"/>
          <p:cNvSpPr/>
          <p:nvPr/>
        </p:nvSpPr>
        <p:spPr>
          <a:xfrm>
            <a:off x="4632723" y="1978819"/>
            <a:ext cx="311944" cy="238125"/>
          </a:xfrm>
          <a:prstGeom prst="cube">
            <a:avLst>
              <a:gd name="adj" fmla="val 11841"/>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06" name="Straight Arrow Connector 105"/>
          <p:cNvCxnSpPr>
            <a:stCxn id="105" idx="3"/>
            <a:endCxn id="22" idx="1"/>
          </p:cNvCxnSpPr>
          <p:nvPr/>
        </p:nvCxnSpPr>
        <p:spPr bwMode="auto">
          <a:xfrm>
            <a:off x="4774407" y="2216944"/>
            <a:ext cx="2381" cy="170260"/>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27" name="Can 126"/>
          <p:cNvSpPr/>
          <p:nvPr/>
        </p:nvSpPr>
        <p:spPr>
          <a:xfrm>
            <a:off x="4407694" y="2906316"/>
            <a:ext cx="735806" cy="204788"/>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31" name="Straight Arrow Connector 130"/>
          <p:cNvCxnSpPr>
            <a:stCxn id="17" idx="4"/>
            <a:endCxn id="22" idx="2"/>
          </p:cNvCxnSpPr>
          <p:nvPr/>
        </p:nvCxnSpPr>
        <p:spPr bwMode="auto">
          <a:xfrm flipV="1">
            <a:off x="4062413" y="2597944"/>
            <a:ext cx="345281" cy="4095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 name="Can 8"/>
          <p:cNvSpPr/>
          <p:nvPr/>
        </p:nvSpPr>
        <p:spPr>
          <a:xfrm>
            <a:off x="2214563" y="26872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 name="Can 9"/>
          <p:cNvSpPr/>
          <p:nvPr/>
        </p:nvSpPr>
        <p:spPr>
          <a:xfrm>
            <a:off x="2328863" y="28015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5" name="Can 14"/>
          <p:cNvSpPr/>
          <p:nvPr/>
        </p:nvSpPr>
        <p:spPr>
          <a:xfrm>
            <a:off x="3382566" y="26789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6" name="Can 15"/>
          <p:cNvSpPr/>
          <p:nvPr/>
        </p:nvSpPr>
        <p:spPr>
          <a:xfrm>
            <a:off x="3496866" y="27932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3" name="Straight Arrow Connector 42"/>
          <p:cNvCxnSpPr>
            <a:stCxn id="9" idx="4"/>
            <a:endCxn id="15" idx="2"/>
          </p:cNvCxnSpPr>
          <p:nvPr/>
        </p:nvCxnSpPr>
        <p:spPr bwMode="auto">
          <a:xfrm flipV="1">
            <a:off x="2665810" y="27789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44" name="Straight Arrow Connector 43"/>
          <p:cNvCxnSpPr>
            <a:stCxn id="10" idx="4"/>
            <a:endCxn id="16" idx="2"/>
          </p:cNvCxnSpPr>
          <p:nvPr/>
        </p:nvCxnSpPr>
        <p:spPr bwMode="auto">
          <a:xfrm flipV="1">
            <a:off x="2780110" y="28932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 name="Can 10"/>
          <p:cNvSpPr/>
          <p:nvPr/>
        </p:nvSpPr>
        <p:spPr>
          <a:xfrm>
            <a:off x="2443163" y="29158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7" name="Can 16"/>
          <p:cNvSpPr/>
          <p:nvPr/>
        </p:nvSpPr>
        <p:spPr>
          <a:xfrm>
            <a:off x="3611166" y="29075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5" name="Straight Arrow Connector 44"/>
          <p:cNvCxnSpPr>
            <a:stCxn id="11" idx="4"/>
            <a:endCxn id="17" idx="2"/>
          </p:cNvCxnSpPr>
          <p:nvPr/>
        </p:nvCxnSpPr>
        <p:spPr bwMode="auto">
          <a:xfrm flipV="1">
            <a:off x="2894410" y="30075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pic>
        <p:nvPicPr>
          <p:cNvPr id="64559" name="Picture 2" descr="EAD Business Term.tif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20841" y="3988594"/>
            <a:ext cx="1479947" cy="9382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11" name="Rectangle 110"/>
          <p:cNvSpPr/>
          <p:nvPr/>
        </p:nvSpPr>
        <p:spPr>
          <a:xfrm>
            <a:off x="6242447" y="2274094"/>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2" name="Rectangle 111"/>
          <p:cNvSpPr/>
          <p:nvPr/>
        </p:nvSpPr>
        <p:spPr>
          <a:xfrm>
            <a:off x="5469731" y="2453879"/>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3" name="Rectangle 112"/>
          <p:cNvSpPr/>
          <p:nvPr/>
        </p:nvSpPr>
        <p:spPr>
          <a:xfrm>
            <a:off x="4623197" y="2576513"/>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0" name="Rectangle 129"/>
          <p:cNvSpPr/>
          <p:nvPr/>
        </p:nvSpPr>
        <p:spPr>
          <a:xfrm>
            <a:off x="4631532" y="3002757"/>
            <a:ext cx="29408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5" name="Rectangle 134"/>
          <p:cNvSpPr/>
          <p:nvPr/>
        </p:nvSpPr>
        <p:spPr>
          <a:xfrm>
            <a:off x="5467350" y="2903935"/>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6" name="Rectangle 135"/>
          <p:cNvSpPr/>
          <p:nvPr/>
        </p:nvSpPr>
        <p:spPr>
          <a:xfrm>
            <a:off x="6247210" y="2845594"/>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7" name="Rectangle 136"/>
          <p:cNvSpPr/>
          <p:nvPr/>
        </p:nvSpPr>
        <p:spPr>
          <a:xfrm>
            <a:off x="2182416" y="2656285"/>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8" name="Rectangle 137"/>
          <p:cNvSpPr/>
          <p:nvPr/>
        </p:nvSpPr>
        <p:spPr>
          <a:xfrm>
            <a:off x="3349229" y="2647951"/>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5" name="Rectangle 114"/>
          <p:cNvSpPr/>
          <p:nvPr/>
        </p:nvSpPr>
        <p:spPr>
          <a:xfrm>
            <a:off x="3579019" y="2878932"/>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7" name="Rectangle 116"/>
          <p:cNvSpPr/>
          <p:nvPr/>
        </p:nvSpPr>
        <p:spPr>
          <a:xfrm>
            <a:off x="2421731" y="2878932"/>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4" name="Rectangle 113"/>
          <p:cNvSpPr/>
          <p:nvPr/>
        </p:nvSpPr>
        <p:spPr>
          <a:xfrm>
            <a:off x="3694510" y="2994423"/>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6" name="Rectangle 115"/>
          <p:cNvSpPr/>
          <p:nvPr/>
        </p:nvSpPr>
        <p:spPr>
          <a:xfrm>
            <a:off x="2528888" y="3001567"/>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2" name="Straight Arrow Connector 11"/>
          <p:cNvCxnSpPr>
            <a:stCxn id="90" idx="0"/>
            <a:endCxn id="130" idx="2"/>
          </p:cNvCxnSpPr>
          <p:nvPr/>
        </p:nvCxnSpPr>
        <p:spPr bwMode="auto">
          <a:xfrm flipH="1" flipV="1">
            <a:off x="4777979" y="3052762"/>
            <a:ext cx="835819" cy="453629"/>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8" name="Straight Arrow Connector 67"/>
          <p:cNvCxnSpPr>
            <a:stCxn id="90" idx="0"/>
            <a:endCxn id="112" idx="2"/>
          </p:cNvCxnSpPr>
          <p:nvPr/>
        </p:nvCxnSpPr>
        <p:spPr bwMode="auto">
          <a:xfrm flipV="1">
            <a:off x="5613797" y="2503885"/>
            <a:ext cx="3572" cy="1002506"/>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0" name="Straight Arrow Connector 69"/>
          <p:cNvCxnSpPr>
            <a:stCxn id="90" idx="0"/>
            <a:endCxn id="111" idx="2"/>
          </p:cNvCxnSpPr>
          <p:nvPr/>
        </p:nvCxnSpPr>
        <p:spPr bwMode="auto">
          <a:xfrm flipV="1">
            <a:off x="5613797" y="2324100"/>
            <a:ext cx="776288" cy="1182291"/>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1" name="Straight Arrow Connector 70"/>
          <p:cNvCxnSpPr>
            <a:stCxn id="90" idx="0"/>
            <a:endCxn id="113" idx="2"/>
          </p:cNvCxnSpPr>
          <p:nvPr/>
        </p:nvCxnSpPr>
        <p:spPr bwMode="auto">
          <a:xfrm flipH="1" flipV="1">
            <a:off x="4770835" y="2626519"/>
            <a:ext cx="842963" cy="879872"/>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2" name="Straight Arrow Connector 71"/>
          <p:cNvCxnSpPr>
            <a:stCxn id="90" idx="0"/>
            <a:endCxn id="114" idx="2"/>
          </p:cNvCxnSpPr>
          <p:nvPr/>
        </p:nvCxnSpPr>
        <p:spPr bwMode="auto">
          <a:xfrm flipH="1" flipV="1">
            <a:off x="3842147" y="3044428"/>
            <a:ext cx="1771650" cy="461963"/>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3" name="Straight Arrow Connector 72"/>
          <p:cNvCxnSpPr>
            <a:stCxn id="90" idx="0"/>
            <a:endCxn id="115" idx="0"/>
          </p:cNvCxnSpPr>
          <p:nvPr/>
        </p:nvCxnSpPr>
        <p:spPr bwMode="auto">
          <a:xfrm flipH="1" flipV="1">
            <a:off x="3726656" y="2878932"/>
            <a:ext cx="1887141" cy="627460"/>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4" name="Straight Arrow Connector 73"/>
          <p:cNvCxnSpPr>
            <a:stCxn id="90" idx="0"/>
            <a:endCxn id="116" idx="2"/>
          </p:cNvCxnSpPr>
          <p:nvPr/>
        </p:nvCxnSpPr>
        <p:spPr bwMode="auto">
          <a:xfrm flipH="1" flipV="1">
            <a:off x="2676526" y="3051573"/>
            <a:ext cx="2937272" cy="454819"/>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5" name="Straight Arrow Connector 74"/>
          <p:cNvCxnSpPr>
            <a:stCxn id="90" idx="0"/>
            <a:endCxn id="138" idx="0"/>
          </p:cNvCxnSpPr>
          <p:nvPr/>
        </p:nvCxnSpPr>
        <p:spPr bwMode="auto">
          <a:xfrm flipH="1" flipV="1">
            <a:off x="3496867" y="2647950"/>
            <a:ext cx="2116931" cy="858441"/>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6" name="Straight Arrow Connector 75"/>
          <p:cNvCxnSpPr>
            <a:stCxn id="90" idx="0"/>
            <a:endCxn id="137" idx="0"/>
          </p:cNvCxnSpPr>
          <p:nvPr/>
        </p:nvCxnSpPr>
        <p:spPr bwMode="auto">
          <a:xfrm flipH="1" flipV="1">
            <a:off x="2330054" y="2656285"/>
            <a:ext cx="3283744" cy="850106"/>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7" name="Straight Arrow Connector 76"/>
          <p:cNvCxnSpPr>
            <a:stCxn id="90" idx="0"/>
            <a:endCxn id="117" idx="0"/>
          </p:cNvCxnSpPr>
          <p:nvPr/>
        </p:nvCxnSpPr>
        <p:spPr bwMode="auto">
          <a:xfrm flipH="1" flipV="1">
            <a:off x="2569369" y="2878932"/>
            <a:ext cx="3044429" cy="627460"/>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8" name="Straight Arrow Connector 77"/>
          <p:cNvCxnSpPr>
            <a:stCxn id="90" idx="0"/>
            <a:endCxn id="136" idx="2"/>
          </p:cNvCxnSpPr>
          <p:nvPr/>
        </p:nvCxnSpPr>
        <p:spPr bwMode="auto">
          <a:xfrm flipV="1">
            <a:off x="5613797" y="2895600"/>
            <a:ext cx="781050" cy="610791"/>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4" name="Straight Arrow Connector 103"/>
          <p:cNvCxnSpPr>
            <a:stCxn id="90" idx="0"/>
            <a:endCxn id="135" idx="2"/>
          </p:cNvCxnSpPr>
          <p:nvPr/>
        </p:nvCxnSpPr>
        <p:spPr bwMode="auto">
          <a:xfrm flipV="1">
            <a:off x="5613798" y="2953941"/>
            <a:ext cx="1190" cy="552450"/>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64584" name="TextBox 109"/>
          <p:cNvSpPr txBox="1">
            <a:spLocks noChangeArrowheads="1"/>
          </p:cNvSpPr>
          <p:nvPr/>
        </p:nvSpPr>
        <p:spPr bwMode="auto">
          <a:xfrm>
            <a:off x="498872" y="794615"/>
            <a:ext cx="527923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i="1" dirty="0">
                <a:solidFill>
                  <a:schemeClr val="tx2"/>
                </a:solidFill>
                <a:latin typeface="Calibri" charset="0"/>
              </a:rPr>
              <a:t>Shows the meaning of a field and where it is stored or processed.</a:t>
            </a:r>
          </a:p>
        </p:txBody>
      </p:sp>
      <p:cxnSp>
        <p:nvCxnSpPr>
          <p:cNvPr id="118" name="Straight Arrow Connector 117"/>
          <p:cNvCxnSpPr>
            <a:stCxn id="84" idx="0"/>
            <a:endCxn id="64559" idx="3"/>
          </p:cNvCxnSpPr>
          <p:nvPr/>
        </p:nvCxnSpPr>
        <p:spPr bwMode="auto">
          <a:xfrm rot="10800000" flipV="1">
            <a:off x="6300787" y="2358628"/>
            <a:ext cx="682229" cy="2099072"/>
          </a:xfrm>
          <a:prstGeom prst="bentConnector3">
            <a:avLst>
              <a:gd name="adj1" fmla="val 23478"/>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64586" name="TextBox 88"/>
          <p:cNvSpPr txBox="1">
            <a:spLocks noChangeArrowheads="1"/>
          </p:cNvSpPr>
          <p:nvPr/>
        </p:nvSpPr>
        <p:spPr bwMode="auto">
          <a:xfrm>
            <a:off x="6931819" y="1921669"/>
            <a:ext cx="261938"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050">
                <a:latin typeface="Calibri" charset="0"/>
              </a:rPr>
              <a:t>?</a:t>
            </a:r>
          </a:p>
        </p:txBody>
      </p:sp>
      <p:sp>
        <p:nvSpPr>
          <p:cNvPr id="90" name="Rounded Rectangle 89"/>
          <p:cNvSpPr/>
          <p:nvPr/>
        </p:nvSpPr>
        <p:spPr>
          <a:xfrm>
            <a:off x="5461397" y="3506391"/>
            <a:ext cx="304800" cy="98822"/>
          </a:xfrm>
          <a:prstGeom prst="round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29" name="Straight Arrow Connector 117"/>
          <p:cNvCxnSpPr>
            <a:stCxn id="64559" idx="0"/>
            <a:endCxn id="90" idx="2"/>
          </p:cNvCxnSpPr>
          <p:nvPr/>
        </p:nvCxnSpPr>
        <p:spPr bwMode="auto">
          <a:xfrm rot="5400000" flipH="1" flipV="1">
            <a:off x="5395913" y="3770710"/>
            <a:ext cx="383381" cy="52388"/>
          </a:xfrm>
          <a:prstGeom prst="bentConnector3">
            <a:avLst>
              <a:gd name="adj1" fmla="val 50000"/>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259291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826419" y="3396853"/>
            <a:ext cx="4875610" cy="528638"/>
          </a:xfrm>
          <a:prstGeom prst="rect">
            <a:avLst/>
          </a:prstGeom>
          <a:solidFill>
            <a:schemeClr val="accent3">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b"/>
          <a:lstStyle/>
          <a:p>
            <a:pPr>
              <a:defRPr/>
            </a:pPr>
            <a:r>
              <a:rPr lang="en-US" sz="1200" dirty="0">
                <a:solidFill>
                  <a:srgbClr val="1F497D"/>
                </a:solidFill>
                <a:latin typeface="Calibri"/>
                <a:cs typeface="Calibri"/>
              </a:rPr>
              <a:t>Governance Catalog</a:t>
            </a:r>
          </a:p>
          <a:p>
            <a:pPr>
              <a:defRPr/>
            </a:pPr>
            <a:r>
              <a:rPr lang="en-US" sz="1200" dirty="0">
                <a:solidFill>
                  <a:srgbClr val="1F497D"/>
                </a:solidFill>
                <a:latin typeface="Calibri"/>
                <a:cs typeface="Calibri"/>
              </a:rPr>
              <a:t>(Metadata)</a:t>
            </a:r>
          </a:p>
        </p:txBody>
      </p:sp>
      <p:sp>
        <p:nvSpPr>
          <p:cNvPr id="90" name="Rounded Rectangle 89"/>
          <p:cNvSpPr/>
          <p:nvPr/>
        </p:nvSpPr>
        <p:spPr>
          <a:xfrm>
            <a:off x="5667375" y="350639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29" name="Straight Arrow Connector 117"/>
          <p:cNvCxnSpPr>
            <a:stCxn id="65623" idx="0"/>
            <a:endCxn id="87" idx="2"/>
          </p:cNvCxnSpPr>
          <p:nvPr/>
        </p:nvCxnSpPr>
        <p:spPr bwMode="auto">
          <a:xfrm rot="16200000" flipV="1">
            <a:off x="6141839" y="3855839"/>
            <a:ext cx="504825" cy="1191"/>
          </a:xfrm>
          <a:prstGeom prst="bentConnector3">
            <a:avLst>
              <a:gd name="adj1" fmla="val 50000"/>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87" name="Rounded Rectangle 86"/>
          <p:cNvSpPr/>
          <p:nvPr/>
        </p:nvSpPr>
        <p:spPr>
          <a:xfrm>
            <a:off x="6241257" y="350520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91" name="Straight Arrow Connector 65"/>
          <p:cNvCxnSpPr>
            <a:stCxn id="87" idx="1"/>
            <a:endCxn id="90" idx="3"/>
          </p:cNvCxnSpPr>
          <p:nvPr/>
        </p:nvCxnSpPr>
        <p:spPr bwMode="auto">
          <a:xfrm rot="10800000" flipV="1">
            <a:off x="5970985" y="3555206"/>
            <a:ext cx="270272" cy="0"/>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2" name="Rounded Rectangle 91"/>
          <p:cNvSpPr/>
          <p:nvPr/>
        </p:nvSpPr>
        <p:spPr>
          <a:xfrm>
            <a:off x="5157788" y="350520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96" name="Straight Arrow Connector 65"/>
          <p:cNvCxnSpPr>
            <a:stCxn id="90" idx="1"/>
            <a:endCxn id="92" idx="3"/>
          </p:cNvCxnSpPr>
          <p:nvPr/>
        </p:nvCxnSpPr>
        <p:spPr bwMode="auto">
          <a:xfrm rot="10800000">
            <a:off x="5461398" y="3555206"/>
            <a:ext cx="205978" cy="0"/>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7" name="Rounded Rectangle 96"/>
          <p:cNvSpPr/>
          <p:nvPr/>
        </p:nvSpPr>
        <p:spPr>
          <a:xfrm>
            <a:off x="4393407" y="350520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99" name="Rounded Rectangle 98"/>
          <p:cNvSpPr/>
          <p:nvPr/>
        </p:nvSpPr>
        <p:spPr>
          <a:xfrm>
            <a:off x="4507707" y="361950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2" name="Rounded Rectangle 101"/>
          <p:cNvSpPr/>
          <p:nvPr/>
        </p:nvSpPr>
        <p:spPr>
          <a:xfrm>
            <a:off x="3751660" y="3463528"/>
            <a:ext cx="30480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3" name="Rounded Rectangle 102"/>
          <p:cNvSpPr/>
          <p:nvPr/>
        </p:nvSpPr>
        <p:spPr>
          <a:xfrm>
            <a:off x="3865960" y="3577828"/>
            <a:ext cx="30480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7" name="Rounded Rectangle 106"/>
          <p:cNvSpPr/>
          <p:nvPr/>
        </p:nvSpPr>
        <p:spPr>
          <a:xfrm>
            <a:off x="3980260" y="3692128"/>
            <a:ext cx="30480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08" name="Straight Arrow Connector 65"/>
          <p:cNvCxnSpPr>
            <a:stCxn id="92" idx="1"/>
            <a:endCxn id="100" idx="3"/>
          </p:cNvCxnSpPr>
          <p:nvPr/>
        </p:nvCxnSpPr>
        <p:spPr bwMode="auto">
          <a:xfrm rot="10800000" flipV="1">
            <a:off x="4925616" y="3555207"/>
            <a:ext cx="232172" cy="227410"/>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9" name="Straight Arrow Connector 65"/>
          <p:cNvCxnSpPr>
            <a:stCxn id="92" idx="1"/>
            <a:endCxn id="99" idx="3"/>
          </p:cNvCxnSpPr>
          <p:nvPr/>
        </p:nvCxnSpPr>
        <p:spPr bwMode="auto">
          <a:xfrm rot="10800000" flipV="1">
            <a:off x="4811316" y="3555207"/>
            <a:ext cx="346472" cy="113110"/>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19" name="Straight Arrow Connector 65"/>
          <p:cNvCxnSpPr>
            <a:stCxn id="92" idx="1"/>
            <a:endCxn id="97" idx="3"/>
          </p:cNvCxnSpPr>
          <p:nvPr/>
        </p:nvCxnSpPr>
        <p:spPr bwMode="auto">
          <a:xfrm rot="10800000">
            <a:off x="4697016" y="3554017"/>
            <a:ext cx="460772" cy="1190"/>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20" name="Straight Arrow Connector 65"/>
          <p:cNvCxnSpPr>
            <a:stCxn id="100" idx="1"/>
            <a:endCxn id="107" idx="3"/>
          </p:cNvCxnSpPr>
          <p:nvPr/>
        </p:nvCxnSpPr>
        <p:spPr bwMode="auto">
          <a:xfrm rot="10800000">
            <a:off x="4285060" y="3740944"/>
            <a:ext cx="336947" cy="41672"/>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21" name="Straight Arrow Connector 65"/>
          <p:cNvCxnSpPr>
            <a:stCxn id="97" idx="1"/>
            <a:endCxn id="102" idx="3"/>
          </p:cNvCxnSpPr>
          <p:nvPr/>
        </p:nvCxnSpPr>
        <p:spPr bwMode="auto">
          <a:xfrm rot="10800000">
            <a:off x="4056460" y="3512344"/>
            <a:ext cx="336947" cy="41672"/>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22" name="Straight Arrow Connector 65"/>
          <p:cNvCxnSpPr>
            <a:stCxn id="99" idx="1"/>
            <a:endCxn id="103" idx="3"/>
          </p:cNvCxnSpPr>
          <p:nvPr/>
        </p:nvCxnSpPr>
        <p:spPr bwMode="auto">
          <a:xfrm rot="10800000">
            <a:off x="4170760" y="3626644"/>
            <a:ext cx="336947" cy="41672"/>
          </a:xfrm>
          <a:prstGeom prst="bentConnector3">
            <a:avLst>
              <a:gd name="adj1" fmla="val 50000"/>
            </a:avLst>
          </a:prstGeom>
          <a:solidFill>
            <a:srgbClr val="CC99FF"/>
          </a:solidFill>
          <a:ln w="19050" cap="flat" cmpd="sng" algn="ctr">
            <a:solidFill>
              <a:srgbClr val="000000"/>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65555" name="Title 1"/>
          <p:cNvSpPr>
            <a:spLocks noGrp="1"/>
          </p:cNvSpPr>
          <p:nvPr>
            <p:ph type="title"/>
          </p:nvPr>
        </p:nvSpPr>
        <p:spPr/>
        <p:txBody>
          <a:bodyPr/>
          <a:lstStyle/>
          <a:p>
            <a:r>
              <a:rPr lang="en-US" dirty="0">
                <a:latin typeface="Arial" charset="0"/>
                <a:ea typeface="MS PGothic" charset="0"/>
              </a:rPr>
              <a:t>Lineage</a:t>
            </a:r>
          </a:p>
        </p:txBody>
      </p:sp>
      <p:sp>
        <p:nvSpPr>
          <p:cNvPr id="4" name="Rectangle 3"/>
          <p:cNvSpPr/>
          <p:nvPr/>
        </p:nvSpPr>
        <p:spPr>
          <a:xfrm>
            <a:off x="1826419" y="1639491"/>
            <a:ext cx="1240631" cy="1643063"/>
          </a:xfrm>
          <a:prstGeom prst="rect">
            <a:avLst/>
          </a:prstGeom>
          <a:solidFill>
            <a:schemeClr val="accent6">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Operational Systems</a:t>
            </a:r>
          </a:p>
        </p:txBody>
      </p:sp>
      <p:sp>
        <p:nvSpPr>
          <p:cNvPr id="5" name="Rectangle 4"/>
          <p:cNvSpPr/>
          <p:nvPr/>
        </p:nvSpPr>
        <p:spPr>
          <a:xfrm>
            <a:off x="3167063" y="1639491"/>
            <a:ext cx="3534966" cy="1643063"/>
          </a:xfrm>
          <a:prstGeom prst="rect">
            <a:avLst/>
          </a:prstGeom>
          <a:solidFill>
            <a:schemeClr val="accent5">
              <a:lumMod val="60000"/>
              <a:lumOff val="4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lstStyle/>
          <a:p>
            <a:pPr algn="ctr">
              <a:defRPr/>
            </a:pPr>
            <a:r>
              <a:rPr lang="en-US" sz="1200" dirty="0">
                <a:solidFill>
                  <a:srgbClr val="1F497D"/>
                </a:solidFill>
                <a:latin typeface="Calibri"/>
                <a:cs typeface="Calibri"/>
              </a:rPr>
              <a:t>Data Lake</a:t>
            </a:r>
          </a:p>
        </p:txBody>
      </p:sp>
      <p:sp>
        <p:nvSpPr>
          <p:cNvPr id="8" name="Can 7"/>
          <p:cNvSpPr/>
          <p:nvPr/>
        </p:nvSpPr>
        <p:spPr>
          <a:xfrm>
            <a:off x="2100263" y="25729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4" name="Can 13"/>
          <p:cNvSpPr/>
          <p:nvPr/>
        </p:nvSpPr>
        <p:spPr>
          <a:xfrm>
            <a:off x="3268266" y="25646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8" name="Folded Corner 17"/>
          <p:cNvSpPr/>
          <p:nvPr/>
        </p:nvSpPr>
        <p:spPr>
          <a:xfrm>
            <a:off x="6193632" y="2122885"/>
            <a:ext cx="388144" cy="457200"/>
          </a:xfrm>
          <a:prstGeom prst="foldedCorner">
            <a:avLst/>
          </a:prstGeom>
          <a:solidFill>
            <a:schemeClr val="accent5">
              <a:lumMod val="20000"/>
              <a:lumOff val="80000"/>
            </a:schemeClr>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0" name="Can 19"/>
          <p:cNvSpPr/>
          <p:nvPr/>
        </p:nvSpPr>
        <p:spPr>
          <a:xfrm>
            <a:off x="5391151" y="2365772"/>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21" name="Can 20"/>
          <p:cNvSpPr/>
          <p:nvPr/>
        </p:nvSpPr>
        <p:spPr>
          <a:xfrm>
            <a:off x="5391151" y="2808685"/>
            <a:ext cx="451247" cy="20121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4" name="Straight Arrow Connector 23"/>
          <p:cNvCxnSpPr>
            <a:stCxn id="22" idx="4"/>
            <a:endCxn id="20" idx="2"/>
          </p:cNvCxnSpPr>
          <p:nvPr/>
        </p:nvCxnSpPr>
        <p:spPr bwMode="auto">
          <a:xfrm flipV="1">
            <a:off x="5144691" y="2465785"/>
            <a:ext cx="246459" cy="132159"/>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25" name="Straight Arrow Connector 24"/>
          <p:cNvCxnSpPr>
            <a:stCxn id="127" idx="4"/>
            <a:endCxn id="21" idx="2"/>
          </p:cNvCxnSpPr>
          <p:nvPr/>
        </p:nvCxnSpPr>
        <p:spPr bwMode="auto">
          <a:xfrm flipV="1">
            <a:off x="5143500" y="2908697"/>
            <a:ext cx="247650" cy="10001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22" name="Can 21"/>
          <p:cNvSpPr/>
          <p:nvPr/>
        </p:nvSpPr>
        <p:spPr>
          <a:xfrm>
            <a:off x="4407694" y="2387204"/>
            <a:ext cx="736997" cy="421481"/>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28" name="Straight Arrow Connector 27"/>
          <p:cNvCxnSpPr>
            <a:stCxn id="14" idx="4"/>
            <a:endCxn id="22" idx="2"/>
          </p:cNvCxnSpPr>
          <p:nvPr/>
        </p:nvCxnSpPr>
        <p:spPr bwMode="auto">
          <a:xfrm flipV="1">
            <a:off x="3719513" y="2597944"/>
            <a:ext cx="688181" cy="666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1" name="Straight Arrow Connector 30"/>
          <p:cNvCxnSpPr>
            <a:stCxn id="15" idx="4"/>
            <a:endCxn id="22" idx="2"/>
          </p:cNvCxnSpPr>
          <p:nvPr/>
        </p:nvCxnSpPr>
        <p:spPr bwMode="auto">
          <a:xfrm flipV="1">
            <a:off x="3833813" y="2597944"/>
            <a:ext cx="573881" cy="1809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2" name="Straight Arrow Connector 31"/>
          <p:cNvCxnSpPr>
            <a:stCxn id="16" idx="4"/>
            <a:endCxn id="22" idx="2"/>
          </p:cNvCxnSpPr>
          <p:nvPr/>
        </p:nvCxnSpPr>
        <p:spPr bwMode="auto">
          <a:xfrm flipV="1">
            <a:off x="3948113" y="2597944"/>
            <a:ext cx="459581" cy="2952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33" name="Straight Arrow Connector 32"/>
          <p:cNvCxnSpPr>
            <a:stCxn id="17" idx="4"/>
            <a:endCxn id="127" idx="2"/>
          </p:cNvCxnSpPr>
          <p:nvPr/>
        </p:nvCxnSpPr>
        <p:spPr bwMode="auto">
          <a:xfrm>
            <a:off x="4062413" y="3007519"/>
            <a:ext cx="345281" cy="1191"/>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3" name="Rectangle 52"/>
          <p:cNvSpPr/>
          <p:nvPr/>
        </p:nvSpPr>
        <p:spPr>
          <a:xfrm>
            <a:off x="6244829" y="2233613"/>
            <a:ext cx="18930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57" name="Straight Arrow Connector 56"/>
          <p:cNvCxnSpPr>
            <a:stCxn id="8" idx="4"/>
            <a:endCxn id="14" idx="2"/>
          </p:cNvCxnSpPr>
          <p:nvPr/>
        </p:nvCxnSpPr>
        <p:spPr bwMode="auto">
          <a:xfrm flipV="1">
            <a:off x="2551510" y="26646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58" name="Rectangle 57"/>
          <p:cNvSpPr/>
          <p:nvPr/>
        </p:nvSpPr>
        <p:spPr>
          <a:xfrm>
            <a:off x="6240066" y="2157413"/>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59" name="Rectangle 58"/>
          <p:cNvSpPr/>
          <p:nvPr/>
        </p:nvSpPr>
        <p:spPr>
          <a:xfrm>
            <a:off x="6448426" y="2233612"/>
            <a:ext cx="89297"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0" name="Rectangle 59"/>
          <p:cNvSpPr/>
          <p:nvPr/>
        </p:nvSpPr>
        <p:spPr>
          <a:xfrm>
            <a:off x="6453187" y="2428875"/>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1" name="Folded Corner 60"/>
          <p:cNvSpPr/>
          <p:nvPr/>
        </p:nvSpPr>
        <p:spPr>
          <a:xfrm>
            <a:off x="6198394" y="2682479"/>
            <a:ext cx="388144" cy="457200"/>
          </a:xfrm>
          <a:prstGeom prst="foldedCorner">
            <a:avLst/>
          </a:prstGeom>
          <a:solidFill>
            <a:srgbClr val="DBEEF4"/>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2" name="Rectangle 61"/>
          <p:cNvSpPr/>
          <p:nvPr/>
        </p:nvSpPr>
        <p:spPr>
          <a:xfrm>
            <a:off x="6250782" y="2793207"/>
            <a:ext cx="188119" cy="17859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3" name="Rectangle 62"/>
          <p:cNvSpPr/>
          <p:nvPr/>
        </p:nvSpPr>
        <p:spPr>
          <a:xfrm>
            <a:off x="6246019" y="2717006"/>
            <a:ext cx="302419" cy="48816"/>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4" name="Rectangle 63"/>
          <p:cNvSpPr/>
          <p:nvPr/>
        </p:nvSpPr>
        <p:spPr>
          <a:xfrm>
            <a:off x="6453187" y="2793206"/>
            <a:ext cx="90488" cy="177404"/>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65" name="Rectangle 64"/>
          <p:cNvSpPr/>
          <p:nvPr/>
        </p:nvSpPr>
        <p:spPr>
          <a:xfrm>
            <a:off x="6457950" y="2988469"/>
            <a:ext cx="82154" cy="39291"/>
          </a:xfrm>
          <a:prstGeom prst="rect">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66" name="Straight Arrow Connector 65"/>
          <p:cNvCxnSpPr>
            <a:stCxn id="18" idx="1"/>
            <a:endCxn id="20" idx="4"/>
          </p:cNvCxnSpPr>
          <p:nvPr/>
        </p:nvCxnSpPr>
        <p:spPr bwMode="auto">
          <a:xfrm rot="10800000" flipV="1">
            <a:off x="5842397" y="2351485"/>
            <a:ext cx="351234" cy="114300"/>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69" name="Straight Arrow Connector 65"/>
          <p:cNvCxnSpPr>
            <a:stCxn id="61" idx="1"/>
            <a:endCxn id="21" idx="4"/>
          </p:cNvCxnSpPr>
          <p:nvPr/>
        </p:nvCxnSpPr>
        <p:spPr bwMode="auto">
          <a:xfrm rot="10800000">
            <a:off x="5842397" y="2908698"/>
            <a:ext cx="355997" cy="2381"/>
          </a:xfrm>
          <a:prstGeom prst="bentConnector3">
            <a:avLst>
              <a:gd name="adj1" fmla="val 50000"/>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5582" name="Group 88"/>
          <p:cNvGrpSpPr>
            <a:grpSpLocks/>
          </p:cNvGrpSpPr>
          <p:nvPr/>
        </p:nvGrpSpPr>
        <p:grpSpPr bwMode="auto">
          <a:xfrm>
            <a:off x="6983017" y="2178844"/>
            <a:ext cx="153590" cy="280988"/>
            <a:chOff x="7802563" y="3073400"/>
            <a:chExt cx="355600" cy="654050"/>
          </a:xfrm>
        </p:grpSpPr>
        <p:sp>
          <p:nvSpPr>
            <p:cNvPr id="84" name="Delay 83"/>
            <p:cNvSpPr/>
            <p:nvPr/>
          </p:nvSpPr>
          <p:spPr bwMode="auto">
            <a:xfrm rot="16200000">
              <a:off x="7744794" y="3314081"/>
              <a:ext cx="471138" cy="355600"/>
            </a:xfrm>
            <a:prstGeom prst="flowChartDelay">
              <a:avLst/>
            </a:prstGeom>
            <a:solidFill>
              <a:schemeClr val="tx2"/>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sp>
          <p:nvSpPr>
            <p:cNvPr id="85" name="Isosceles Triangle 84"/>
            <p:cNvSpPr/>
            <p:nvPr/>
          </p:nvSpPr>
          <p:spPr>
            <a:xfrm flipV="1">
              <a:off x="7893530" y="3328369"/>
              <a:ext cx="173666" cy="155198"/>
            </a:xfrm>
            <a:prstGeom prst="triangle">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dirty="0">
                <a:solidFill>
                  <a:srgbClr val="1F497D"/>
                </a:solidFill>
                <a:cs typeface="Calibri"/>
              </a:endParaRPr>
            </a:p>
          </p:txBody>
        </p:sp>
        <p:sp>
          <p:nvSpPr>
            <p:cNvPr id="86" name="Oval 85"/>
            <p:cNvSpPr/>
            <p:nvPr/>
          </p:nvSpPr>
          <p:spPr bwMode="auto">
            <a:xfrm>
              <a:off x="7827963" y="3073400"/>
              <a:ext cx="304800" cy="279400"/>
            </a:xfrm>
            <a:prstGeom prst="ellipse">
              <a:avLst/>
            </a:prstGeom>
            <a:solidFill>
              <a:schemeClr val="bg2"/>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defTabSz="342883">
                <a:defRPr/>
              </a:pPr>
              <a:endParaRPr lang="en-GB" sz="1350"/>
            </a:p>
          </p:txBody>
        </p:sp>
      </p:grpSp>
      <p:cxnSp>
        <p:nvCxnSpPr>
          <p:cNvPr id="88" name="Straight Arrow Connector 87"/>
          <p:cNvCxnSpPr>
            <a:stCxn id="84" idx="0"/>
            <a:endCxn id="18" idx="3"/>
          </p:cNvCxnSpPr>
          <p:nvPr/>
        </p:nvCxnSpPr>
        <p:spPr bwMode="auto">
          <a:xfrm flipH="1" flipV="1">
            <a:off x="6581775" y="2351485"/>
            <a:ext cx="401241" cy="7144"/>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grpSp>
        <p:nvGrpSpPr>
          <p:cNvPr id="65584" name="Group 92"/>
          <p:cNvGrpSpPr>
            <a:grpSpLocks/>
          </p:cNvGrpSpPr>
          <p:nvPr/>
        </p:nvGrpSpPr>
        <p:grpSpPr bwMode="auto">
          <a:xfrm>
            <a:off x="3274219" y="2112169"/>
            <a:ext cx="526256" cy="314325"/>
            <a:chOff x="3092024" y="2506732"/>
            <a:chExt cx="700919" cy="419784"/>
          </a:xfrm>
        </p:grpSpPr>
        <p:sp>
          <p:nvSpPr>
            <p:cNvPr id="94" name="Can 93"/>
            <p:cNvSpPr/>
            <p:nvPr/>
          </p:nvSpPr>
          <p:spPr>
            <a:xfrm>
              <a:off x="3191929" y="2506732"/>
              <a:ext cx="601014"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95" name="Can 94"/>
            <p:cNvSpPr/>
            <p:nvPr/>
          </p:nvSpPr>
          <p:spPr>
            <a:xfrm>
              <a:off x="3092024" y="2659381"/>
              <a:ext cx="601015" cy="26713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grpSp>
      <p:cxnSp>
        <p:nvCxnSpPr>
          <p:cNvPr id="98" name="Straight Arrow Connector 97"/>
          <p:cNvCxnSpPr>
            <a:stCxn id="94" idx="4"/>
            <a:endCxn id="22" idx="2"/>
          </p:cNvCxnSpPr>
          <p:nvPr/>
        </p:nvCxnSpPr>
        <p:spPr bwMode="auto">
          <a:xfrm>
            <a:off x="3800475" y="2212181"/>
            <a:ext cx="607219" cy="3857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101" name="Straight Arrow Connector 100"/>
          <p:cNvCxnSpPr>
            <a:stCxn id="95" idx="4"/>
            <a:endCxn id="22" idx="2"/>
          </p:cNvCxnSpPr>
          <p:nvPr/>
        </p:nvCxnSpPr>
        <p:spPr bwMode="auto">
          <a:xfrm>
            <a:off x="3725466" y="2326481"/>
            <a:ext cx="682228" cy="271463"/>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05" name="Cube 104"/>
          <p:cNvSpPr/>
          <p:nvPr/>
        </p:nvSpPr>
        <p:spPr>
          <a:xfrm>
            <a:off x="4632723" y="1978819"/>
            <a:ext cx="311944" cy="238125"/>
          </a:xfrm>
          <a:prstGeom prst="cube">
            <a:avLst>
              <a:gd name="adj" fmla="val 11841"/>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06" name="Straight Arrow Connector 105"/>
          <p:cNvCxnSpPr>
            <a:stCxn id="105" idx="3"/>
            <a:endCxn id="22" idx="1"/>
          </p:cNvCxnSpPr>
          <p:nvPr/>
        </p:nvCxnSpPr>
        <p:spPr bwMode="auto">
          <a:xfrm>
            <a:off x="4774407" y="2216944"/>
            <a:ext cx="2381" cy="170260"/>
          </a:xfrm>
          <a:prstGeom prst="straightConnector1">
            <a:avLst/>
          </a:prstGeom>
          <a:solidFill>
            <a:srgbClr val="CC99FF"/>
          </a:solidFill>
          <a:ln w="19050" cap="flat" cmpd="sng" algn="ctr">
            <a:solidFill>
              <a:schemeClr val="tx2"/>
            </a:solidFill>
            <a:prstDash val="solid"/>
            <a:round/>
            <a:headEnd type="arrow"/>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27" name="Can 126"/>
          <p:cNvSpPr/>
          <p:nvPr/>
        </p:nvSpPr>
        <p:spPr>
          <a:xfrm>
            <a:off x="4407694" y="2906316"/>
            <a:ext cx="735806" cy="204788"/>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131" name="Straight Arrow Connector 130"/>
          <p:cNvCxnSpPr>
            <a:stCxn id="17" idx="4"/>
            <a:endCxn id="22" idx="2"/>
          </p:cNvCxnSpPr>
          <p:nvPr/>
        </p:nvCxnSpPr>
        <p:spPr bwMode="auto">
          <a:xfrm flipV="1">
            <a:off x="4062413" y="2597944"/>
            <a:ext cx="345281" cy="40957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9" name="Can 8"/>
          <p:cNvSpPr/>
          <p:nvPr/>
        </p:nvSpPr>
        <p:spPr>
          <a:xfrm>
            <a:off x="2214563" y="26872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0" name="Can 9"/>
          <p:cNvSpPr/>
          <p:nvPr/>
        </p:nvSpPr>
        <p:spPr>
          <a:xfrm>
            <a:off x="2328863" y="28015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5" name="Can 14"/>
          <p:cNvSpPr/>
          <p:nvPr/>
        </p:nvSpPr>
        <p:spPr>
          <a:xfrm>
            <a:off x="3382566" y="26789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6" name="Can 15"/>
          <p:cNvSpPr/>
          <p:nvPr/>
        </p:nvSpPr>
        <p:spPr>
          <a:xfrm>
            <a:off x="3496866" y="27932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3" name="Straight Arrow Connector 42"/>
          <p:cNvCxnSpPr>
            <a:stCxn id="9" idx="4"/>
            <a:endCxn id="15" idx="2"/>
          </p:cNvCxnSpPr>
          <p:nvPr/>
        </p:nvCxnSpPr>
        <p:spPr bwMode="auto">
          <a:xfrm flipV="1">
            <a:off x="2665810" y="27789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44" name="Straight Arrow Connector 43"/>
          <p:cNvCxnSpPr>
            <a:stCxn id="10" idx="4"/>
            <a:endCxn id="16" idx="2"/>
          </p:cNvCxnSpPr>
          <p:nvPr/>
        </p:nvCxnSpPr>
        <p:spPr bwMode="auto">
          <a:xfrm flipV="1">
            <a:off x="2780110" y="28932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 name="Can 10"/>
          <p:cNvSpPr/>
          <p:nvPr/>
        </p:nvSpPr>
        <p:spPr>
          <a:xfrm>
            <a:off x="2443163" y="2915841"/>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7" name="Can 16"/>
          <p:cNvSpPr/>
          <p:nvPr/>
        </p:nvSpPr>
        <p:spPr>
          <a:xfrm>
            <a:off x="3611166" y="2907506"/>
            <a:ext cx="451247" cy="200025"/>
          </a:xfrm>
          <a:prstGeom prst="can">
            <a:avLst/>
          </a:prstGeom>
          <a:solidFill>
            <a:srgbClr val="FFFFFF"/>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45" name="Straight Arrow Connector 44"/>
          <p:cNvCxnSpPr>
            <a:stCxn id="11" idx="4"/>
            <a:endCxn id="17" idx="2"/>
          </p:cNvCxnSpPr>
          <p:nvPr/>
        </p:nvCxnSpPr>
        <p:spPr bwMode="auto">
          <a:xfrm flipV="1">
            <a:off x="2894410" y="3007519"/>
            <a:ext cx="716756" cy="8335"/>
          </a:xfrm>
          <a:prstGeom prst="straightConnector1">
            <a:avLst/>
          </a:prstGeom>
          <a:solidFill>
            <a:srgbClr val="CC99FF"/>
          </a:solidFill>
          <a:ln w="19050" cap="flat" cmpd="sng" algn="ctr">
            <a:solidFill>
              <a:schemeClr val="tx2"/>
            </a:solidFill>
            <a:prstDash val="solid"/>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11" name="Rectangle 110"/>
          <p:cNvSpPr/>
          <p:nvPr/>
        </p:nvSpPr>
        <p:spPr>
          <a:xfrm>
            <a:off x="6242447" y="2274094"/>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2" name="Rectangle 111"/>
          <p:cNvSpPr/>
          <p:nvPr/>
        </p:nvSpPr>
        <p:spPr>
          <a:xfrm>
            <a:off x="5469731" y="2453879"/>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3" name="Rectangle 112"/>
          <p:cNvSpPr/>
          <p:nvPr/>
        </p:nvSpPr>
        <p:spPr>
          <a:xfrm>
            <a:off x="4623197" y="2576513"/>
            <a:ext cx="295275" cy="50006"/>
          </a:xfrm>
          <a:prstGeom prst="rect">
            <a:avLst/>
          </a:prstGeom>
          <a:solidFill>
            <a:srgbClr val="800000"/>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0" name="Rectangle 129"/>
          <p:cNvSpPr/>
          <p:nvPr/>
        </p:nvSpPr>
        <p:spPr>
          <a:xfrm>
            <a:off x="4631532" y="3002757"/>
            <a:ext cx="294085" cy="50006"/>
          </a:xfrm>
          <a:prstGeom prst="rect">
            <a:avLst/>
          </a:prstGeom>
          <a:solidFill>
            <a:schemeClr val="accent2">
              <a:lumMod val="60000"/>
              <a:lumOff val="40000"/>
            </a:schemeClr>
          </a:solidFill>
          <a:ln>
            <a:solidFill>
              <a:schemeClr val="tx2"/>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5" name="Rectangle 134"/>
          <p:cNvSpPr/>
          <p:nvPr/>
        </p:nvSpPr>
        <p:spPr>
          <a:xfrm>
            <a:off x="5467350" y="2903935"/>
            <a:ext cx="295275" cy="50006"/>
          </a:xfrm>
          <a:prstGeom prst="rect">
            <a:avLst/>
          </a:prstGeom>
          <a:solidFill>
            <a:schemeClr val="accent2">
              <a:lumMod val="60000"/>
              <a:lumOff val="40000"/>
            </a:schemeClr>
          </a:solidFill>
          <a:ln>
            <a:solidFill>
              <a:schemeClr val="tx2"/>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6" name="Rectangle 135"/>
          <p:cNvSpPr/>
          <p:nvPr/>
        </p:nvSpPr>
        <p:spPr>
          <a:xfrm>
            <a:off x="6247210" y="2845594"/>
            <a:ext cx="295275" cy="50006"/>
          </a:xfrm>
          <a:prstGeom prst="rect">
            <a:avLst/>
          </a:prstGeom>
          <a:solidFill>
            <a:schemeClr val="accent2">
              <a:lumMod val="60000"/>
              <a:lumOff val="40000"/>
            </a:schemeClr>
          </a:solidFill>
          <a:ln>
            <a:solidFill>
              <a:schemeClr val="tx2"/>
            </a:solidFill>
          </a:ln>
          <a:effectLst>
            <a:outerShdw blurRad="40000" dist="23000" dir="5400000" rotWithShape="0">
              <a:schemeClr val="tx1">
                <a:alpha val="35000"/>
              </a:scheme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7" name="Rectangle 136"/>
          <p:cNvSpPr/>
          <p:nvPr/>
        </p:nvSpPr>
        <p:spPr>
          <a:xfrm>
            <a:off x="2182416" y="2656285"/>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38" name="Rectangle 137"/>
          <p:cNvSpPr/>
          <p:nvPr/>
        </p:nvSpPr>
        <p:spPr>
          <a:xfrm>
            <a:off x="3349229" y="2647951"/>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5" name="Rectangle 114"/>
          <p:cNvSpPr/>
          <p:nvPr/>
        </p:nvSpPr>
        <p:spPr>
          <a:xfrm>
            <a:off x="3579019" y="2878932"/>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7" name="Rectangle 116"/>
          <p:cNvSpPr/>
          <p:nvPr/>
        </p:nvSpPr>
        <p:spPr>
          <a:xfrm>
            <a:off x="2421731" y="2878932"/>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4" name="Rectangle 113"/>
          <p:cNvSpPr/>
          <p:nvPr/>
        </p:nvSpPr>
        <p:spPr>
          <a:xfrm>
            <a:off x="3694510" y="2994423"/>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
        <p:nvSpPr>
          <p:cNvPr id="116" name="Rectangle 115"/>
          <p:cNvSpPr/>
          <p:nvPr/>
        </p:nvSpPr>
        <p:spPr>
          <a:xfrm>
            <a:off x="2528888" y="3001567"/>
            <a:ext cx="295275" cy="50006"/>
          </a:xfrm>
          <a:prstGeom prst="rect">
            <a:avLst/>
          </a:prstGeom>
          <a:solidFill>
            <a:schemeClr val="accent2">
              <a:lumMod val="60000"/>
              <a:lumOff val="40000"/>
            </a:schemeClr>
          </a:solidFill>
          <a:ln>
            <a:solidFill>
              <a:schemeClr val="tx2"/>
            </a:solidFill>
          </a:ln>
          <a:effectLst>
            <a:outerShdw blurRad="40000" dist="23000" dir="5400000" sx="143000" sy="143000" rotWithShape="0">
              <a:srgbClr val="FFFF00">
                <a:alpha val="35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cxnSp>
        <p:nvCxnSpPr>
          <p:cNvPr id="68" name="Straight Arrow Connector 67"/>
          <p:cNvCxnSpPr>
            <a:stCxn id="90" idx="0"/>
            <a:endCxn id="112" idx="2"/>
          </p:cNvCxnSpPr>
          <p:nvPr/>
        </p:nvCxnSpPr>
        <p:spPr bwMode="auto">
          <a:xfrm flipH="1" flipV="1">
            <a:off x="5617369" y="2503885"/>
            <a:ext cx="201216" cy="1002506"/>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0" name="Straight Arrow Connector 69"/>
          <p:cNvCxnSpPr>
            <a:stCxn id="87" idx="0"/>
            <a:endCxn id="111" idx="2"/>
          </p:cNvCxnSpPr>
          <p:nvPr/>
        </p:nvCxnSpPr>
        <p:spPr bwMode="auto">
          <a:xfrm flipH="1" flipV="1">
            <a:off x="6390085" y="2324100"/>
            <a:ext cx="3572" cy="1181100"/>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1" name="Straight Arrow Connector 70"/>
          <p:cNvCxnSpPr>
            <a:stCxn id="92" idx="0"/>
            <a:endCxn id="113" idx="2"/>
          </p:cNvCxnSpPr>
          <p:nvPr/>
        </p:nvCxnSpPr>
        <p:spPr bwMode="auto">
          <a:xfrm flipH="1" flipV="1">
            <a:off x="4770835" y="2626519"/>
            <a:ext cx="538163" cy="878681"/>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2" name="Straight Arrow Connector 71"/>
          <p:cNvCxnSpPr>
            <a:stCxn id="100" idx="0"/>
            <a:endCxn id="114" idx="2"/>
          </p:cNvCxnSpPr>
          <p:nvPr/>
        </p:nvCxnSpPr>
        <p:spPr bwMode="auto">
          <a:xfrm flipH="1" flipV="1">
            <a:off x="3842148" y="3044428"/>
            <a:ext cx="931069" cy="689372"/>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3" name="Straight Arrow Connector 72"/>
          <p:cNvCxnSpPr>
            <a:stCxn id="99" idx="0"/>
            <a:endCxn id="115" idx="0"/>
          </p:cNvCxnSpPr>
          <p:nvPr/>
        </p:nvCxnSpPr>
        <p:spPr bwMode="auto">
          <a:xfrm flipH="1" flipV="1">
            <a:off x="3726657" y="2878932"/>
            <a:ext cx="932260" cy="740569"/>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4" name="Straight Arrow Connector 73"/>
          <p:cNvCxnSpPr>
            <a:stCxn id="107" idx="1"/>
            <a:endCxn id="116" idx="2"/>
          </p:cNvCxnSpPr>
          <p:nvPr/>
        </p:nvCxnSpPr>
        <p:spPr bwMode="auto">
          <a:xfrm flipH="1" flipV="1">
            <a:off x="2676525" y="3051572"/>
            <a:ext cx="1303735" cy="689372"/>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5" name="Straight Arrow Connector 74"/>
          <p:cNvCxnSpPr>
            <a:stCxn id="97" idx="0"/>
            <a:endCxn id="138" idx="0"/>
          </p:cNvCxnSpPr>
          <p:nvPr/>
        </p:nvCxnSpPr>
        <p:spPr bwMode="auto">
          <a:xfrm flipH="1" flipV="1">
            <a:off x="3496866" y="2647950"/>
            <a:ext cx="1047750" cy="857250"/>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6" name="Straight Arrow Connector 75"/>
          <p:cNvCxnSpPr>
            <a:stCxn id="102" idx="1"/>
            <a:endCxn id="137" idx="0"/>
          </p:cNvCxnSpPr>
          <p:nvPr/>
        </p:nvCxnSpPr>
        <p:spPr bwMode="auto">
          <a:xfrm flipH="1" flipV="1">
            <a:off x="2330054" y="2656285"/>
            <a:ext cx="1421606" cy="856059"/>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cxnSp>
        <p:nvCxnSpPr>
          <p:cNvPr id="77" name="Straight Arrow Connector 76"/>
          <p:cNvCxnSpPr>
            <a:stCxn id="103" idx="1"/>
            <a:endCxn id="117" idx="0"/>
          </p:cNvCxnSpPr>
          <p:nvPr/>
        </p:nvCxnSpPr>
        <p:spPr bwMode="auto">
          <a:xfrm flipH="1" flipV="1">
            <a:off x="2569369" y="2878931"/>
            <a:ext cx="1296591" cy="747713"/>
          </a:xfrm>
          <a:prstGeom prst="straightConnector1">
            <a:avLst/>
          </a:prstGeom>
          <a:solidFill>
            <a:srgbClr val="CC99FF"/>
          </a:solidFill>
          <a:ln w="6350" cap="flat" cmpd="sng" algn="ctr">
            <a:solidFill>
              <a:schemeClr val="tx1"/>
            </a:solidFill>
            <a:prstDash val="sysDash"/>
            <a:round/>
            <a:headEnd type="none" w="med" len="med"/>
            <a:tailEnd type="arrow"/>
          </a:ln>
          <a:effectLst/>
          <a:extLs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65621" name="TextBox 109"/>
          <p:cNvSpPr txBox="1">
            <a:spLocks noChangeArrowheads="1"/>
          </p:cNvSpPr>
          <p:nvPr/>
        </p:nvSpPr>
        <p:spPr bwMode="auto">
          <a:xfrm>
            <a:off x="438746" y="799357"/>
            <a:ext cx="5279231" cy="3077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400" i="1" dirty="0">
                <a:solidFill>
                  <a:schemeClr val="tx2"/>
                </a:solidFill>
                <a:latin typeface="Calibri" charset="0"/>
              </a:rPr>
              <a:t>Shows the flow of data to or from an asset.</a:t>
            </a:r>
          </a:p>
        </p:txBody>
      </p:sp>
      <p:sp>
        <p:nvSpPr>
          <p:cNvPr id="65622" name="TextBox 88"/>
          <p:cNvSpPr txBox="1">
            <a:spLocks noChangeArrowheads="1"/>
          </p:cNvSpPr>
          <p:nvPr/>
        </p:nvSpPr>
        <p:spPr bwMode="auto">
          <a:xfrm>
            <a:off x="6931819" y="1921669"/>
            <a:ext cx="261938" cy="2539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defTabSz="455613" eaLnBrk="0" fontAlgn="base" hangingPunct="0">
              <a:spcBef>
                <a:spcPct val="0"/>
              </a:spcBef>
              <a:spcAft>
                <a:spcPct val="0"/>
              </a:spcAft>
              <a:defRPr sz="2400">
                <a:solidFill>
                  <a:schemeClr val="tx1"/>
                </a:solidFill>
                <a:latin typeface="Arial" charset="0"/>
                <a:ea typeface="ＭＳ Ｐゴシック" charset="0"/>
              </a:defRPr>
            </a:lvl6pPr>
            <a:lvl7pPr marL="2971800" indent="-228600" defTabSz="455613" eaLnBrk="0" fontAlgn="base" hangingPunct="0">
              <a:spcBef>
                <a:spcPct val="0"/>
              </a:spcBef>
              <a:spcAft>
                <a:spcPct val="0"/>
              </a:spcAft>
              <a:defRPr sz="2400">
                <a:solidFill>
                  <a:schemeClr val="tx1"/>
                </a:solidFill>
                <a:latin typeface="Arial" charset="0"/>
                <a:ea typeface="ＭＳ Ｐゴシック" charset="0"/>
              </a:defRPr>
            </a:lvl7pPr>
            <a:lvl8pPr marL="3429000" indent="-228600" defTabSz="455613" eaLnBrk="0" fontAlgn="base" hangingPunct="0">
              <a:spcBef>
                <a:spcPct val="0"/>
              </a:spcBef>
              <a:spcAft>
                <a:spcPct val="0"/>
              </a:spcAft>
              <a:defRPr sz="2400">
                <a:solidFill>
                  <a:schemeClr val="tx1"/>
                </a:solidFill>
                <a:latin typeface="Arial" charset="0"/>
                <a:ea typeface="ＭＳ Ｐゴシック" charset="0"/>
              </a:defRPr>
            </a:lvl8pPr>
            <a:lvl9pPr marL="3886200" indent="-228600" defTabSz="455613"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r>
              <a:rPr lang="en-US" sz="1050">
                <a:latin typeface="Calibri" charset="0"/>
              </a:rPr>
              <a:t>?</a:t>
            </a:r>
          </a:p>
        </p:txBody>
      </p:sp>
      <p:pic>
        <p:nvPicPr>
          <p:cNvPr id="65623" name="Picture 6" descr="Data Lineage - Information Supply Chain.tiff"/>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17369" y="4108847"/>
            <a:ext cx="1554956" cy="6369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00" name="Rounded Rectangle 99"/>
          <p:cNvSpPr/>
          <p:nvPr/>
        </p:nvSpPr>
        <p:spPr>
          <a:xfrm>
            <a:off x="4622007" y="3733801"/>
            <a:ext cx="303610" cy="98822"/>
          </a:xfrm>
          <a:prstGeom prst="roundRect">
            <a:avLst/>
          </a:prstGeom>
          <a:solidFill>
            <a:srgbClr val="FFFFFF"/>
          </a:solidFill>
          <a:ln>
            <a:solidFill>
              <a:srgbClr val="000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dirty="0">
              <a:solidFill>
                <a:srgbClr val="1F497D"/>
              </a:solidFill>
              <a:latin typeface="Calibri"/>
              <a:cs typeface="Calibri"/>
            </a:endParaRPr>
          </a:p>
        </p:txBody>
      </p:sp>
    </p:spTree>
    <p:extLst>
      <p:ext uri="{BB962C8B-B14F-4D97-AF65-F5344CB8AC3E}">
        <p14:creationId xmlns:p14="http://schemas.microsoft.com/office/powerpoint/2010/main" val="41104414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Maturity Model</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43</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11718887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GB" dirty="0"/>
              <a:t>Governance maturity seen in terms of </a:t>
            </a:r>
            <a:r>
              <a:rPr lang="en-GB" u="sng" dirty="0"/>
              <a:t>Value</a:t>
            </a:r>
            <a:r>
              <a:rPr lang="en-GB" dirty="0"/>
              <a:t> and </a:t>
            </a:r>
            <a:r>
              <a:rPr lang="en-GB" u="sng" dirty="0"/>
              <a:t>Scope</a:t>
            </a:r>
          </a:p>
        </p:txBody>
      </p:sp>
      <p:pic>
        <p:nvPicPr>
          <p:cNvPr id="5" name="Picture 4"/>
          <p:cNvPicPr>
            <a:picLocks noChangeAspect="1"/>
          </p:cNvPicPr>
          <p:nvPr/>
        </p:nvPicPr>
        <p:blipFill>
          <a:blip r:embed="rId2"/>
          <a:stretch>
            <a:fillRect/>
          </a:stretch>
        </p:blipFill>
        <p:spPr>
          <a:xfrm>
            <a:off x="1356761" y="949470"/>
            <a:ext cx="5984023" cy="3754475"/>
          </a:xfrm>
          <a:prstGeom prst="rect">
            <a:avLst/>
          </a:prstGeom>
        </p:spPr>
      </p:pic>
      <p:pic>
        <p:nvPicPr>
          <p:cNvPr id="6" name="Picture 5"/>
          <p:cNvPicPr>
            <a:picLocks noChangeAspect="1"/>
          </p:cNvPicPr>
          <p:nvPr/>
        </p:nvPicPr>
        <p:blipFill>
          <a:blip r:embed="rId3"/>
          <a:stretch>
            <a:fillRect/>
          </a:stretch>
        </p:blipFill>
        <p:spPr>
          <a:xfrm>
            <a:off x="2511033" y="3809467"/>
            <a:ext cx="3842074" cy="528909"/>
          </a:xfrm>
          <a:prstGeom prst="rect">
            <a:avLst/>
          </a:prstGeom>
        </p:spPr>
      </p:pic>
      <p:pic>
        <p:nvPicPr>
          <p:cNvPr id="7" name="Picture 6"/>
          <p:cNvPicPr>
            <a:picLocks noChangeAspect="1"/>
          </p:cNvPicPr>
          <p:nvPr/>
        </p:nvPicPr>
        <p:blipFill>
          <a:blip r:embed="rId4"/>
          <a:stretch>
            <a:fillRect/>
          </a:stretch>
        </p:blipFill>
        <p:spPr>
          <a:xfrm>
            <a:off x="2511033" y="3237725"/>
            <a:ext cx="3842074" cy="528909"/>
          </a:xfrm>
          <a:prstGeom prst="rect">
            <a:avLst/>
          </a:prstGeom>
        </p:spPr>
      </p:pic>
      <p:pic>
        <p:nvPicPr>
          <p:cNvPr id="13" name="Picture 12"/>
          <p:cNvPicPr>
            <a:picLocks noChangeAspect="1"/>
          </p:cNvPicPr>
          <p:nvPr/>
        </p:nvPicPr>
        <p:blipFill>
          <a:blip r:embed="rId5"/>
          <a:stretch>
            <a:fillRect/>
          </a:stretch>
        </p:blipFill>
        <p:spPr>
          <a:xfrm>
            <a:off x="2511033" y="2665983"/>
            <a:ext cx="3842074" cy="528909"/>
          </a:xfrm>
          <a:prstGeom prst="rect">
            <a:avLst/>
          </a:prstGeom>
        </p:spPr>
      </p:pic>
      <p:pic>
        <p:nvPicPr>
          <p:cNvPr id="14" name="Picture 13"/>
          <p:cNvPicPr>
            <a:picLocks noChangeAspect="1"/>
          </p:cNvPicPr>
          <p:nvPr/>
        </p:nvPicPr>
        <p:blipFill>
          <a:blip r:embed="rId6"/>
          <a:stretch>
            <a:fillRect/>
          </a:stretch>
        </p:blipFill>
        <p:spPr>
          <a:xfrm>
            <a:off x="2511033" y="2094241"/>
            <a:ext cx="3842074" cy="528909"/>
          </a:xfrm>
          <a:prstGeom prst="rect">
            <a:avLst/>
          </a:prstGeom>
        </p:spPr>
      </p:pic>
      <p:pic>
        <p:nvPicPr>
          <p:cNvPr id="15" name="Picture 14"/>
          <p:cNvPicPr>
            <a:picLocks noChangeAspect="1"/>
          </p:cNvPicPr>
          <p:nvPr/>
        </p:nvPicPr>
        <p:blipFill>
          <a:blip r:embed="rId7"/>
          <a:stretch>
            <a:fillRect/>
          </a:stretch>
        </p:blipFill>
        <p:spPr>
          <a:xfrm>
            <a:off x="2511033" y="1522496"/>
            <a:ext cx="3842074" cy="528909"/>
          </a:xfrm>
          <a:prstGeom prst="rect">
            <a:avLst/>
          </a:prstGeom>
        </p:spPr>
      </p:pic>
      <p:pic>
        <p:nvPicPr>
          <p:cNvPr id="11" name="Picture 10"/>
          <p:cNvPicPr>
            <a:picLocks noChangeAspect="1"/>
          </p:cNvPicPr>
          <p:nvPr/>
        </p:nvPicPr>
        <p:blipFill>
          <a:blip r:embed="rId8"/>
          <a:stretch>
            <a:fillRect/>
          </a:stretch>
        </p:blipFill>
        <p:spPr>
          <a:xfrm>
            <a:off x="4985248" y="1599248"/>
            <a:ext cx="159670" cy="309361"/>
          </a:xfrm>
          <a:prstGeom prst="rect">
            <a:avLst/>
          </a:prstGeom>
        </p:spPr>
      </p:pic>
      <p:pic>
        <p:nvPicPr>
          <p:cNvPr id="12" name="Picture 11"/>
          <p:cNvPicPr>
            <a:picLocks noChangeAspect="1"/>
          </p:cNvPicPr>
          <p:nvPr/>
        </p:nvPicPr>
        <p:blipFill>
          <a:blip r:embed="rId9"/>
          <a:stretch>
            <a:fillRect/>
          </a:stretch>
        </p:blipFill>
        <p:spPr>
          <a:xfrm>
            <a:off x="5423315" y="1214408"/>
            <a:ext cx="2671531" cy="249777"/>
          </a:xfrm>
          <a:prstGeom prst="rect">
            <a:avLst/>
          </a:prstGeom>
        </p:spPr>
      </p:pic>
    </p:spTree>
    <p:extLst>
      <p:ext uri="{BB962C8B-B14F-4D97-AF65-F5344CB8AC3E}">
        <p14:creationId xmlns:p14="http://schemas.microsoft.com/office/powerpoint/2010/main" val="1914991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74075-8CA8-2043-BA03-4AF59F9F1295}"/>
              </a:ext>
            </a:extLst>
          </p:cNvPr>
          <p:cNvSpPr>
            <a:spLocks noGrp="1"/>
          </p:cNvSpPr>
          <p:nvPr>
            <p:ph type="title"/>
          </p:nvPr>
        </p:nvSpPr>
        <p:spPr/>
        <p:txBody>
          <a:bodyPr/>
          <a:lstStyle/>
          <a:p>
            <a:r>
              <a:rPr lang="en-US" dirty="0"/>
              <a:t>Building governance maturity is a gradual process</a:t>
            </a:r>
          </a:p>
        </p:txBody>
      </p:sp>
      <p:sp>
        <p:nvSpPr>
          <p:cNvPr id="5" name="Content Placeholder 4">
            <a:extLst>
              <a:ext uri="{FF2B5EF4-FFF2-40B4-BE49-F238E27FC236}">
                <a16:creationId xmlns:a16="http://schemas.microsoft.com/office/drawing/2014/main" id="{E936EF85-234F-674C-A559-7B75BB1664DE}"/>
              </a:ext>
            </a:extLst>
          </p:cNvPr>
          <p:cNvSpPr>
            <a:spLocks noGrp="1"/>
          </p:cNvSpPr>
          <p:nvPr>
            <p:ph idx="1"/>
          </p:nvPr>
        </p:nvSpPr>
        <p:spPr>
          <a:xfrm>
            <a:off x="152400" y="1027300"/>
            <a:ext cx="4329165" cy="3660129"/>
          </a:xfrm>
        </p:spPr>
        <p:txBody>
          <a:bodyPr/>
          <a:lstStyle/>
          <a:p>
            <a:r>
              <a:rPr lang="en-US" dirty="0"/>
              <a:t>Organizations may operate different levels of maturity in different parts of their business.</a:t>
            </a:r>
          </a:p>
          <a:p>
            <a:r>
              <a:rPr lang="en-US" dirty="0"/>
              <a:t>Choices determined by where the most value lies.</a:t>
            </a:r>
          </a:p>
          <a:p>
            <a:r>
              <a:rPr lang="en-US" dirty="0"/>
              <a:t>Many organizations aspire to provide all employees with the data they need (data citizenship*) </a:t>
            </a:r>
          </a:p>
        </p:txBody>
      </p:sp>
      <p:pic>
        <p:nvPicPr>
          <p:cNvPr id="4" name="Picture 3">
            <a:extLst>
              <a:ext uri="{FF2B5EF4-FFF2-40B4-BE49-F238E27FC236}">
                <a16:creationId xmlns:a16="http://schemas.microsoft.com/office/drawing/2014/main" id="{3C89F23E-32D4-C144-BB57-934FA2210292}"/>
              </a:ext>
            </a:extLst>
          </p:cNvPr>
          <p:cNvPicPr>
            <a:picLocks noChangeAspect="1"/>
          </p:cNvPicPr>
          <p:nvPr/>
        </p:nvPicPr>
        <p:blipFill>
          <a:blip r:embed="rId2"/>
          <a:stretch>
            <a:fillRect/>
          </a:stretch>
        </p:blipFill>
        <p:spPr>
          <a:xfrm>
            <a:off x="4930601" y="1217938"/>
            <a:ext cx="3570305" cy="3278851"/>
          </a:xfrm>
          <a:prstGeom prst="rect">
            <a:avLst/>
          </a:prstGeom>
        </p:spPr>
      </p:pic>
      <p:pic>
        <p:nvPicPr>
          <p:cNvPr id="6" name="Picture 5">
            <a:extLst>
              <a:ext uri="{FF2B5EF4-FFF2-40B4-BE49-F238E27FC236}">
                <a16:creationId xmlns:a16="http://schemas.microsoft.com/office/drawing/2014/main" id="{15AA4680-1B80-3C4E-A231-148D4C9E6846}"/>
              </a:ext>
            </a:extLst>
          </p:cNvPr>
          <p:cNvPicPr>
            <a:picLocks noChangeAspect="1"/>
          </p:cNvPicPr>
          <p:nvPr/>
        </p:nvPicPr>
        <p:blipFill>
          <a:blip r:embed="rId3"/>
          <a:stretch>
            <a:fillRect/>
          </a:stretch>
        </p:blipFill>
        <p:spPr>
          <a:xfrm>
            <a:off x="754882" y="4350739"/>
            <a:ext cx="3124200" cy="292100"/>
          </a:xfrm>
          <a:prstGeom prst="rect">
            <a:avLst/>
          </a:prstGeom>
        </p:spPr>
      </p:pic>
      <p:sp>
        <p:nvSpPr>
          <p:cNvPr id="8" name="Slide Number Placeholder 2">
            <a:extLst>
              <a:ext uri="{FF2B5EF4-FFF2-40B4-BE49-F238E27FC236}">
                <a16:creationId xmlns:a16="http://schemas.microsoft.com/office/drawing/2014/main" id="{5D72AD9B-6548-754D-A6BB-25D6CF2D77A2}"/>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45</a:t>
            </a:fld>
            <a:endParaRPr lang="en-US" sz="1000"/>
          </a:p>
        </p:txBody>
      </p:sp>
    </p:spTree>
    <p:extLst>
      <p:ext uri="{BB962C8B-B14F-4D97-AF65-F5344CB8AC3E}">
        <p14:creationId xmlns:p14="http://schemas.microsoft.com/office/powerpoint/2010/main" val="6478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CFD212-6EF5-1641-AE2B-0A552AC94CBA}"/>
              </a:ext>
            </a:extLst>
          </p:cNvPr>
          <p:cNvSpPr>
            <a:spLocks noGrp="1"/>
          </p:cNvSpPr>
          <p:nvPr>
            <p:ph type="title"/>
          </p:nvPr>
        </p:nvSpPr>
        <p:spPr/>
        <p:txBody>
          <a:bodyPr/>
          <a:lstStyle/>
          <a:p>
            <a:r>
              <a:rPr lang="en-US" dirty="0"/>
              <a:t>Implementing Data Awareness</a:t>
            </a:r>
          </a:p>
        </p:txBody>
      </p:sp>
      <p:grpSp>
        <p:nvGrpSpPr>
          <p:cNvPr id="11" name="Group 10">
            <a:extLst>
              <a:ext uri="{FF2B5EF4-FFF2-40B4-BE49-F238E27FC236}">
                <a16:creationId xmlns:a16="http://schemas.microsoft.com/office/drawing/2014/main" id="{EC75C2F5-5193-E541-8429-8F63C74B2031}"/>
              </a:ext>
            </a:extLst>
          </p:cNvPr>
          <p:cNvGrpSpPr/>
          <p:nvPr/>
        </p:nvGrpSpPr>
        <p:grpSpPr>
          <a:xfrm>
            <a:off x="7686989" y="145812"/>
            <a:ext cx="977890" cy="833697"/>
            <a:chOff x="6951752" y="145811"/>
            <a:chExt cx="1713127" cy="1097277"/>
          </a:xfrm>
        </p:grpSpPr>
        <p:pic>
          <p:nvPicPr>
            <p:cNvPr id="9" name="Picture 8">
              <a:extLst>
                <a:ext uri="{FF2B5EF4-FFF2-40B4-BE49-F238E27FC236}">
                  <a16:creationId xmlns:a16="http://schemas.microsoft.com/office/drawing/2014/main" id="{102B96A5-74ED-184A-9AC0-7B5BA7F88327}"/>
                </a:ext>
              </a:extLst>
            </p:cNvPr>
            <p:cNvPicPr>
              <a:picLocks noChangeAspect="1"/>
            </p:cNvPicPr>
            <p:nvPr/>
          </p:nvPicPr>
          <p:blipFill>
            <a:blip r:embed="rId2"/>
            <a:stretch>
              <a:fillRect/>
            </a:stretch>
          </p:blipFill>
          <p:spPr>
            <a:xfrm>
              <a:off x="6951752" y="145811"/>
              <a:ext cx="1713127" cy="1097277"/>
            </a:xfrm>
            <a:prstGeom prst="rect">
              <a:avLst/>
            </a:prstGeom>
          </p:spPr>
        </p:pic>
        <p:sp>
          <p:nvSpPr>
            <p:cNvPr id="10" name="Rounded Rectangle 9">
              <a:extLst>
                <a:ext uri="{FF2B5EF4-FFF2-40B4-BE49-F238E27FC236}">
                  <a16:creationId xmlns:a16="http://schemas.microsoft.com/office/drawing/2014/main" id="{72585496-DE26-F342-812C-9CB7EFE6D364}"/>
                </a:ext>
              </a:extLst>
            </p:cNvPr>
            <p:cNvSpPr/>
            <p:nvPr/>
          </p:nvSpPr>
          <p:spPr>
            <a:xfrm>
              <a:off x="7225430" y="941659"/>
              <a:ext cx="1302766" cy="218989"/>
            </a:xfrm>
            <a:prstGeom prst="roundRect">
              <a:avLst/>
            </a:prstGeom>
            <a:noFill/>
            <a:ln w="38100"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grpSp>
      <p:sp>
        <p:nvSpPr>
          <p:cNvPr id="12" name="Slide Number Placeholder 2">
            <a:extLst>
              <a:ext uri="{FF2B5EF4-FFF2-40B4-BE49-F238E27FC236}">
                <a16:creationId xmlns:a16="http://schemas.microsoft.com/office/drawing/2014/main" id="{81894F81-AF69-3C4A-88DE-6B1A35961D39}"/>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46</a:t>
            </a:fld>
            <a:endParaRPr lang="en-US" sz="1000"/>
          </a:p>
        </p:txBody>
      </p:sp>
      <p:pic>
        <p:nvPicPr>
          <p:cNvPr id="7" name="Picture 6">
            <a:extLst>
              <a:ext uri="{FF2B5EF4-FFF2-40B4-BE49-F238E27FC236}">
                <a16:creationId xmlns:a16="http://schemas.microsoft.com/office/drawing/2014/main" id="{6DF3CB45-339B-AA4A-BEC5-63A561D8C327}"/>
              </a:ext>
            </a:extLst>
          </p:cNvPr>
          <p:cNvPicPr>
            <a:picLocks noChangeAspect="1"/>
          </p:cNvPicPr>
          <p:nvPr/>
        </p:nvPicPr>
        <p:blipFill>
          <a:blip r:embed="rId3"/>
          <a:stretch>
            <a:fillRect/>
          </a:stretch>
        </p:blipFill>
        <p:spPr>
          <a:xfrm>
            <a:off x="659544" y="1056266"/>
            <a:ext cx="7027445" cy="3823602"/>
          </a:xfrm>
          <a:prstGeom prst="rect">
            <a:avLst/>
          </a:prstGeom>
        </p:spPr>
      </p:pic>
    </p:spTree>
    <p:extLst>
      <p:ext uri="{BB962C8B-B14F-4D97-AF65-F5344CB8AC3E}">
        <p14:creationId xmlns:p14="http://schemas.microsoft.com/office/powerpoint/2010/main" val="1444220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EB4F1-4544-F04D-B38D-084B9259512A}"/>
              </a:ext>
            </a:extLst>
          </p:cNvPr>
          <p:cNvSpPr>
            <a:spLocks noGrp="1"/>
          </p:cNvSpPr>
          <p:nvPr>
            <p:ph type="title"/>
          </p:nvPr>
        </p:nvSpPr>
        <p:spPr/>
        <p:txBody>
          <a:bodyPr/>
          <a:lstStyle/>
          <a:p>
            <a:r>
              <a:rPr lang="en-US" dirty="0"/>
              <a:t>Implementing Governance Awareness</a:t>
            </a:r>
          </a:p>
        </p:txBody>
      </p:sp>
      <p:grpSp>
        <p:nvGrpSpPr>
          <p:cNvPr id="5" name="Group 4">
            <a:extLst>
              <a:ext uri="{FF2B5EF4-FFF2-40B4-BE49-F238E27FC236}">
                <a16:creationId xmlns:a16="http://schemas.microsoft.com/office/drawing/2014/main" id="{6F33A6E1-53A9-0B49-8EB0-E22CAA255C5D}"/>
              </a:ext>
            </a:extLst>
          </p:cNvPr>
          <p:cNvGrpSpPr/>
          <p:nvPr/>
        </p:nvGrpSpPr>
        <p:grpSpPr>
          <a:xfrm>
            <a:off x="7686989" y="145812"/>
            <a:ext cx="977890" cy="833697"/>
            <a:chOff x="6951752" y="145811"/>
            <a:chExt cx="1713127" cy="1097277"/>
          </a:xfrm>
        </p:grpSpPr>
        <p:pic>
          <p:nvPicPr>
            <p:cNvPr id="6" name="Picture 5">
              <a:extLst>
                <a:ext uri="{FF2B5EF4-FFF2-40B4-BE49-F238E27FC236}">
                  <a16:creationId xmlns:a16="http://schemas.microsoft.com/office/drawing/2014/main" id="{050CE51D-1E94-4649-BEDD-B9C988B3DD9A}"/>
                </a:ext>
              </a:extLst>
            </p:cNvPr>
            <p:cNvPicPr>
              <a:picLocks noChangeAspect="1"/>
            </p:cNvPicPr>
            <p:nvPr/>
          </p:nvPicPr>
          <p:blipFill>
            <a:blip r:embed="rId2"/>
            <a:stretch>
              <a:fillRect/>
            </a:stretch>
          </p:blipFill>
          <p:spPr>
            <a:xfrm>
              <a:off x="6951752" y="145811"/>
              <a:ext cx="1713127" cy="1097277"/>
            </a:xfrm>
            <a:prstGeom prst="rect">
              <a:avLst/>
            </a:prstGeom>
          </p:spPr>
        </p:pic>
        <p:sp>
          <p:nvSpPr>
            <p:cNvPr id="7" name="Rounded Rectangle 6">
              <a:extLst>
                <a:ext uri="{FF2B5EF4-FFF2-40B4-BE49-F238E27FC236}">
                  <a16:creationId xmlns:a16="http://schemas.microsoft.com/office/drawing/2014/main" id="{17D699C7-C213-2243-9C1E-1CE0D0EF03F2}"/>
                </a:ext>
              </a:extLst>
            </p:cNvPr>
            <p:cNvSpPr/>
            <p:nvPr/>
          </p:nvSpPr>
          <p:spPr>
            <a:xfrm>
              <a:off x="7225429" y="769737"/>
              <a:ext cx="1302766" cy="218989"/>
            </a:xfrm>
            <a:prstGeom prst="roundRect">
              <a:avLst/>
            </a:prstGeom>
            <a:noFill/>
            <a:ln w="38100"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grpSp>
      <p:sp>
        <p:nvSpPr>
          <p:cNvPr id="9" name="Slide Number Placeholder 2">
            <a:extLst>
              <a:ext uri="{FF2B5EF4-FFF2-40B4-BE49-F238E27FC236}">
                <a16:creationId xmlns:a16="http://schemas.microsoft.com/office/drawing/2014/main" id="{927C9121-13FF-C041-92F4-FE2D7C2C7D28}"/>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47</a:t>
            </a:fld>
            <a:endParaRPr lang="en-US" sz="1000"/>
          </a:p>
        </p:txBody>
      </p:sp>
      <p:pic>
        <p:nvPicPr>
          <p:cNvPr id="11" name="Picture 10">
            <a:extLst>
              <a:ext uri="{FF2B5EF4-FFF2-40B4-BE49-F238E27FC236}">
                <a16:creationId xmlns:a16="http://schemas.microsoft.com/office/drawing/2014/main" id="{FCFAA735-5A3A-4E45-87BD-46D7DD37D83C}"/>
              </a:ext>
            </a:extLst>
          </p:cNvPr>
          <p:cNvPicPr>
            <a:picLocks noChangeAspect="1"/>
          </p:cNvPicPr>
          <p:nvPr/>
        </p:nvPicPr>
        <p:blipFill>
          <a:blip r:embed="rId3"/>
          <a:stretch>
            <a:fillRect/>
          </a:stretch>
        </p:blipFill>
        <p:spPr>
          <a:xfrm>
            <a:off x="1016000" y="1273287"/>
            <a:ext cx="7112000" cy="3263900"/>
          </a:xfrm>
          <a:prstGeom prst="rect">
            <a:avLst/>
          </a:prstGeom>
        </p:spPr>
      </p:pic>
    </p:spTree>
    <p:extLst>
      <p:ext uri="{BB962C8B-B14F-4D97-AF65-F5344CB8AC3E}">
        <p14:creationId xmlns:p14="http://schemas.microsoft.com/office/powerpoint/2010/main" val="38464418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2126F-BD74-C143-8ECD-6EF9B50AF42F}"/>
              </a:ext>
            </a:extLst>
          </p:cNvPr>
          <p:cNvSpPr>
            <a:spLocks noGrp="1"/>
          </p:cNvSpPr>
          <p:nvPr>
            <p:ph type="title"/>
          </p:nvPr>
        </p:nvSpPr>
        <p:spPr/>
        <p:txBody>
          <a:bodyPr/>
          <a:lstStyle/>
          <a:p>
            <a:r>
              <a:rPr lang="en-US" dirty="0"/>
              <a:t>Implementing Embedded Governance</a:t>
            </a:r>
          </a:p>
        </p:txBody>
      </p:sp>
      <p:grpSp>
        <p:nvGrpSpPr>
          <p:cNvPr id="5" name="Group 4">
            <a:extLst>
              <a:ext uri="{FF2B5EF4-FFF2-40B4-BE49-F238E27FC236}">
                <a16:creationId xmlns:a16="http://schemas.microsoft.com/office/drawing/2014/main" id="{D7987736-0BE0-8D4A-A901-1A04FC8300EF}"/>
              </a:ext>
            </a:extLst>
          </p:cNvPr>
          <p:cNvGrpSpPr/>
          <p:nvPr/>
        </p:nvGrpSpPr>
        <p:grpSpPr>
          <a:xfrm>
            <a:off x="7686989" y="145812"/>
            <a:ext cx="977890" cy="833697"/>
            <a:chOff x="6951752" y="145811"/>
            <a:chExt cx="1713127" cy="1097277"/>
          </a:xfrm>
        </p:grpSpPr>
        <p:pic>
          <p:nvPicPr>
            <p:cNvPr id="6" name="Picture 5">
              <a:extLst>
                <a:ext uri="{FF2B5EF4-FFF2-40B4-BE49-F238E27FC236}">
                  <a16:creationId xmlns:a16="http://schemas.microsoft.com/office/drawing/2014/main" id="{ED52E132-6106-0846-BEE2-D2199B044FFD}"/>
                </a:ext>
              </a:extLst>
            </p:cNvPr>
            <p:cNvPicPr>
              <a:picLocks noChangeAspect="1"/>
            </p:cNvPicPr>
            <p:nvPr/>
          </p:nvPicPr>
          <p:blipFill>
            <a:blip r:embed="rId2"/>
            <a:stretch>
              <a:fillRect/>
            </a:stretch>
          </p:blipFill>
          <p:spPr>
            <a:xfrm>
              <a:off x="6951752" y="145811"/>
              <a:ext cx="1713127" cy="1097277"/>
            </a:xfrm>
            <a:prstGeom prst="rect">
              <a:avLst/>
            </a:prstGeom>
          </p:spPr>
        </p:pic>
        <p:sp>
          <p:nvSpPr>
            <p:cNvPr id="7" name="Rounded Rectangle 6">
              <a:extLst>
                <a:ext uri="{FF2B5EF4-FFF2-40B4-BE49-F238E27FC236}">
                  <a16:creationId xmlns:a16="http://schemas.microsoft.com/office/drawing/2014/main" id="{18130352-EC89-6D45-9FC9-2A8B504044EB}"/>
                </a:ext>
              </a:extLst>
            </p:cNvPr>
            <p:cNvSpPr/>
            <p:nvPr/>
          </p:nvSpPr>
          <p:spPr>
            <a:xfrm>
              <a:off x="7225429" y="611040"/>
              <a:ext cx="1302766" cy="218989"/>
            </a:xfrm>
            <a:prstGeom prst="roundRect">
              <a:avLst/>
            </a:prstGeom>
            <a:noFill/>
            <a:ln w="38100"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grpSp>
      <p:pic>
        <p:nvPicPr>
          <p:cNvPr id="8" name="Picture 7">
            <a:extLst>
              <a:ext uri="{FF2B5EF4-FFF2-40B4-BE49-F238E27FC236}">
                <a16:creationId xmlns:a16="http://schemas.microsoft.com/office/drawing/2014/main" id="{AEE46898-256B-4E49-BA8B-7C056CC7A7F6}"/>
              </a:ext>
            </a:extLst>
          </p:cNvPr>
          <p:cNvPicPr>
            <a:picLocks noChangeAspect="1"/>
          </p:cNvPicPr>
          <p:nvPr/>
        </p:nvPicPr>
        <p:blipFill>
          <a:blip r:embed="rId3"/>
          <a:stretch>
            <a:fillRect/>
          </a:stretch>
        </p:blipFill>
        <p:spPr>
          <a:xfrm>
            <a:off x="1869973" y="1478321"/>
            <a:ext cx="5600700" cy="2717800"/>
          </a:xfrm>
          <a:prstGeom prst="rect">
            <a:avLst/>
          </a:prstGeom>
        </p:spPr>
      </p:pic>
      <p:sp>
        <p:nvSpPr>
          <p:cNvPr id="9" name="Slide Number Placeholder 2">
            <a:extLst>
              <a:ext uri="{FF2B5EF4-FFF2-40B4-BE49-F238E27FC236}">
                <a16:creationId xmlns:a16="http://schemas.microsoft.com/office/drawing/2014/main" id="{EB749443-DF3E-AF44-BBAF-063AF11C745B}"/>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48</a:t>
            </a:fld>
            <a:endParaRPr lang="en-US" sz="1000"/>
          </a:p>
        </p:txBody>
      </p:sp>
    </p:spTree>
    <p:extLst>
      <p:ext uri="{BB962C8B-B14F-4D97-AF65-F5344CB8AC3E}">
        <p14:creationId xmlns:p14="http://schemas.microsoft.com/office/powerpoint/2010/main" val="391272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A6896-2989-734C-9F78-D21697AE5329}"/>
              </a:ext>
            </a:extLst>
          </p:cNvPr>
          <p:cNvSpPr>
            <a:spLocks noGrp="1"/>
          </p:cNvSpPr>
          <p:nvPr>
            <p:ph type="title"/>
          </p:nvPr>
        </p:nvSpPr>
        <p:spPr/>
        <p:txBody>
          <a:bodyPr/>
          <a:lstStyle/>
          <a:p>
            <a:r>
              <a:rPr lang="en-US" dirty="0"/>
              <a:t>Implementing Business Driven Governance</a:t>
            </a:r>
          </a:p>
        </p:txBody>
      </p:sp>
      <p:grpSp>
        <p:nvGrpSpPr>
          <p:cNvPr id="5" name="Group 4">
            <a:extLst>
              <a:ext uri="{FF2B5EF4-FFF2-40B4-BE49-F238E27FC236}">
                <a16:creationId xmlns:a16="http://schemas.microsoft.com/office/drawing/2014/main" id="{58BF49DD-6F0C-3C4F-9B26-6840505CFFFF}"/>
              </a:ext>
            </a:extLst>
          </p:cNvPr>
          <p:cNvGrpSpPr/>
          <p:nvPr/>
        </p:nvGrpSpPr>
        <p:grpSpPr>
          <a:xfrm>
            <a:off x="7686989" y="145812"/>
            <a:ext cx="977890" cy="833697"/>
            <a:chOff x="6951752" y="145811"/>
            <a:chExt cx="1713127" cy="1097277"/>
          </a:xfrm>
        </p:grpSpPr>
        <p:pic>
          <p:nvPicPr>
            <p:cNvPr id="6" name="Picture 5">
              <a:extLst>
                <a:ext uri="{FF2B5EF4-FFF2-40B4-BE49-F238E27FC236}">
                  <a16:creationId xmlns:a16="http://schemas.microsoft.com/office/drawing/2014/main" id="{1885ABA6-DEF9-D240-B202-3954B51FDB62}"/>
                </a:ext>
              </a:extLst>
            </p:cNvPr>
            <p:cNvPicPr>
              <a:picLocks noChangeAspect="1"/>
            </p:cNvPicPr>
            <p:nvPr/>
          </p:nvPicPr>
          <p:blipFill>
            <a:blip r:embed="rId2"/>
            <a:stretch>
              <a:fillRect/>
            </a:stretch>
          </p:blipFill>
          <p:spPr>
            <a:xfrm>
              <a:off x="6951752" y="145811"/>
              <a:ext cx="1713127" cy="1097277"/>
            </a:xfrm>
            <a:prstGeom prst="rect">
              <a:avLst/>
            </a:prstGeom>
          </p:spPr>
        </p:pic>
        <p:sp>
          <p:nvSpPr>
            <p:cNvPr id="7" name="Rounded Rectangle 6">
              <a:extLst>
                <a:ext uri="{FF2B5EF4-FFF2-40B4-BE49-F238E27FC236}">
                  <a16:creationId xmlns:a16="http://schemas.microsoft.com/office/drawing/2014/main" id="{CF4A0F59-E433-7141-A8AF-58956B09173D}"/>
                </a:ext>
              </a:extLst>
            </p:cNvPr>
            <p:cNvSpPr/>
            <p:nvPr/>
          </p:nvSpPr>
          <p:spPr>
            <a:xfrm>
              <a:off x="7225429" y="465557"/>
              <a:ext cx="1302766" cy="218989"/>
            </a:xfrm>
            <a:prstGeom prst="roundRect">
              <a:avLst/>
            </a:prstGeom>
            <a:noFill/>
            <a:ln w="38100"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grpSp>
      <p:sp>
        <p:nvSpPr>
          <p:cNvPr id="9" name="Slide Number Placeholder 2">
            <a:extLst>
              <a:ext uri="{FF2B5EF4-FFF2-40B4-BE49-F238E27FC236}">
                <a16:creationId xmlns:a16="http://schemas.microsoft.com/office/drawing/2014/main" id="{AFE9845D-FC7D-8443-A541-7E70CFBB1D7A}"/>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49</a:t>
            </a:fld>
            <a:endParaRPr lang="en-US" sz="1000"/>
          </a:p>
        </p:txBody>
      </p:sp>
      <p:pic>
        <p:nvPicPr>
          <p:cNvPr id="11" name="Picture 10">
            <a:extLst>
              <a:ext uri="{FF2B5EF4-FFF2-40B4-BE49-F238E27FC236}">
                <a16:creationId xmlns:a16="http://schemas.microsoft.com/office/drawing/2014/main" id="{F0937BCE-C48F-4E44-8797-2D08421F7070}"/>
              </a:ext>
            </a:extLst>
          </p:cNvPr>
          <p:cNvPicPr>
            <a:picLocks noChangeAspect="1"/>
          </p:cNvPicPr>
          <p:nvPr/>
        </p:nvPicPr>
        <p:blipFill>
          <a:blip r:embed="rId3"/>
          <a:stretch>
            <a:fillRect/>
          </a:stretch>
        </p:blipFill>
        <p:spPr>
          <a:xfrm>
            <a:off x="0" y="1718234"/>
            <a:ext cx="9144000" cy="2499666"/>
          </a:xfrm>
          <a:prstGeom prst="rect">
            <a:avLst/>
          </a:prstGeom>
        </p:spPr>
      </p:pic>
    </p:spTree>
    <p:extLst>
      <p:ext uri="{BB962C8B-B14F-4D97-AF65-F5344CB8AC3E}">
        <p14:creationId xmlns:p14="http://schemas.microsoft.com/office/powerpoint/2010/main" val="246409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54A44-A63D-B442-B4BC-9BBE4BE01BEA}"/>
              </a:ext>
            </a:extLst>
          </p:cNvPr>
          <p:cNvSpPr>
            <a:spLocks noGrp="1"/>
          </p:cNvSpPr>
          <p:nvPr>
            <p:ph type="title"/>
          </p:nvPr>
        </p:nvSpPr>
        <p:spPr/>
        <p:txBody>
          <a:bodyPr/>
          <a:lstStyle/>
          <a:p>
            <a:r>
              <a:rPr lang="en-US" dirty="0"/>
              <a:t>Implementing Data Citizenship</a:t>
            </a:r>
          </a:p>
        </p:txBody>
      </p:sp>
      <p:grpSp>
        <p:nvGrpSpPr>
          <p:cNvPr id="10" name="Group 9">
            <a:extLst>
              <a:ext uri="{FF2B5EF4-FFF2-40B4-BE49-F238E27FC236}">
                <a16:creationId xmlns:a16="http://schemas.microsoft.com/office/drawing/2014/main" id="{9B9E0C3C-C335-3349-842B-39CB0D0A3085}"/>
              </a:ext>
            </a:extLst>
          </p:cNvPr>
          <p:cNvGrpSpPr/>
          <p:nvPr/>
        </p:nvGrpSpPr>
        <p:grpSpPr>
          <a:xfrm>
            <a:off x="7686989" y="145812"/>
            <a:ext cx="977890" cy="833697"/>
            <a:chOff x="6951752" y="145811"/>
            <a:chExt cx="1713127" cy="1097277"/>
          </a:xfrm>
        </p:grpSpPr>
        <p:pic>
          <p:nvPicPr>
            <p:cNvPr id="11" name="Picture 10">
              <a:extLst>
                <a:ext uri="{FF2B5EF4-FFF2-40B4-BE49-F238E27FC236}">
                  <a16:creationId xmlns:a16="http://schemas.microsoft.com/office/drawing/2014/main" id="{148CE456-9B12-554A-A03A-4FBC90E6B5FA}"/>
                </a:ext>
              </a:extLst>
            </p:cNvPr>
            <p:cNvPicPr>
              <a:picLocks noChangeAspect="1"/>
            </p:cNvPicPr>
            <p:nvPr/>
          </p:nvPicPr>
          <p:blipFill>
            <a:blip r:embed="rId2"/>
            <a:stretch>
              <a:fillRect/>
            </a:stretch>
          </p:blipFill>
          <p:spPr>
            <a:xfrm>
              <a:off x="6951752" y="145811"/>
              <a:ext cx="1713127" cy="1097277"/>
            </a:xfrm>
            <a:prstGeom prst="rect">
              <a:avLst/>
            </a:prstGeom>
          </p:spPr>
        </p:pic>
        <p:sp>
          <p:nvSpPr>
            <p:cNvPr id="12" name="Rounded Rectangle 11">
              <a:extLst>
                <a:ext uri="{FF2B5EF4-FFF2-40B4-BE49-F238E27FC236}">
                  <a16:creationId xmlns:a16="http://schemas.microsoft.com/office/drawing/2014/main" id="{07CAB4DA-B134-964F-8452-2046C3C900C5}"/>
                </a:ext>
              </a:extLst>
            </p:cNvPr>
            <p:cNvSpPr/>
            <p:nvPr/>
          </p:nvSpPr>
          <p:spPr>
            <a:xfrm>
              <a:off x="7225429" y="293634"/>
              <a:ext cx="1302766" cy="218989"/>
            </a:xfrm>
            <a:prstGeom prst="roundRect">
              <a:avLst/>
            </a:prstGeom>
            <a:noFill/>
            <a:ln w="38100" cmpd="sng">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800" dirty="0">
                <a:solidFill>
                  <a:srgbClr val="1F497D"/>
                </a:solidFill>
                <a:latin typeface="Calibri"/>
                <a:cs typeface="Calibri"/>
              </a:endParaRPr>
            </a:p>
          </p:txBody>
        </p:sp>
      </p:grpSp>
      <p:sp>
        <p:nvSpPr>
          <p:cNvPr id="13" name="Slide Number Placeholder 2">
            <a:extLst>
              <a:ext uri="{FF2B5EF4-FFF2-40B4-BE49-F238E27FC236}">
                <a16:creationId xmlns:a16="http://schemas.microsoft.com/office/drawing/2014/main" id="{F62181A6-546C-C14C-BC5F-3B6E15E89D93}"/>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50</a:t>
            </a:fld>
            <a:endParaRPr lang="en-US" sz="1000"/>
          </a:p>
        </p:txBody>
      </p:sp>
      <p:pic>
        <p:nvPicPr>
          <p:cNvPr id="7" name="Picture 6">
            <a:extLst>
              <a:ext uri="{FF2B5EF4-FFF2-40B4-BE49-F238E27FC236}">
                <a16:creationId xmlns:a16="http://schemas.microsoft.com/office/drawing/2014/main" id="{F45E7AA2-0897-D44F-A99B-DA84E256B87B}"/>
              </a:ext>
            </a:extLst>
          </p:cNvPr>
          <p:cNvPicPr>
            <a:picLocks noChangeAspect="1"/>
          </p:cNvPicPr>
          <p:nvPr/>
        </p:nvPicPr>
        <p:blipFill>
          <a:blip r:embed="rId3"/>
          <a:stretch>
            <a:fillRect/>
          </a:stretch>
        </p:blipFill>
        <p:spPr>
          <a:xfrm>
            <a:off x="607594" y="1122774"/>
            <a:ext cx="7928811" cy="3630276"/>
          </a:xfrm>
          <a:prstGeom prst="rect">
            <a:avLst/>
          </a:prstGeom>
        </p:spPr>
      </p:pic>
    </p:spTree>
    <p:extLst>
      <p:ext uri="{BB962C8B-B14F-4D97-AF65-F5344CB8AC3E}">
        <p14:creationId xmlns:p14="http://schemas.microsoft.com/office/powerpoint/2010/main" val="25783542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ECCAFF-2027-6441-BDAE-9A3AB460CACC}"/>
              </a:ext>
            </a:extLst>
          </p:cNvPr>
          <p:cNvSpPr>
            <a:spLocks noGrp="1"/>
          </p:cNvSpPr>
          <p:nvPr>
            <p:ph type="title"/>
          </p:nvPr>
        </p:nvSpPr>
        <p:spPr/>
        <p:txBody>
          <a:bodyPr/>
          <a:lstStyle/>
          <a:p>
            <a:r>
              <a:rPr lang="en-US" dirty="0"/>
              <a:t>Observations from the maturity model</a:t>
            </a:r>
          </a:p>
        </p:txBody>
      </p:sp>
      <p:sp>
        <p:nvSpPr>
          <p:cNvPr id="5" name="Content Placeholder 4">
            <a:extLst>
              <a:ext uri="{FF2B5EF4-FFF2-40B4-BE49-F238E27FC236}">
                <a16:creationId xmlns:a16="http://schemas.microsoft.com/office/drawing/2014/main" id="{CADE571C-184D-D24F-ABF6-9C637B2CD509}"/>
              </a:ext>
            </a:extLst>
          </p:cNvPr>
          <p:cNvSpPr>
            <a:spLocks noGrp="1"/>
          </p:cNvSpPr>
          <p:nvPr>
            <p:ph idx="1"/>
          </p:nvPr>
        </p:nvSpPr>
        <p:spPr/>
        <p:txBody>
          <a:bodyPr/>
          <a:lstStyle/>
          <a:p>
            <a:r>
              <a:rPr lang="en-US" dirty="0"/>
              <a:t>The number of bespoke integrations between tools to exchange metadata so it is consistently available to everyone who needs it grows steadily with each step up in maturity.</a:t>
            </a:r>
          </a:p>
          <a:p>
            <a:r>
              <a:rPr lang="en-US" dirty="0"/>
              <a:t>With little to no standardization between vendors, the cost and time delay is born by the organization.</a:t>
            </a:r>
          </a:p>
        </p:txBody>
      </p:sp>
      <p:sp>
        <p:nvSpPr>
          <p:cNvPr id="3" name="Slide Number Placeholder 2">
            <a:extLst>
              <a:ext uri="{FF2B5EF4-FFF2-40B4-BE49-F238E27FC236}">
                <a16:creationId xmlns:a16="http://schemas.microsoft.com/office/drawing/2014/main" id="{499566B9-7D8E-EA41-AAA4-2FB625461E1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51</a:t>
            </a:fld>
            <a:endParaRPr lang="en-US" sz="1000"/>
          </a:p>
        </p:txBody>
      </p:sp>
    </p:spTree>
    <p:extLst>
      <p:ext uri="{BB962C8B-B14F-4D97-AF65-F5344CB8AC3E}">
        <p14:creationId xmlns:p14="http://schemas.microsoft.com/office/powerpoint/2010/main" val="25355828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49D8AA-877B-F14F-A76F-E04BA0A7C4B7}"/>
              </a:ext>
            </a:extLst>
          </p:cNvPr>
          <p:cNvSpPr>
            <a:spLocks noGrp="1"/>
          </p:cNvSpPr>
          <p:nvPr>
            <p:ph type="title"/>
          </p:nvPr>
        </p:nvSpPr>
        <p:spPr/>
        <p:txBody>
          <a:bodyPr>
            <a:normAutofit fontScale="90000"/>
          </a:bodyPr>
          <a:lstStyle/>
          <a:p>
            <a:r>
              <a:rPr lang="en-US" dirty="0"/>
              <a:t>Using Egeria …</a:t>
            </a:r>
            <a:br>
              <a:rPr lang="en-US" dirty="0"/>
            </a:br>
            <a:endParaRPr lang="en-US" dirty="0"/>
          </a:p>
        </p:txBody>
      </p:sp>
      <p:sp>
        <p:nvSpPr>
          <p:cNvPr id="11" name="Content Placeholder 10">
            <a:extLst>
              <a:ext uri="{FF2B5EF4-FFF2-40B4-BE49-F238E27FC236}">
                <a16:creationId xmlns:a16="http://schemas.microsoft.com/office/drawing/2014/main" id="{84BE4384-1D19-9840-B998-3BB9C2D0B3BE}"/>
              </a:ext>
            </a:extLst>
          </p:cNvPr>
          <p:cNvSpPr>
            <a:spLocks noGrp="1"/>
          </p:cNvSpPr>
          <p:nvPr>
            <p:ph idx="1"/>
          </p:nvPr>
        </p:nvSpPr>
        <p:spPr>
          <a:xfrm>
            <a:off x="152400" y="1027300"/>
            <a:ext cx="3746360" cy="3660129"/>
          </a:xfrm>
        </p:spPr>
        <p:txBody>
          <a:bodyPr/>
          <a:lstStyle/>
          <a:p>
            <a:r>
              <a:rPr lang="en-US" dirty="0"/>
              <a:t>Eases the cost of metadata integration through </a:t>
            </a:r>
          </a:p>
          <a:p>
            <a:pPr lvl="1"/>
            <a:r>
              <a:rPr lang="en-US" dirty="0"/>
              <a:t>Comprehensive standards and libraries.  </a:t>
            </a:r>
          </a:p>
          <a:p>
            <a:pPr lvl="1"/>
            <a:r>
              <a:rPr lang="en-US" dirty="0"/>
              <a:t>Active vendor recruitment program.</a:t>
            </a:r>
          </a:p>
          <a:p>
            <a:r>
              <a:rPr lang="en-US" dirty="0"/>
              <a:t>Provides direct support to many governance roles, filling the gaps between function offered through commercial tools.</a:t>
            </a:r>
          </a:p>
        </p:txBody>
      </p:sp>
      <p:sp>
        <p:nvSpPr>
          <p:cNvPr id="5" name="Slide Number Placeholder 2">
            <a:extLst>
              <a:ext uri="{FF2B5EF4-FFF2-40B4-BE49-F238E27FC236}">
                <a16:creationId xmlns:a16="http://schemas.microsoft.com/office/drawing/2014/main" id="{B6969F63-B3E1-E743-9885-218EDEE9EAEB}"/>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52</a:t>
            </a:fld>
            <a:endParaRPr lang="en-US" sz="1000"/>
          </a:p>
        </p:txBody>
      </p:sp>
      <p:pic>
        <p:nvPicPr>
          <p:cNvPr id="3" name="Picture 2">
            <a:extLst>
              <a:ext uri="{FF2B5EF4-FFF2-40B4-BE49-F238E27FC236}">
                <a16:creationId xmlns:a16="http://schemas.microsoft.com/office/drawing/2014/main" id="{93714DE1-6CEC-5849-BCBF-55BE708A5BC6}"/>
              </a:ext>
            </a:extLst>
          </p:cNvPr>
          <p:cNvPicPr>
            <a:picLocks noChangeAspect="1"/>
          </p:cNvPicPr>
          <p:nvPr/>
        </p:nvPicPr>
        <p:blipFill>
          <a:blip r:embed="rId2"/>
          <a:stretch>
            <a:fillRect/>
          </a:stretch>
        </p:blipFill>
        <p:spPr>
          <a:xfrm>
            <a:off x="4422664" y="280673"/>
            <a:ext cx="4409635" cy="4523874"/>
          </a:xfrm>
          <a:prstGeom prst="rect">
            <a:avLst/>
          </a:prstGeom>
        </p:spPr>
      </p:pic>
    </p:spTree>
    <p:extLst>
      <p:ext uri="{BB962C8B-B14F-4D97-AF65-F5344CB8AC3E}">
        <p14:creationId xmlns:p14="http://schemas.microsoft.com/office/powerpoint/2010/main" val="30985395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Data Models and Metadata</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53</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6959277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Title 1">
            <a:extLst>
              <a:ext uri="{FF2B5EF4-FFF2-40B4-BE49-F238E27FC236}">
                <a16:creationId xmlns:a16="http://schemas.microsoft.com/office/drawing/2014/main" id="{89A5CBAD-C787-4055-A67B-8815E0B8F599}"/>
              </a:ext>
            </a:extLst>
          </p:cNvPr>
          <p:cNvSpPr>
            <a:spLocks noGrp="1"/>
          </p:cNvSpPr>
          <p:nvPr>
            <p:ph type="title"/>
          </p:nvPr>
        </p:nvSpPr>
        <p:spPr/>
        <p:txBody>
          <a:bodyPr/>
          <a:lstStyle/>
          <a:p>
            <a:r>
              <a:rPr lang="en-US" dirty="0"/>
              <a:t>Scope of metadata for a governance program</a:t>
            </a:r>
            <a:endParaRPr lang="en-GB" dirty="0"/>
          </a:p>
        </p:txBody>
      </p:sp>
      <p:sp>
        <p:nvSpPr>
          <p:cNvPr id="89" name="Rectangle 88">
            <a:extLst>
              <a:ext uri="{FF2B5EF4-FFF2-40B4-BE49-F238E27FC236}">
                <a16:creationId xmlns:a16="http://schemas.microsoft.com/office/drawing/2014/main" id="{18D75081-797D-4740-B7B9-5D93286D1BAF}"/>
              </a:ext>
            </a:extLst>
          </p:cNvPr>
          <p:cNvSpPr/>
          <p:nvPr/>
        </p:nvSpPr>
        <p:spPr>
          <a:xfrm>
            <a:off x="1326624" y="1014443"/>
            <a:ext cx="6536162" cy="3573234"/>
          </a:xfrm>
          <a:prstGeom prst="rect">
            <a:avLst/>
          </a:prstGeom>
          <a:solidFill>
            <a:srgbClr val="1F497D">
              <a:lumMod val="60000"/>
              <a:lumOff val="40000"/>
            </a:srgbClr>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grpSp>
        <p:nvGrpSpPr>
          <p:cNvPr id="90" name="Group 9">
            <a:extLst>
              <a:ext uri="{FF2B5EF4-FFF2-40B4-BE49-F238E27FC236}">
                <a16:creationId xmlns:a16="http://schemas.microsoft.com/office/drawing/2014/main" id="{2EE9007A-30B5-3246-9B41-958728999FF5}"/>
              </a:ext>
            </a:extLst>
          </p:cNvPr>
          <p:cNvGrpSpPr>
            <a:grpSpLocks/>
          </p:cNvGrpSpPr>
          <p:nvPr/>
        </p:nvGrpSpPr>
        <p:grpSpPr bwMode="auto">
          <a:xfrm>
            <a:off x="1138314" y="1024287"/>
            <a:ext cx="6768832" cy="3564641"/>
            <a:chOff x="738873" y="2120900"/>
            <a:chExt cx="7509684" cy="4610727"/>
          </a:xfrm>
        </p:grpSpPr>
        <p:sp>
          <p:nvSpPr>
            <p:cNvPr id="91" name="Rectangle 90">
              <a:extLst>
                <a:ext uri="{FF2B5EF4-FFF2-40B4-BE49-F238E27FC236}">
                  <a16:creationId xmlns:a16="http://schemas.microsoft.com/office/drawing/2014/main" id="{AF8EB1EC-4969-AA46-8190-AEABC13A68E4}"/>
                </a:ext>
              </a:extLst>
            </p:cNvPr>
            <p:cNvSpPr/>
            <p:nvPr/>
          </p:nvSpPr>
          <p:spPr>
            <a:xfrm>
              <a:off x="738873" y="2206637"/>
              <a:ext cx="7496984" cy="4524990"/>
            </a:xfrm>
            <a:prstGeom prst="rect">
              <a:avLst/>
            </a:prstGeom>
            <a:solidFill>
              <a:srgbClr val="558ED5"/>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92" name="Rectangle 91">
              <a:extLst>
                <a:ext uri="{FF2B5EF4-FFF2-40B4-BE49-F238E27FC236}">
                  <a16:creationId xmlns:a16="http://schemas.microsoft.com/office/drawing/2014/main" id="{5E14CF6B-DBEB-E447-83D0-E53D451A16DD}"/>
                </a:ext>
              </a:extLst>
            </p:cNvPr>
            <p:cNvSpPr/>
            <p:nvPr/>
          </p:nvSpPr>
          <p:spPr>
            <a:xfrm>
              <a:off x="3608392" y="2133603"/>
              <a:ext cx="2235153" cy="2153821"/>
            </a:xfrm>
            <a:prstGeom prst="rect">
              <a:avLst/>
            </a:prstGeom>
            <a:solidFill>
              <a:srgbClr val="4BACC6">
                <a:lumMod val="60000"/>
                <a:lumOff val="40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93" name="Rectangle 92">
              <a:extLst>
                <a:ext uri="{FF2B5EF4-FFF2-40B4-BE49-F238E27FC236}">
                  <a16:creationId xmlns:a16="http://schemas.microsoft.com/office/drawing/2014/main" id="{1CD503FD-3A56-AE49-91CC-15EC1A918EDD}"/>
                </a:ext>
              </a:extLst>
            </p:cNvPr>
            <p:cNvSpPr/>
            <p:nvPr/>
          </p:nvSpPr>
          <p:spPr>
            <a:xfrm>
              <a:off x="5695911" y="2135190"/>
              <a:ext cx="2552646" cy="2179933"/>
            </a:xfrm>
            <a:prstGeom prst="rect">
              <a:avLst/>
            </a:prstGeom>
            <a:solidFill>
              <a:srgbClr val="C0504D">
                <a:lumMod val="40000"/>
                <a:lumOff val="60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94" name="Rectangle 93">
              <a:extLst>
                <a:ext uri="{FF2B5EF4-FFF2-40B4-BE49-F238E27FC236}">
                  <a16:creationId xmlns:a16="http://schemas.microsoft.com/office/drawing/2014/main" id="{011F9F39-C77E-2746-ADE4-91E0EC9D2605}"/>
                </a:ext>
              </a:extLst>
            </p:cNvPr>
            <p:cNvSpPr/>
            <p:nvPr/>
          </p:nvSpPr>
          <p:spPr>
            <a:xfrm>
              <a:off x="738874" y="2120900"/>
              <a:ext cx="3044543" cy="3064441"/>
            </a:xfrm>
            <a:prstGeom prst="rect">
              <a:avLst/>
            </a:prstGeom>
            <a:solidFill>
              <a:srgbClr val="9BBB59">
                <a:lumMod val="60000"/>
                <a:lumOff val="40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95" name="Rectangle 94">
              <a:extLst>
                <a:ext uri="{FF2B5EF4-FFF2-40B4-BE49-F238E27FC236}">
                  <a16:creationId xmlns:a16="http://schemas.microsoft.com/office/drawing/2014/main" id="{FC2228EA-CB89-014B-9E4A-9B45947159D4}"/>
                </a:ext>
              </a:extLst>
            </p:cNvPr>
            <p:cNvSpPr/>
            <p:nvPr/>
          </p:nvSpPr>
          <p:spPr>
            <a:xfrm>
              <a:off x="5695911" y="4130892"/>
              <a:ext cx="2538360" cy="1081492"/>
            </a:xfrm>
            <a:prstGeom prst="rect">
              <a:avLst/>
            </a:prstGeom>
            <a:solidFill>
              <a:srgbClr val="4F81BD">
                <a:lumMod val="40000"/>
                <a:lumOff val="60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grpSp>
      <p:sp>
        <p:nvSpPr>
          <p:cNvPr id="96" name="Rectangle 95">
            <a:extLst>
              <a:ext uri="{FF2B5EF4-FFF2-40B4-BE49-F238E27FC236}">
                <a16:creationId xmlns:a16="http://schemas.microsoft.com/office/drawing/2014/main" id="{BB2EA555-6BD0-C842-B148-5383D4BB1A2D}"/>
              </a:ext>
            </a:extLst>
          </p:cNvPr>
          <p:cNvSpPr/>
          <p:nvPr/>
        </p:nvSpPr>
        <p:spPr>
          <a:xfrm>
            <a:off x="1241040" y="1475906"/>
            <a:ext cx="1863702" cy="661213"/>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Policy Metadata (Principles, Regulations, Standards, Approaches, Rule Specifications, Roles and Metrics)</a:t>
            </a:r>
          </a:p>
        </p:txBody>
      </p:sp>
      <p:sp>
        <p:nvSpPr>
          <p:cNvPr id="97" name="Rectangle 96">
            <a:extLst>
              <a:ext uri="{FF2B5EF4-FFF2-40B4-BE49-F238E27FC236}">
                <a16:creationId xmlns:a16="http://schemas.microsoft.com/office/drawing/2014/main" id="{80ACD089-0E59-154D-8E78-EE8621DB83F1}"/>
              </a:ext>
            </a:extLst>
          </p:cNvPr>
          <p:cNvSpPr/>
          <p:nvPr/>
        </p:nvSpPr>
        <p:spPr>
          <a:xfrm>
            <a:off x="1243606" y="2712264"/>
            <a:ext cx="833900" cy="596453"/>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Governance Actions and Processes</a:t>
            </a:r>
          </a:p>
        </p:txBody>
      </p:sp>
      <p:sp>
        <p:nvSpPr>
          <p:cNvPr id="98" name="Rectangle 97">
            <a:extLst>
              <a:ext uri="{FF2B5EF4-FFF2-40B4-BE49-F238E27FC236}">
                <a16:creationId xmlns:a16="http://schemas.microsoft.com/office/drawing/2014/main" id="{B1EC67F7-EA08-D34B-91E5-0D58B4A72CA5}"/>
              </a:ext>
            </a:extLst>
          </p:cNvPr>
          <p:cNvSpPr/>
          <p:nvPr/>
        </p:nvSpPr>
        <p:spPr>
          <a:xfrm>
            <a:off x="4043968" y="2787259"/>
            <a:ext cx="1415263" cy="1719314"/>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99" name="Up-Down Arrow 98">
            <a:extLst>
              <a:ext uri="{FF2B5EF4-FFF2-40B4-BE49-F238E27FC236}">
                <a16:creationId xmlns:a16="http://schemas.microsoft.com/office/drawing/2014/main" id="{4E694F46-D1BE-DC4B-9995-CCE474D39480}"/>
              </a:ext>
            </a:extLst>
          </p:cNvPr>
          <p:cNvSpPr/>
          <p:nvPr/>
        </p:nvSpPr>
        <p:spPr>
          <a:xfrm>
            <a:off x="4624864" y="2500198"/>
            <a:ext cx="161361" cy="295646"/>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00" name="TextBox 99">
            <a:extLst>
              <a:ext uri="{FF2B5EF4-FFF2-40B4-BE49-F238E27FC236}">
                <a16:creationId xmlns:a16="http://schemas.microsoft.com/office/drawing/2014/main" id="{C355C212-37CA-B64D-B8C9-ADD7D2AC31A7}"/>
              </a:ext>
            </a:extLst>
          </p:cNvPr>
          <p:cNvSpPr txBox="1"/>
          <p:nvPr/>
        </p:nvSpPr>
        <p:spPr bwMode="auto">
          <a:xfrm>
            <a:off x="5562697" y="1444563"/>
            <a:ext cx="781785"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Augmentation</a:t>
            </a:r>
          </a:p>
        </p:txBody>
      </p:sp>
      <p:sp>
        <p:nvSpPr>
          <p:cNvPr id="101" name="TextBox 100">
            <a:extLst>
              <a:ext uri="{FF2B5EF4-FFF2-40B4-BE49-F238E27FC236}">
                <a16:creationId xmlns:a16="http://schemas.microsoft.com/office/drawing/2014/main" id="{FDD839FF-3BB8-5040-B1B2-40BE4DD5EB02}"/>
              </a:ext>
            </a:extLst>
          </p:cNvPr>
          <p:cNvSpPr txBox="1"/>
          <p:nvPr/>
        </p:nvSpPr>
        <p:spPr bwMode="auto">
          <a:xfrm>
            <a:off x="4804598" y="2472940"/>
            <a:ext cx="556563"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Mapping</a:t>
            </a:r>
          </a:p>
        </p:txBody>
      </p:sp>
      <p:sp>
        <p:nvSpPr>
          <p:cNvPr id="102" name="TextBox 101">
            <a:extLst>
              <a:ext uri="{FF2B5EF4-FFF2-40B4-BE49-F238E27FC236}">
                <a16:creationId xmlns:a16="http://schemas.microsoft.com/office/drawing/2014/main" id="{082A757D-4A01-8B4B-B266-8C63279278A9}"/>
              </a:ext>
            </a:extLst>
          </p:cNvPr>
          <p:cNvSpPr txBox="1"/>
          <p:nvPr/>
        </p:nvSpPr>
        <p:spPr bwMode="auto">
          <a:xfrm>
            <a:off x="1705284" y="2521502"/>
            <a:ext cx="856525"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Implementation</a:t>
            </a:r>
          </a:p>
        </p:txBody>
      </p:sp>
      <p:sp>
        <p:nvSpPr>
          <p:cNvPr id="103" name="Rectangle 102">
            <a:extLst>
              <a:ext uri="{FF2B5EF4-FFF2-40B4-BE49-F238E27FC236}">
                <a16:creationId xmlns:a16="http://schemas.microsoft.com/office/drawing/2014/main" id="{ACF722D9-C3E2-9543-93E6-A604B17023EA}"/>
              </a:ext>
            </a:extLst>
          </p:cNvPr>
          <p:cNvSpPr/>
          <p:nvPr/>
        </p:nvSpPr>
        <p:spPr>
          <a:xfrm>
            <a:off x="4042619" y="1486785"/>
            <a:ext cx="1446313" cy="548130"/>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Business Objects and Relationships, Taxonomies and Ontologies</a:t>
            </a:r>
          </a:p>
        </p:txBody>
      </p:sp>
      <p:sp>
        <p:nvSpPr>
          <p:cNvPr id="104" name="Rectangle 103">
            <a:extLst>
              <a:ext uri="{FF2B5EF4-FFF2-40B4-BE49-F238E27FC236}">
                <a16:creationId xmlns:a16="http://schemas.microsoft.com/office/drawing/2014/main" id="{A24A2389-DB2B-0C45-B18B-33D524FF3CA1}"/>
              </a:ext>
            </a:extLst>
          </p:cNvPr>
          <p:cNvSpPr/>
          <p:nvPr/>
        </p:nvSpPr>
        <p:spPr>
          <a:xfrm>
            <a:off x="4040700" y="2264612"/>
            <a:ext cx="1426580" cy="231951"/>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Business Attributes</a:t>
            </a:r>
          </a:p>
        </p:txBody>
      </p:sp>
      <p:sp>
        <p:nvSpPr>
          <p:cNvPr id="105" name="Up-Down Arrow 104">
            <a:extLst>
              <a:ext uri="{FF2B5EF4-FFF2-40B4-BE49-F238E27FC236}">
                <a16:creationId xmlns:a16="http://schemas.microsoft.com/office/drawing/2014/main" id="{1F7045C6-60CB-264C-BF19-196328FBF302}"/>
              </a:ext>
            </a:extLst>
          </p:cNvPr>
          <p:cNvSpPr/>
          <p:nvPr/>
        </p:nvSpPr>
        <p:spPr>
          <a:xfrm>
            <a:off x="4630923" y="1990342"/>
            <a:ext cx="161362" cy="294409"/>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06" name="TextBox 105">
            <a:extLst>
              <a:ext uri="{FF2B5EF4-FFF2-40B4-BE49-F238E27FC236}">
                <a16:creationId xmlns:a16="http://schemas.microsoft.com/office/drawing/2014/main" id="{1A8D7BCF-BA82-1E4C-B4B7-FA323E475962}"/>
              </a:ext>
            </a:extLst>
          </p:cNvPr>
          <p:cNvSpPr txBox="1"/>
          <p:nvPr/>
        </p:nvSpPr>
        <p:spPr bwMode="auto">
          <a:xfrm>
            <a:off x="4704896" y="2038667"/>
            <a:ext cx="718065"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Organization</a:t>
            </a:r>
          </a:p>
        </p:txBody>
      </p:sp>
      <p:sp>
        <p:nvSpPr>
          <p:cNvPr id="107" name="Bent Arrow 106">
            <a:extLst>
              <a:ext uri="{FF2B5EF4-FFF2-40B4-BE49-F238E27FC236}">
                <a16:creationId xmlns:a16="http://schemas.microsoft.com/office/drawing/2014/main" id="{D0B70103-A6C9-4042-9BB8-4C2858358FDC}"/>
              </a:ext>
            </a:extLst>
          </p:cNvPr>
          <p:cNvSpPr/>
          <p:nvPr/>
        </p:nvSpPr>
        <p:spPr>
          <a:xfrm flipV="1">
            <a:off x="3757963" y="2236410"/>
            <a:ext cx="376316" cy="78559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08" name="Bent Arrow 107">
            <a:extLst>
              <a:ext uri="{FF2B5EF4-FFF2-40B4-BE49-F238E27FC236}">
                <a16:creationId xmlns:a16="http://schemas.microsoft.com/office/drawing/2014/main" id="{DBFCE29E-0FC0-454D-91AC-128CACC76F92}"/>
              </a:ext>
            </a:extLst>
          </p:cNvPr>
          <p:cNvSpPr/>
          <p:nvPr/>
        </p:nvSpPr>
        <p:spPr>
          <a:xfrm flipV="1">
            <a:off x="3753679" y="1700785"/>
            <a:ext cx="377747" cy="67518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09" name="Bent Arrow 108">
            <a:extLst>
              <a:ext uri="{FF2B5EF4-FFF2-40B4-BE49-F238E27FC236}">
                <a16:creationId xmlns:a16="http://schemas.microsoft.com/office/drawing/2014/main" id="{31D14843-85E5-4747-B6D0-899B9712F23D}"/>
              </a:ext>
            </a:extLst>
          </p:cNvPr>
          <p:cNvSpPr/>
          <p:nvPr/>
        </p:nvSpPr>
        <p:spPr>
          <a:xfrm flipH="1" flipV="1">
            <a:off x="5443368" y="2385552"/>
            <a:ext cx="376315" cy="78559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10" name="Rectangle 109">
            <a:extLst>
              <a:ext uri="{FF2B5EF4-FFF2-40B4-BE49-F238E27FC236}">
                <a16:creationId xmlns:a16="http://schemas.microsoft.com/office/drawing/2014/main" id="{C8A623A7-BE4B-D147-87A5-C286F908054A}"/>
              </a:ext>
            </a:extLst>
          </p:cNvPr>
          <p:cNvSpPr/>
          <p:nvPr/>
        </p:nvSpPr>
        <p:spPr>
          <a:xfrm>
            <a:off x="6234748" y="1072136"/>
            <a:ext cx="1587164" cy="797871"/>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Teaming Metadata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(people profiles, communities, projects, </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notebooks, …)</a:t>
            </a:r>
          </a:p>
        </p:txBody>
      </p:sp>
      <p:sp>
        <p:nvSpPr>
          <p:cNvPr id="111" name="Rectangle 110">
            <a:extLst>
              <a:ext uri="{FF2B5EF4-FFF2-40B4-BE49-F238E27FC236}">
                <a16:creationId xmlns:a16="http://schemas.microsoft.com/office/drawing/2014/main" id="{43E17271-00F7-2C49-9487-C52841381281}"/>
              </a:ext>
            </a:extLst>
          </p:cNvPr>
          <p:cNvSpPr/>
          <p:nvPr/>
        </p:nvSpPr>
        <p:spPr>
          <a:xfrm>
            <a:off x="6245830" y="2629012"/>
            <a:ext cx="1576099" cy="290264"/>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Models and Schemas</a:t>
            </a:r>
          </a:p>
        </p:txBody>
      </p:sp>
      <p:sp>
        <p:nvSpPr>
          <p:cNvPr id="112" name="Bent Arrow 111">
            <a:extLst>
              <a:ext uri="{FF2B5EF4-FFF2-40B4-BE49-F238E27FC236}">
                <a16:creationId xmlns:a16="http://schemas.microsoft.com/office/drawing/2014/main" id="{6DF5EA13-C103-AC47-B717-42F83D43F56A}"/>
              </a:ext>
            </a:extLst>
          </p:cNvPr>
          <p:cNvSpPr/>
          <p:nvPr/>
        </p:nvSpPr>
        <p:spPr>
          <a:xfrm flipV="1">
            <a:off x="5781052" y="2394039"/>
            <a:ext cx="436411" cy="78559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13" name="Oval 112">
            <a:extLst>
              <a:ext uri="{FF2B5EF4-FFF2-40B4-BE49-F238E27FC236}">
                <a16:creationId xmlns:a16="http://schemas.microsoft.com/office/drawing/2014/main" id="{D26E843B-C494-4340-B928-5A7071174C75}"/>
              </a:ext>
            </a:extLst>
          </p:cNvPr>
          <p:cNvSpPr/>
          <p:nvPr/>
        </p:nvSpPr>
        <p:spPr bwMode="auto">
          <a:xfrm>
            <a:off x="3554986" y="1114419"/>
            <a:ext cx="280990" cy="21654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4</a:t>
            </a:r>
          </a:p>
        </p:txBody>
      </p:sp>
      <p:sp>
        <p:nvSpPr>
          <p:cNvPr id="114" name="Oval 113">
            <a:extLst>
              <a:ext uri="{FF2B5EF4-FFF2-40B4-BE49-F238E27FC236}">
                <a16:creationId xmlns:a16="http://schemas.microsoft.com/office/drawing/2014/main" id="{E50612A3-2756-FC47-A1E0-2066DEDD95A0}"/>
              </a:ext>
            </a:extLst>
          </p:cNvPr>
          <p:cNvSpPr/>
          <p:nvPr/>
        </p:nvSpPr>
        <p:spPr bwMode="auto">
          <a:xfrm>
            <a:off x="4108286" y="1979043"/>
            <a:ext cx="282093" cy="21654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3</a:t>
            </a:r>
          </a:p>
        </p:txBody>
      </p:sp>
      <p:sp>
        <p:nvSpPr>
          <p:cNvPr id="115" name="Oval 114">
            <a:extLst>
              <a:ext uri="{FF2B5EF4-FFF2-40B4-BE49-F238E27FC236}">
                <a16:creationId xmlns:a16="http://schemas.microsoft.com/office/drawing/2014/main" id="{348177A8-C95E-E245-B451-CCF907BC90A0}"/>
              </a:ext>
            </a:extLst>
          </p:cNvPr>
          <p:cNvSpPr/>
          <p:nvPr/>
        </p:nvSpPr>
        <p:spPr bwMode="auto">
          <a:xfrm>
            <a:off x="5804532" y="1150436"/>
            <a:ext cx="280990"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1</a:t>
            </a:r>
          </a:p>
        </p:txBody>
      </p:sp>
      <p:sp>
        <p:nvSpPr>
          <p:cNvPr id="116" name="Oval 115">
            <a:extLst>
              <a:ext uri="{FF2B5EF4-FFF2-40B4-BE49-F238E27FC236}">
                <a16:creationId xmlns:a16="http://schemas.microsoft.com/office/drawing/2014/main" id="{906CAC14-6FFA-6643-95A4-187722DE2D90}"/>
              </a:ext>
            </a:extLst>
          </p:cNvPr>
          <p:cNvSpPr/>
          <p:nvPr/>
        </p:nvSpPr>
        <p:spPr bwMode="auto">
          <a:xfrm>
            <a:off x="5774704" y="3171063"/>
            <a:ext cx="280990"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5</a:t>
            </a:r>
          </a:p>
        </p:txBody>
      </p:sp>
      <p:sp>
        <p:nvSpPr>
          <p:cNvPr id="117" name="Rectangle 116">
            <a:extLst>
              <a:ext uri="{FF2B5EF4-FFF2-40B4-BE49-F238E27FC236}">
                <a16:creationId xmlns:a16="http://schemas.microsoft.com/office/drawing/2014/main" id="{7DE15DE1-7DB5-2A47-BC21-BC98E557E1DD}"/>
              </a:ext>
            </a:extLst>
          </p:cNvPr>
          <p:cNvSpPr/>
          <p:nvPr/>
        </p:nvSpPr>
        <p:spPr>
          <a:xfrm>
            <a:off x="3981239" y="3678166"/>
            <a:ext cx="1503996" cy="507831"/>
          </a:xfrm>
          <a:prstGeom prst="rect">
            <a:avLst/>
          </a:prstGeom>
        </p:spPr>
        <p:txBody>
          <a:bodyPr wrap="square">
            <a:spAutoFit/>
          </a:bodyPr>
          <a:lstStyle/>
          <a:p>
            <a:pPr algn="ctr" fontAlgn="base">
              <a:spcBef>
                <a:spcPct val="0"/>
              </a:spcBef>
              <a:spcAft>
                <a:spcPct val="0"/>
              </a:spcAft>
              <a:defRPr/>
            </a:pPr>
            <a:r>
              <a:rPr lang="en-US" sz="900" kern="1200" dirty="0">
                <a:solidFill>
                  <a:srgbClr val="1F497D"/>
                </a:solidFill>
                <a:latin typeface="Calibri"/>
                <a:ea typeface="ＭＳ Ｐゴシック"/>
                <a:cs typeface="Calibri"/>
              </a:rPr>
              <a:t>Physical Asset Descriptions</a:t>
            </a:r>
          </a:p>
          <a:p>
            <a:pPr algn="ctr" fontAlgn="base">
              <a:spcBef>
                <a:spcPct val="0"/>
              </a:spcBef>
              <a:spcAft>
                <a:spcPct val="0"/>
              </a:spcAft>
              <a:defRPr/>
            </a:pPr>
            <a:r>
              <a:rPr lang="en-US" sz="900" kern="1200" dirty="0">
                <a:solidFill>
                  <a:srgbClr val="1F497D"/>
                </a:solidFill>
                <a:latin typeface="Calibri"/>
                <a:ea typeface="ＭＳ Ｐゴシック"/>
                <a:cs typeface="Calibri"/>
              </a:rPr>
              <a:t>(Data stores, APIs,</a:t>
            </a:r>
          </a:p>
          <a:p>
            <a:pPr algn="ctr" fontAlgn="base">
              <a:spcBef>
                <a:spcPct val="0"/>
              </a:spcBef>
              <a:spcAft>
                <a:spcPct val="0"/>
              </a:spcAft>
              <a:defRPr/>
            </a:pPr>
            <a:r>
              <a:rPr lang="en-US" sz="900" kern="1200" dirty="0">
                <a:solidFill>
                  <a:srgbClr val="1F497D"/>
                </a:solidFill>
                <a:latin typeface="Calibri"/>
                <a:ea typeface="ＭＳ Ｐゴシック"/>
                <a:cs typeface="Calibri"/>
              </a:rPr>
              <a:t>models and components)</a:t>
            </a:r>
          </a:p>
        </p:txBody>
      </p:sp>
      <p:sp>
        <p:nvSpPr>
          <p:cNvPr id="118" name="Rectangle 117">
            <a:extLst>
              <a:ext uri="{FF2B5EF4-FFF2-40B4-BE49-F238E27FC236}">
                <a16:creationId xmlns:a16="http://schemas.microsoft.com/office/drawing/2014/main" id="{F3F664C8-E20C-644D-8EB5-C3845235CCF8}"/>
              </a:ext>
            </a:extLst>
          </p:cNvPr>
          <p:cNvSpPr/>
          <p:nvPr/>
        </p:nvSpPr>
        <p:spPr>
          <a:xfrm>
            <a:off x="3983361" y="2897738"/>
            <a:ext cx="1472086" cy="507831"/>
          </a:xfrm>
          <a:prstGeom prst="rect">
            <a:avLst/>
          </a:prstGeom>
        </p:spPr>
        <p:txBody>
          <a:bodyPr wrap="square">
            <a:spAutoFit/>
          </a:bodyPr>
          <a:lstStyle/>
          <a:p>
            <a:pPr algn="ctr" fontAlgn="base">
              <a:spcBef>
                <a:spcPct val="0"/>
              </a:spcBef>
              <a:spcAft>
                <a:spcPct val="0"/>
              </a:spcAft>
              <a:defRPr/>
            </a:pPr>
            <a:r>
              <a:rPr lang="en-US" sz="900" kern="1200" dirty="0">
                <a:solidFill>
                  <a:srgbClr val="1F497D"/>
                </a:solidFill>
                <a:latin typeface="Calibri"/>
                <a:ea typeface="ＭＳ Ｐゴシック"/>
                <a:cs typeface="Calibri"/>
              </a:rPr>
              <a:t>Asset Collections</a:t>
            </a:r>
          </a:p>
          <a:p>
            <a:pPr algn="ctr" fontAlgn="base">
              <a:spcBef>
                <a:spcPct val="0"/>
              </a:spcBef>
              <a:spcAft>
                <a:spcPct val="0"/>
              </a:spcAft>
              <a:defRPr/>
            </a:pPr>
            <a:r>
              <a:rPr lang="en-US" sz="900" kern="1200" dirty="0">
                <a:solidFill>
                  <a:srgbClr val="1F497D"/>
                </a:solidFill>
                <a:latin typeface="Calibri"/>
                <a:ea typeface="ＭＳ Ｐゴシック"/>
                <a:cs typeface="Calibri"/>
              </a:rPr>
              <a:t>(Sets, Typed Sets, Type Organized Sets)</a:t>
            </a:r>
          </a:p>
        </p:txBody>
      </p:sp>
      <p:sp>
        <p:nvSpPr>
          <p:cNvPr id="119" name="Rectangle 118">
            <a:extLst>
              <a:ext uri="{FF2B5EF4-FFF2-40B4-BE49-F238E27FC236}">
                <a16:creationId xmlns:a16="http://schemas.microsoft.com/office/drawing/2014/main" id="{094CFF74-7743-494B-BD60-D125F7E124A5}"/>
              </a:ext>
            </a:extLst>
          </p:cNvPr>
          <p:cNvSpPr/>
          <p:nvPr/>
        </p:nvSpPr>
        <p:spPr>
          <a:xfrm>
            <a:off x="4029181" y="3450179"/>
            <a:ext cx="1447919" cy="230832"/>
          </a:xfrm>
          <a:prstGeom prst="rect">
            <a:avLst/>
          </a:prstGeom>
        </p:spPr>
        <p:txBody>
          <a:bodyPr wrap="square">
            <a:spAutoFit/>
          </a:bodyPr>
          <a:lstStyle/>
          <a:p>
            <a:pPr algn="ctr" fontAlgn="base">
              <a:spcBef>
                <a:spcPct val="0"/>
              </a:spcBef>
              <a:spcAft>
                <a:spcPct val="0"/>
              </a:spcAft>
              <a:defRPr/>
            </a:pPr>
            <a:r>
              <a:rPr lang="en-US" sz="900" kern="1200" dirty="0">
                <a:solidFill>
                  <a:srgbClr val="1F497D"/>
                </a:solidFill>
                <a:latin typeface="Calibri"/>
                <a:ea typeface="ＭＳ Ｐゴシック"/>
                <a:cs typeface="Calibri"/>
              </a:rPr>
              <a:t>Information Views</a:t>
            </a:r>
          </a:p>
        </p:txBody>
      </p:sp>
      <p:sp>
        <p:nvSpPr>
          <p:cNvPr id="120" name="Rectangle 119">
            <a:extLst>
              <a:ext uri="{FF2B5EF4-FFF2-40B4-BE49-F238E27FC236}">
                <a16:creationId xmlns:a16="http://schemas.microsoft.com/office/drawing/2014/main" id="{397F49D7-7EC0-5849-A63B-974BB658694B}"/>
              </a:ext>
            </a:extLst>
          </p:cNvPr>
          <p:cNvSpPr/>
          <p:nvPr/>
        </p:nvSpPr>
        <p:spPr>
          <a:xfrm>
            <a:off x="2262849" y="2703630"/>
            <a:ext cx="827251" cy="605087"/>
          </a:xfrm>
          <a:prstGeom prst="rect">
            <a:avLst/>
          </a:prstGeom>
          <a:solidFill>
            <a:sysClr val="window" lastClr="FFFFFF"/>
          </a:solidFill>
          <a:ln w="9525" cap="flat" cmpd="sng" algn="ctr">
            <a:solidFill>
              <a:srgbClr val="1F497D"/>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Rights</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Management</a:t>
            </a:r>
          </a:p>
        </p:txBody>
      </p:sp>
      <p:sp>
        <p:nvSpPr>
          <p:cNvPr id="121" name="Left-Right Arrow 120">
            <a:extLst>
              <a:ext uri="{FF2B5EF4-FFF2-40B4-BE49-F238E27FC236}">
                <a16:creationId xmlns:a16="http://schemas.microsoft.com/office/drawing/2014/main" id="{E2B81A27-A1D0-5243-9D50-C1FD6CC7327C}"/>
              </a:ext>
            </a:extLst>
          </p:cNvPr>
          <p:cNvSpPr/>
          <p:nvPr/>
        </p:nvSpPr>
        <p:spPr>
          <a:xfrm flipV="1">
            <a:off x="2048172" y="2948119"/>
            <a:ext cx="249471" cy="144494"/>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22" name="Rectangle 121">
            <a:extLst>
              <a:ext uri="{FF2B5EF4-FFF2-40B4-BE49-F238E27FC236}">
                <a16:creationId xmlns:a16="http://schemas.microsoft.com/office/drawing/2014/main" id="{660DED7D-F507-7847-B9DD-6703488A1502}"/>
              </a:ext>
            </a:extLst>
          </p:cNvPr>
          <p:cNvSpPr/>
          <p:nvPr/>
        </p:nvSpPr>
        <p:spPr>
          <a:xfrm>
            <a:off x="6248513" y="2996286"/>
            <a:ext cx="1576099" cy="280474"/>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Reference Data</a:t>
            </a:r>
          </a:p>
        </p:txBody>
      </p:sp>
      <p:sp>
        <p:nvSpPr>
          <p:cNvPr id="123" name="Bent Arrow 122">
            <a:extLst>
              <a:ext uri="{FF2B5EF4-FFF2-40B4-BE49-F238E27FC236}">
                <a16:creationId xmlns:a16="http://schemas.microsoft.com/office/drawing/2014/main" id="{BA57BC14-E11E-4242-BF70-410F48C32F87}"/>
              </a:ext>
            </a:extLst>
          </p:cNvPr>
          <p:cNvSpPr/>
          <p:nvPr/>
        </p:nvSpPr>
        <p:spPr>
          <a:xfrm flipV="1">
            <a:off x="5783735" y="2067090"/>
            <a:ext cx="436411" cy="78559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24" name="Bent Arrow 123">
            <a:extLst>
              <a:ext uri="{FF2B5EF4-FFF2-40B4-BE49-F238E27FC236}">
                <a16:creationId xmlns:a16="http://schemas.microsoft.com/office/drawing/2014/main" id="{41F45D29-C506-4646-B05A-852E742C933A}"/>
              </a:ext>
            </a:extLst>
          </p:cNvPr>
          <p:cNvSpPr/>
          <p:nvPr/>
        </p:nvSpPr>
        <p:spPr>
          <a:xfrm flipH="1" flipV="1">
            <a:off x="5444797" y="1700785"/>
            <a:ext cx="377747" cy="686546"/>
          </a:xfrm>
          <a:prstGeom prst="bentArrow">
            <a:avLst>
              <a:gd name="adj1" fmla="val 10370"/>
              <a:gd name="adj2" fmla="val 14028"/>
              <a:gd name="adj3" fmla="val 25000"/>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25" name="Left-Right Arrow 124">
            <a:extLst>
              <a:ext uri="{FF2B5EF4-FFF2-40B4-BE49-F238E27FC236}">
                <a16:creationId xmlns:a16="http://schemas.microsoft.com/office/drawing/2014/main" id="{D8F99565-4DEB-DA40-B8DA-BDBFE8033302}"/>
              </a:ext>
            </a:extLst>
          </p:cNvPr>
          <p:cNvSpPr/>
          <p:nvPr/>
        </p:nvSpPr>
        <p:spPr>
          <a:xfrm>
            <a:off x="5477678" y="1616322"/>
            <a:ext cx="777872" cy="131423"/>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26" name="Bent Arrow 125">
            <a:extLst>
              <a:ext uri="{FF2B5EF4-FFF2-40B4-BE49-F238E27FC236}">
                <a16:creationId xmlns:a16="http://schemas.microsoft.com/office/drawing/2014/main" id="{2320F583-2093-EB43-9684-B27A9F3F078A}"/>
              </a:ext>
            </a:extLst>
          </p:cNvPr>
          <p:cNvSpPr/>
          <p:nvPr/>
        </p:nvSpPr>
        <p:spPr>
          <a:xfrm rot="5400000" flipH="1" flipV="1">
            <a:off x="5873000" y="1715320"/>
            <a:ext cx="561566" cy="482199"/>
          </a:xfrm>
          <a:prstGeom prst="bentArrow">
            <a:avLst>
              <a:gd name="adj1" fmla="val 9718"/>
              <a:gd name="adj2" fmla="val 12060"/>
              <a:gd name="adj3" fmla="val 11839"/>
              <a:gd name="adj4" fmla="val 43750"/>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27" name="Rectangle 126">
            <a:extLst>
              <a:ext uri="{FF2B5EF4-FFF2-40B4-BE49-F238E27FC236}">
                <a16:creationId xmlns:a16="http://schemas.microsoft.com/office/drawing/2014/main" id="{84F72688-1E1F-294E-BEDD-6AE1380699E4}"/>
              </a:ext>
            </a:extLst>
          </p:cNvPr>
          <p:cNvSpPr/>
          <p:nvPr/>
        </p:nvSpPr>
        <p:spPr>
          <a:xfrm>
            <a:off x="6241703" y="1942428"/>
            <a:ext cx="1580247" cy="503778"/>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Feedback Metadata</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(tags, comments, ratings, …)</a:t>
            </a:r>
          </a:p>
        </p:txBody>
      </p:sp>
      <p:sp>
        <p:nvSpPr>
          <p:cNvPr id="128" name="Rectangle 127">
            <a:extLst>
              <a:ext uri="{FF2B5EF4-FFF2-40B4-BE49-F238E27FC236}">
                <a16:creationId xmlns:a16="http://schemas.microsoft.com/office/drawing/2014/main" id="{D5DFFC7A-41DA-AE4C-852F-88E3666F87B3}"/>
              </a:ext>
            </a:extLst>
          </p:cNvPr>
          <p:cNvSpPr/>
          <p:nvPr/>
        </p:nvSpPr>
        <p:spPr>
          <a:xfrm rot="5400000">
            <a:off x="2419695" y="2283948"/>
            <a:ext cx="1844296" cy="239393"/>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Classification Schemes</a:t>
            </a:r>
          </a:p>
        </p:txBody>
      </p:sp>
      <p:sp>
        <p:nvSpPr>
          <p:cNvPr id="129" name="TextBox 128">
            <a:extLst>
              <a:ext uri="{FF2B5EF4-FFF2-40B4-BE49-F238E27FC236}">
                <a16:creationId xmlns:a16="http://schemas.microsoft.com/office/drawing/2014/main" id="{EE2A8D39-2A44-2F4A-96FC-D7B9E6E3C292}"/>
              </a:ext>
            </a:extLst>
          </p:cNvPr>
          <p:cNvSpPr txBox="1"/>
          <p:nvPr/>
        </p:nvSpPr>
        <p:spPr bwMode="auto">
          <a:xfrm rot="5400000">
            <a:off x="3311312" y="2253240"/>
            <a:ext cx="727833"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solidFill>
                  <a:prstClr val="black"/>
                </a:solidFill>
                <a:latin typeface="Calibri" pitchFamily="-1" charset="0"/>
                <a:ea typeface="ＭＳ Ｐゴシック" charset="0"/>
              </a:rPr>
              <a:t>Classification</a:t>
            </a:r>
          </a:p>
        </p:txBody>
      </p:sp>
      <p:sp>
        <p:nvSpPr>
          <p:cNvPr id="130" name="Left-Right Arrow 129">
            <a:extLst>
              <a:ext uri="{FF2B5EF4-FFF2-40B4-BE49-F238E27FC236}">
                <a16:creationId xmlns:a16="http://schemas.microsoft.com/office/drawing/2014/main" id="{AAE022B0-B7B6-B947-9FB4-C07DCDAE0726}"/>
              </a:ext>
            </a:extLst>
          </p:cNvPr>
          <p:cNvSpPr/>
          <p:nvPr/>
        </p:nvSpPr>
        <p:spPr>
          <a:xfrm>
            <a:off x="3046042" y="2959909"/>
            <a:ext cx="205446" cy="139268"/>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1" name="Left-Right Arrow 130">
            <a:extLst>
              <a:ext uri="{FF2B5EF4-FFF2-40B4-BE49-F238E27FC236}">
                <a16:creationId xmlns:a16="http://schemas.microsoft.com/office/drawing/2014/main" id="{09D45480-A0C5-7145-8363-710BC210AFD8}"/>
              </a:ext>
            </a:extLst>
          </p:cNvPr>
          <p:cNvSpPr/>
          <p:nvPr/>
        </p:nvSpPr>
        <p:spPr>
          <a:xfrm>
            <a:off x="3099276" y="1654218"/>
            <a:ext cx="152285" cy="76723"/>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2" name="Left-Right Arrow 131">
            <a:extLst>
              <a:ext uri="{FF2B5EF4-FFF2-40B4-BE49-F238E27FC236}">
                <a16:creationId xmlns:a16="http://schemas.microsoft.com/office/drawing/2014/main" id="{A07D2591-D5D7-FC4B-871F-F32E1C45A409}"/>
              </a:ext>
            </a:extLst>
          </p:cNvPr>
          <p:cNvSpPr/>
          <p:nvPr/>
        </p:nvSpPr>
        <p:spPr>
          <a:xfrm>
            <a:off x="3442263" y="1650460"/>
            <a:ext cx="676276" cy="100705"/>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3" name="Rectangle 132">
            <a:extLst>
              <a:ext uri="{FF2B5EF4-FFF2-40B4-BE49-F238E27FC236}">
                <a16:creationId xmlns:a16="http://schemas.microsoft.com/office/drawing/2014/main" id="{35DDEB87-E8E5-294F-83B9-776E1404FC35}"/>
              </a:ext>
            </a:extLst>
          </p:cNvPr>
          <p:cNvSpPr/>
          <p:nvPr/>
        </p:nvSpPr>
        <p:spPr>
          <a:xfrm>
            <a:off x="1246370" y="1101862"/>
            <a:ext cx="2237427" cy="236612"/>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Strategy</a:t>
            </a:r>
          </a:p>
        </p:txBody>
      </p:sp>
      <p:sp>
        <p:nvSpPr>
          <p:cNvPr id="134" name="Up-Down Arrow 133">
            <a:extLst>
              <a:ext uri="{FF2B5EF4-FFF2-40B4-BE49-F238E27FC236}">
                <a16:creationId xmlns:a16="http://schemas.microsoft.com/office/drawing/2014/main" id="{6DA12C44-527C-C941-B6DE-A934C669B51D}"/>
              </a:ext>
            </a:extLst>
          </p:cNvPr>
          <p:cNvSpPr/>
          <p:nvPr/>
        </p:nvSpPr>
        <p:spPr>
          <a:xfrm>
            <a:off x="2103117" y="1316508"/>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5" name="Rectangle 134">
            <a:extLst>
              <a:ext uri="{FF2B5EF4-FFF2-40B4-BE49-F238E27FC236}">
                <a16:creationId xmlns:a16="http://schemas.microsoft.com/office/drawing/2014/main" id="{1A64F194-F58B-0C42-A37B-F3B48E633BFE}"/>
              </a:ext>
            </a:extLst>
          </p:cNvPr>
          <p:cNvSpPr/>
          <p:nvPr/>
        </p:nvSpPr>
        <p:spPr>
          <a:xfrm>
            <a:off x="4046044" y="1098455"/>
            <a:ext cx="1432089" cy="231951"/>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Subject Area Definition</a:t>
            </a:r>
          </a:p>
        </p:txBody>
      </p:sp>
      <p:sp>
        <p:nvSpPr>
          <p:cNvPr id="136" name="Up-Down Arrow 135">
            <a:extLst>
              <a:ext uri="{FF2B5EF4-FFF2-40B4-BE49-F238E27FC236}">
                <a16:creationId xmlns:a16="http://schemas.microsoft.com/office/drawing/2014/main" id="{4636334A-7DEE-4343-83E6-81AEB60673D6}"/>
              </a:ext>
            </a:extLst>
          </p:cNvPr>
          <p:cNvSpPr/>
          <p:nvPr/>
        </p:nvSpPr>
        <p:spPr>
          <a:xfrm>
            <a:off x="4650675" y="1309686"/>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7" name="Rectangle 136">
            <a:extLst>
              <a:ext uri="{FF2B5EF4-FFF2-40B4-BE49-F238E27FC236}">
                <a16:creationId xmlns:a16="http://schemas.microsoft.com/office/drawing/2014/main" id="{6F3E5FE2-953A-8541-965B-56426DD39697}"/>
              </a:ext>
            </a:extLst>
          </p:cNvPr>
          <p:cNvSpPr/>
          <p:nvPr/>
        </p:nvSpPr>
        <p:spPr>
          <a:xfrm>
            <a:off x="1232566" y="2326206"/>
            <a:ext cx="1858413" cy="228952"/>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Campaigns and Projects</a:t>
            </a:r>
          </a:p>
        </p:txBody>
      </p:sp>
      <p:sp>
        <p:nvSpPr>
          <p:cNvPr id="138" name="Up-Down Arrow 137">
            <a:extLst>
              <a:ext uri="{FF2B5EF4-FFF2-40B4-BE49-F238E27FC236}">
                <a16:creationId xmlns:a16="http://schemas.microsoft.com/office/drawing/2014/main" id="{989A14E5-429F-1842-8765-C167F0C11871}"/>
              </a:ext>
            </a:extLst>
          </p:cNvPr>
          <p:cNvSpPr/>
          <p:nvPr/>
        </p:nvSpPr>
        <p:spPr>
          <a:xfrm>
            <a:off x="2107121" y="2130261"/>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39" name="Up-Down Arrow 138">
            <a:extLst>
              <a:ext uri="{FF2B5EF4-FFF2-40B4-BE49-F238E27FC236}">
                <a16:creationId xmlns:a16="http://schemas.microsoft.com/office/drawing/2014/main" id="{CD3D2128-62FD-1348-A7D9-2BBB3527B7F1}"/>
              </a:ext>
            </a:extLst>
          </p:cNvPr>
          <p:cNvSpPr/>
          <p:nvPr/>
        </p:nvSpPr>
        <p:spPr>
          <a:xfrm>
            <a:off x="3262884" y="1310418"/>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0" name="Up-Down Arrow 139">
            <a:extLst>
              <a:ext uri="{FF2B5EF4-FFF2-40B4-BE49-F238E27FC236}">
                <a16:creationId xmlns:a16="http://schemas.microsoft.com/office/drawing/2014/main" id="{4DF0C4C6-5C8A-DE47-9BEE-874F1F116E2E}"/>
              </a:ext>
            </a:extLst>
          </p:cNvPr>
          <p:cNvSpPr/>
          <p:nvPr/>
        </p:nvSpPr>
        <p:spPr>
          <a:xfrm>
            <a:off x="1584207" y="2536131"/>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1" name="Up-Down Arrow 140">
            <a:extLst>
              <a:ext uri="{FF2B5EF4-FFF2-40B4-BE49-F238E27FC236}">
                <a16:creationId xmlns:a16="http://schemas.microsoft.com/office/drawing/2014/main" id="{22995FA8-2547-404C-AD4C-4ECA91D41874}"/>
              </a:ext>
            </a:extLst>
          </p:cNvPr>
          <p:cNvSpPr/>
          <p:nvPr/>
        </p:nvSpPr>
        <p:spPr>
          <a:xfrm>
            <a:off x="2602026" y="2539228"/>
            <a:ext cx="148410" cy="204154"/>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2" name="TextBox 141">
            <a:extLst>
              <a:ext uri="{FF2B5EF4-FFF2-40B4-BE49-F238E27FC236}">
                <a16:creationId xmlns:a16="http://schemas.microsoft.com/office/drawing/2014/main" id="{B0F35B8B-9747-974F-9DCB-55F1A6BE0DF9}"/>
              </a:ext>
            </a:extLst>
          </p:cNvPr>
          <p:cNvSpPr txBox="1"/>
          <p:nvPr/>
        </p:nvSpPr>
        <p:spPr bwMode="auto">
          <a:xfrm>
            <a:off x="2264931" y="2125810"/>
            <a:ext cx="492443"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Rollout</a:t>
            </a:r>
          </a:p>
        </p:txBody>
      </p:sp>
      <p:sp>
        <p:nvSpPr>
          <p:cNvPr id="143" name="Rectangle 142">
            <a:extLst>
              <a:ext uri="{FF2B5EF4-FFF2-40B4-BE49-F238E27FC236}">
                <a16:creationId xmlns:a16="http://schemas.microsoft.com/office/drawing/2014/main" id="{D8B5146A-069E-3349-89C6-B74E6A27A299}"/>
              </a:ext>
            </a:extLst>
          </p:cNvPr>
          <p:cNvSpPr/>
          <p:nvPr/>
        </p:nvSpPr>
        <p:spPr bwMode="auto">
          <a:xfrm>
            <a:off x="5596208" y="3413760"/>
            <a:ext cx="2287943" cy="1178560"/>
          </a:xfrm>
          <a:prstGeom prst="rect">
            <a:avLst/>
          </a:prstGeom>
          <a:solidFill>
            <a:srgbClr val="F79646">
              <a:lumMod val="40000"/>
              <a:lumOff val="60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4" name="Curved Left Arrow 143">
            <a:extLst>
              <a:ext uri="{FF2B5EF4-FFF2-40B4-BE49-F238E27FC236}">
                <a16:creationId xmlns:a16="http://schemas.microsoft.com/office/drawing/2014/main" id="{E4F013D0-7285-634D-B35E-1638B89D7AD4}"/>
              </a:ext>
            </a:extLst>
          </p:cNvPr>
          <p:cNvSpPr/>
          <p:nvPr/>
        </p:nvSpPr>
        <p:spPr>
          <a:xfrm flipV="1">
            <a:off x="5465084" y="3997432"/>
            <a:ext cx="211635" cy="429062"/>
          </a:xfrm>
          <a:prstGeom prst="curvedLef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GB" sz="12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5" name="Oval 144">
            <a:extLst>
              <a:ext uri="{FF2B5EF4-FFF2-40B4-BE49-F238E27FC236}">
                <a16:creationId xmlns:a16="http://schemas.microsoft.com/office/drawing/2014/main" id="{9D8BF40F-68A2-354B-BB95-47032D82C9DA}"/>
              </a:ext>
            </a:extLst>
          </p:cNvPr>
          <p:cNvSpPr/>
          <p:nvPr/>
        </p:nvSpPr>
        <p:spPr bwMode="auto">
          <a:xfrm>
            <a:off x="5236058" y="2760494"/>
            <a:ext cx="280991"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2</a:t>
            </a:r>
          </a:p>
        </p:txBody>
      </p:sp>
      <p:sp>
        <p:nvSpPr>
          <p:cNvPr id="146" name="Rectangle 145">
            <a:extLst>
              <a:ext uri="{FF2B5EF4-FFF2-40B4-BE49-F238E27FC236}">
                <a16:creationId xmlns:a16="http://schemas.microsoft.com/office/drawing/2014/main" id="{96DD4217-A599-0C47-829B-6CB1AFAC8622}"/>
              </a:ext>
            </a:extLst>
          </p:cNvPr>
          <p:cNvSpPr/>
          <p:nvPr/>
        </p:nvSpPr>
        <p:spPr>
          <a:xfrm>
            <a:off x="6244751" y="3469355"/>
            <a:ext cx="1586780" cy="1015212"/>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Discovery</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Metadata (profile data, technical classification, data classification,</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data quality assessment, …)</a:t>
            </a:r>
          </a:p>
        </p:txBody>
      </p:sp>
      <p:sp>
        <p:nvSpPr>
          <p:cNvPr id="147" name="Left-Right Arrow 146">
            <a:extLst>
              <a:ext uri="{FF2B5EF4-FFF2-40B4-BE49-F238E27FC236}">
                <a16:creationId xmlns:a16="http://schemas.microsoft.com/office/drawing/2014/main" id="{7CFFC089-A2C3-704F-B4C0-B4B56F8B86A8}"/>
              </a:ext>
            </a:extLst>
          </p:cNvPr>
          <p:cNvSpPr/>
          <p:nvPr/>
        </p:nvSpPr>
        <p:spPr>
          <a:xfrm>
            <a:off x="5456125" y="3702148"/>
            <a:ext cx="788669" cy="102288"/>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48" name="TextBox 147">
            <a:extLst>
              <a:ext uri="{FF2B5EF4-FFF2-40B4-BE49-F238E27FC236}">
                <a16:creationId xmlns:a16="http://schemas.microsoft.com/office/drawing/2014/main" id="{5699CC3F-F35E-4D46-B60B-E61393435088}"/>
              </a:ext>
            </a:extLst>
          </p:cNvPr>
          <p:cNvSpPr txBox="1"/>
          <p:nvPr/>
        </p:nvSpPr>
        <p:spPr bwMode="auto">
          <a:xfrm>
            <a:off x="5551913" y="3521705"/>
            <a:ext cx="781785"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Augmentation</a:t>
            </a:r>
          </a:p>
        </p:txBody>
      </p:sp>
      <p:sp>
        <p:nvSpPr>
          <p:cNvPr id="149" name="Rectangle 148">
            <a:extLst>
              <a:ext uri="{FF2B5EF4-FFF2-40B4-BE49-F238E27FC236}">
                <a16:creationId xmlns:a16="http://schemas.microsoft.com/office/drawing/2014/main" id="{D94C3F44-2844-E24D-9F1A-13F8D190E625}"/>
              </a:ext>
            </a:extLst>
          </p:cNvPr>
          <p:cNvSpPr/>
          <p:nvPr/>
        </p:nvSpPr>
        <p:spPr bwMode="auto">
          <a:xfrm>
            <a:off x="1138315" y="3383281"/>
            <a:ext cx="2744190" cy="589280"/>
          </a:xfrm>
          <a:prstGeom prst="rect">
            <a:avLst/>
          </a:prstGeom>
          <a:solidFill>
            <a:srgbClr val="EEECE1">
              <a:lumMod val="75000"/>
            </a:srgbClr>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50" name="TextBox 149">
            <a:extLst>
              <a:ext uri="{FF2B5EF4-FFF2-40B4-BE49-F238E27FC236}">
                <a16:creationId xmlns:a16="http://schemas.microsoft.com/office/drawing/2014/main" id="{A7334B63-6453-9A49-BA1E-E30783AF1200}"/>
              </a:ext>
            </a:extLst>
          </p:cNvPr>
          <p:cNvSpPr txBox="1"/>
          <p:nvPr/>
        </p:nvSpPr>
        <p:spPr bwMode="auto">
          <a:xfrm>
            <a:off x="1748432" y="3352449"/>
            <a:ext cx="659155"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solidFill>
                  <a:prstClr val="black"/>
                </a:solidFill>
                <a:latin typeface="Calibri" pitchFamily="-1" charset="0"/>
                <a:ea typeface="ＭＳ Ｐゴシック" charset="0"/>
              </a:rPr>
              <a:t>Instrument</a:t>
            </a:r>
          </a:p>
        </p:txBody>
      </p:sp>
      <p:sp>
        <p:nvSpPr>
          <p:cNvPr id="151" name="TextBox 150">
            <a:extLst>
              <a:ext uri="{FF2B5EF4-FFF2-40B4-BE49-F238E27FC236}">
                <a16:creationId xmlns:a16="http://schemas.microsoft.com/office/drawing/2014/main" id="{19E917DE-3552-014E-AC5B-9A036EFBA341}"/>
              </a:ext>
            </a:extLst>
          </p:cNvPr>
          <p:cNvSpPr txBox="1"/>
          <p:nvPr/>
        </p:nvSpPr>
        <p:spPr bwMode="auto">
          <a:xfrm>
            <a:off x="3420385" y="3475267"/>
            <a:ext cx="659606"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latin typeface="Calibri" pitchFamily="-1" charset="0"/>
                <a:ea typeface="ＭＳ Ｐゴシック" charset="0"/>
              </a:rPr>
              <a:t>Association</a:t>
            </a:r>
          </a:p>
        </p:txBody>
      </p:sp>
      <p:sp>
        <p:nvSpPr>
          <p:cNvPr id="152" name="Rectangle 151">
            <a:extLst>
              <a:ext uri="{FF2B5EF4-FFF2-40B4-BE49-F238E27FC236}">
                <a16:creationId xmlns:a16="http://schemas.microsoft.com/office/drawing/2014/main" id="{1C6F9679-7B60-2C4C-A046-FB69A1CB89D6}"/>
              </a:ext>
            </a:extLst>
          </p:cNvPr>
          <p:cNvSpPr/>
          <p:nvPr/>
        </p:nvSpPr>
        <p:spPr>
          <a:xfrm>
            <a:off x="1249258" y="3526071"/>
            <a:ext cx="2222354" cy="388823"/>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Information Process</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Instrumentation (design lineage)</a:t>
            </a:r>
          </a:p>
        </p:txBody>
      </p:sp>
      <p:sp>
        <p:nvSpPr>
          <p:cNvPr id="153" name="Left-Right Arrow 152">
            <a:extLst>
              <a:ext uri="{FF2B5EF4-FFF2-40B4-BE49-F238E27FC236}">
                <a16:creationId xmlns:a16="http://schemas.microsoft.com/office/drawing/2014/main" id="{0DA557A6-C80A-5049-B3E6-54AF7AC2AA24}"/>
              </a:ext>
            </a:extLst>
          </p:cNvPr>
          <p:cNvSpPr/>
          <p:nvPr/>
        </p:nvSpPr>
        <p:spPr>
          <a:xfrm>
            <a:off x="3422959" y="3634734"/>
            <a:ext cx="706844" cy="118078"/>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54" name="Up-Down Arrow 153">
            <a:extLst>
              <a:ext uri="{FF2B5EF4-FFF2-40B4-BE49-F238E27FC236}">
                <a16:creationId xmlns:a16="http://schemas.microsoft.com/office/drawing/2014/main" id="{40DA4FF3-A612-AF45-BED3-5BD200017A27}"/>
              </a:ext>
            </a:extLst>
          </p:cNvPr>
          <p:cNvSpPr/>
          <p:nvPr/>
        </p:nvSpPr>
        <p:spPr>
          <a:xfrm>
            <a:off x="1574050" y="3277838"/>
            <a:ext cx="156717" cy="318829"/>
          </a:xfrm>
          <a:prstGeom prst="upDown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55" name="Oval 154">
            <a:extLst>
              <a:ext uri="{FF2B5EF4-FFF2-40B4-BE49-F238E27FC236}">
                <a16:creationId xmlns:a16="http://schemas.microsoft.com/office/drawing/2014/main" id="{34791AC2-E49A-724E-92F2-0C5504A26A75}"/>
              </a:ext>
            </a:extLst>
          </p:cNvPr>
          <p:cNvSpPr/>
          <p:nvPr/>
        </p:nvSpPr>
        <p:spPr bwMode="auto">
          <a:xfrm>
            <a:off x="5795024" y="4085463"/>
            <a:ext cx="280990"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6</a:t>
            </a:r>
          </a:p>
        </p:txBody>
      </p:sp>
      <p:sp>
        <p:nvSpPr>
          <p:cNvPr id="156" name="Oval 155">
            <a:extLst>
              <a:ext uri="{FF2B5EF4-FFF2-40B4-BE49-F238E27FC236}">
                <a16:creationId xmlns:a16="http://schemas.microsoft.com/office/drawing/2014/main" id="{18532559-A834-8A4C-B419-5F1D5C66DD3F}"/>
              </a:ext>
            </a:extLst>
          </p:cNvPr>
          <p:cNvSpPr/>
          <p:nvPr/>
        </p:nvSpPr>
        <p:spPr bwMode="auto">
          <a:xfrm>
            <a:off x="3559824" y="3313303"/>
            <a:ext cx="280990"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7</a:t>
            </a:r>
          </a:p>
        </p:txBody>
      </p:sp>
      <p:sp>
        <p:nvSpPr>
          <p:cNvPr id="157" name="Rectangle 156">
            <a:extLst>
              <a:ext uri="{FF2B5EF4-FFF2-40B4-BE49-F238E27FC236}">
                <a16:creationId xmlns:a16="http://schemas.microsoft.com/office/drawing/2014/main" id="{12506D69-8060-294E-89E6-15FBBE50D148}"/>
              </a:ext>
            </a:extLst>
          </p:cNvPr>
          <p:cNvSpPr/>
          <p:nvPr/>
        </p:nvSpPr>
        <p:spPr bwMode="auto">
          <a:xfrm>
            <a:off x="1119187" y="3967344"/>
            <a:ext cx="2761528" cy="649480"/>
          </a:xfrm>
          <a:prstGeom prst="rect">
            <a:avLst/>
          </a:prstGeom>
          <a:solidFill>
            <a:srgbClr val="FFFF66"/>
          </a:solidFill>
          <a:ln w="57150" cap="flat" cmpd="sng" algn="ctr">
            <a:solidFill>
              <a:srgbClr val="1F497D"/>
            </a:solidFill>
            <a:prstDash val="sysDash"/>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58" name="Rectangle 157">
            <a:extLst>
              <a:ext uri="{FF2B5EF4-FFF2-40B4-BE49-F238E27FC236}">
                <a16:creationId xmlns:a16="http://schemas.microsoft.com/office/drawing/2014/main" id="{FB80DCAE-3D8C-D445-AFB0-5D8F9903C3C1}"/>
              </a:ext>
            </a:extLst>
          </p:cNvPr>
          <p:cNvSpPr/>
          <p:nvPr/>
        </p:nvSpPr>
        <p:spPr>
          <a:xfrm>
            <a:off x="4032169" y="4215167"/>
            <a:ext cx="1447919" cy="230832"/>
          </a:xfrm>
          <a:prstGeom prst="rect">
            <a:avLst/>
          </a:prstGeom>
        </p:spPr>
        <p:txBody>
          <a:bodyPr wrap="square">
            <a:spAutoFit/>
          </a:bodyPr>
          <a:lstStyle/>
          <a:p>
            <a:pPr algn="ctr" fontAlgn="base">
              <a:spcBef>
                <a:spcPct val="0"/>
              </a:spcBef>
              <a:spcAft>
                <a:spcPct val="0"/>
              </a:spcAft>
              <a:defRPr/>
            </a:pPr>
            <a:r>
              <a:rPr lang="en-US" sz="900" kern="1200" dirty="0">
                <a:solidFill>
                  <a:srgbClr val="1F497D"/>
                </a:solidFill>
                <a:latin typeface="Calibri"/>
                <a:ea typeface="ＭＳ Ｐゴシック"/>
                <a:cs typeface="Calibri"/>
              </a:rPr>
              <a:t>Connectors</a:t>
            </a:r>
          </a:p>
        </p:txBody>
      </p:sp>
      <p:sp>
        <p:nvSpPr>
          <p:cNvPr id="159" name="Rectangle 158">
            <a:extLst>
              <a:ext uri="{FF2B5EF4-FFF2-40B4-BE49-F238E27FC236}">
                <a16:creationId xmlns:a16="http://schemas.microsoft.com/office/drawing/2014/main" id="{C562CBCC-5198-BC43-8DF8-FBC36A837A6C}"/>
              </a:ext>
            </a:extLst>
          </p:cNvPr>
          <p:cNvSpPr/>
          <p:nvPr/>
        </p:nvSpPr>
        <p:spPr>
          <a:xfrm>
            <a:off x="1250157" y="4078941"/>
            <a:ext cx="2206248" cy="433294"/>
          </a:xfrm>
          <a:prstGeom prst="rect">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900" b="0" i="0" u="none" strike="noStrike" kern="1200" cap="none" spc="0" normalizeH="0" baseline="0" noProof="0" dirty="0">
                <a:ln>
                  <a:noFill/>
                </a:ln>
                <a:solidFill>
                  <a:srgbClr val="1F497D"/>
                </a:solidFill>
                <a:effectLst/>
                <a:uLnTx/>
                <a:uFillTx/>
                <a:latin typeface="Calibri"/>
                <a:ea typeface="ＭＳ Ｐゴシック"/>
                <a:cs typeface="Calibri"/>
              </a:rPr>
              <a:t>Basic Types, Infrastructure and Systems</a:t>
            </a:r>
          </a:p>
        </p:txBody>
      </p:sp>
      <p:sp>
        <p:nvSpPr>
          <p:cNvPr id="160" name="TextBox 159">
            <a:extLst>
              <a:ext uri="{FF2B5EF4-FFF2-40B4-BE49-F238E27FC236}">
                <a16:creationId xmlns:a16="http://schemas.microsoft.com/office/drawing/2014/main" id="{855738D7-7183-5349-825C-AB0ABA83D1EA}"/>
              </a:ext>
            </a:extLst>
          </p:cNvPr>
          <p:cNvSpPr txBox="1"/>
          <p:nvPr/>
        </p:nvSpPr>
        <p:spPr bwMode="auto">
          <a:xfrm>
            <a:off x="3459544" y="4084772"/>
            <a:ext cx="466794" cy="215444"/>
          </a:xfrm>
          <a:prstGeom prst="rect">
            <a:avLst/>
          </a:prstGeom>
          <a:noFill/>
          <a:ln w="9525">
            <a:noFill/>
            <a:miter lim="800000"/>
            <a:headEnd/>
            <a:tailEnd/>
          </a:ln>
        </p:spPr>
        <p:txBody>
          <a:bodyPr wrap="none">
            <a:spAutoFit/>
          </a:bodyPr>
          <a:lstStyle/>
          <a:p>
            <a:pPr fontAlgn="base">
              <a:spcBef>
                <a:spcPct val="0"/>
              </a:spcBef>
              <a:spcAft>
                <a:spcPct val="0"/>
              </a:spcAft>
              <a:defRPr/>
            </a:pPr>
            <a:r>
              <a:rPr lang="en-US" sz="800" kern="1200" dirty="0">
                <a:solidFill>
                  <a:prstClr val="black"/>
                </a:solidFill>
                <a:latin typeface="Calibri" pitchFamily="-1" charset="0"/>
                <a:ea typeface="ＭＳ Ｐゴシック" charset="0"/>
              </a:rPr>
              <a:t>Access</a:t>
            </a:r>
          </a:p>
        </p:txBody>
      </p:sp>
      <p:sp>
        <p:nvSpPr>
          <p:cNvPr id="161" name="Left-Right Arrow 160">
            <a:extLst>
              <a:ext uri="{FF2B5EF4-FFF2-40B4-BE49-F238E27FC236}">
                <a16:creationId xmlns:a16="http://schemas.microsoft.com/office/drawing/2014/main" id="{D9EE7EF7-8BB5-A044-99AA-E63DBB0E8620}"/>
              </a:ext>
            </a:extLst>
          </p:cNvPr>
          <p:cNvSpPr/>
          <p:nvPr/>
        </p:nvSpPr>
        <p:spPr>
          <a:xfrm>
            <a:off x="3403264" y="4283815"/>
            <a:ext cx="706844" cy="123827"/>
          </a:xfrm>
          <a:prstGeom prst="leftRightArrow">
            <a:avLst/>
          </a:prstGeom>
          <a:solidFill>
            <a:srgbClr val="FFFFFF"/>
          </a:solidFill>
          <a:ln w="9525" cap="flat" cmpd="sng" algn="ctr">
            <a:solidFill>
              <a:srgbClr val="1F497D"/>
            </a:solidFill>
            <a:prstDash val="solid"/>
          </a:ln>
          <a:effectLst>
            <a:outerShdw blurRad="40000" dist="23000" dir="5400000" rotWithShape="0">
              <a:srgbClr val="000000">
                <a:alpha val="35000"/>
              </a:srgbClr>
            </a:outerShdw>
          </a:effectLst>
        </p:spPr>
        <p:txBody>
          <a:bodyPr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1F497D"/>
              </a:solidFill>
              <a:effectLst/>
              <a:uLnTx/>
              <a:uFillTx/>
              <a:latin typeface="Calibri"/>
              <a:ea typeface="ＭＳ Ｐゴシック"/>
              <a:cs typeface="Calibri"/>
            </a:endParaRPr>
          </a:p>
        </p:txBody>
      </p:sp>
      <p:sp>
        <p:nvSpPr>
          <p:cNvPr id="162" name="Oval 161">
            <a:extLst>
              <a:ext uri="{FF2B5EF4-FFF2-40B4-BE49-F238E27FC236}">
                <a16:creationId xmlns:a16="http://schemas.microsoft.com/office/drawing/2014/main" id="{F0E95A7D-A2C7-E54A-BD12-664E167B0E02}"/>
              </a:ext>
            </a:extLst>
          </p:cNvPr>
          <p:cNvSpPr/>
          <p:nvPr/>
        </p:nvSpPr>
        <p:spPr bwMode="auto">
          <a:xfrm>
            <a:off x="1164183" y="4018694"/>
            <a:ext cx="280990" cy="217524"/>
          </a:xfrm>
          <a:prstGeom prst="ellipse">
            <a:avLst/>
          </a:prstGeom>
          <a:solidFill>
            <a:srgbClr val="FFCC33"/>
          </a:solidFill>
          <a:ln w="9525" cap="flat" cmpd="sng" algn="ctr">
            <a:solidFill>
              <a:srgbClr val="F79646">
                <a:lumMod val="75000"/>
              </a:srgbClr>
            </a:solidFill>
            <a:prstDash val="solid"/>
          </a:ln>
          <a:effectLst>
            <a:outerShdw blurRad="40000" dist="23000" dir="5400000" rotWithShape="0">
              <a:srgbClr val="000000">
                <a:alpha val="35000"/>
              </a:srgbClr>
            </a:outerShdw>
          </a:effectLst>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sz="1050" b="0" i="0" u="none" strike="noStrike" kern="1200" cap="none" spc="0" normalizeH="0" baseline="0" noProof="0" dirty="0">
                <a:ln>
                  <a:noFill/>
                </a:ln>
                <a:solidFill>
                  <a:srgbClr val="E46C0A"/>
                </a:solidFill>
                <a:effectLst/>
                <a:uLnTx/>
                <a:uFillTx/>
                <a:latin typeface="Calibri"/>
                <a:ea typeface="ＭＳ Ｐゴシック"/>
                <a:cs typeface="Calibri"/>
              </a:rPr>
              <a:t>0</a:t>
            </a:r>
          </a:p>
        </p:txBody>
      </p:sp>
      <p:sp>
        <p:nvSpPr>
          <p:cNvPr id="3" name="Slide Number Placeholder 2">
            <a:extLst>
              <a:ext uri="{FF2B5EF4-FFF2-40B4-BE49-F238E27FC236}">
                <a16:creationId xmlns:a16="http://schemas.microsoft.com/office/drawing/2014/main" id="{83E2467A-7D57-5344-BBD8-F08DA4FD6A42}"/>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54</a:t>
            </a:fld>
            <a:endParaRPr lang="en-US" sz="1000"/>
          </a:p>
        </p:txBody>
      </p:sp>
    </p:spTree>
    <p:extLst>
      <p:ext uri="{BB962C8B-B14F-4D97-AF65-F5344CB8AC3E}">
        <p14:creationId xmlns:p14="http://schemas.microsoft.com/office/powerpoint/2010/main" val="25431947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414D3-968A-F64B-9883-F6762DB59296}"/>
              </a:ext>
            </a:extLst>
          </p:cNvPr>
          <p:cNvSpPr>
            <a:spLocks noGrp="1"/>
          </p:cNvSpPr>
          <p:nvPr>
            <p:ph type="title"/>
          </p:nvPr>
        </p:nvSpPr>
        <p:spPr/>
        <p:txBody>
          <a:bodyPr/>
          <a:lstStyle/>
          <a:p>
            <a:r>
              <a:rPr lang="en-US" dirty="0"/>
              <a:t>Data flows</a:t>
            </a:r>
          </a:p>
        </p:txBody>
      </p:sp>
      <p:sp>
        <p:nvSpPr>
          <p:cNvPr id="4" name="Slide Number Placeholder 3">
            <a:extLst>
              <a:ext uri="{FF2B5EF4-FFF2-40B4-BE49-F238E27FC236}">
                <a16:creationId xmlns:a16="http://schemas.microsoft.com/office/drawing/2014/main" id="{75C6FC14-1C35-194A-9BE3-EEBEB2522A5D}"/>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55</a:t>
            </a:fld>
            <a:endParaRPr lang="en-US" sz="1000"/>
          </a:p>
        </p:txBody>
      </p:sp>
      <p:pic>
        <p:nvPicPr>
          <p:cNvPr id="6" name="Picture 5">
            <a:extLst>
              <a:ext uri="{FF2B5EF4-FFF2-40B4-BE49-F238E27FC236}">
                <a16:creationId xmlns:a16="http://schemas.microsoft.com/office/drawing/2014/main" id="{1C87D198-0FF6-1C4E-81E7-C8DF3625DB56}"/>
              </a:ext>
            </a:extLst>
          </p:cNvPr>
          <p:cNvPicPr>
            <a:picLocks noChangeAspect="1"/>
          </p:cNvPicPr>
          <p:nvPr/>
        </p:nvPicPr>
        <p:blipFill>
          <a:blip r:embed="rId2"/>
          <a:stretch>
            <a:fillRect/>
          </a:stretch>
        </p:blipFill>
        <p:spPr>
          <a:xfrm>
            <a:off x="2794716" y="477211"/>
            <a:ext cx="5875360" cy="4189078"/>
          </a:xfrm>
          <a:prstGeom prst="rect">
            <a:avLst/>
          </a:prstGeom>
        </p:spPr>
      </p:pic>
    </p:spTree>
    <p:extLst>
      <p:ext uri="{BB962C8B-B14F-4D97-AF65-F5344CB8AC3E}">
        <p14:creationId xmlns:p14="http://schemas.microsoft.com/office/powerpoint/2010/main" val="15603237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p:txBody>
          <a:bodyPr/>
          <a:lstStyle/>
          <a:p>
            <a:r>
              <a:rPr lang="en-US">
                <a:latin typeface="Calibri" charset="0"/>
                <a:ea typeface="ＭＳ Ｐゴシック" charset="0"/>
                <a:cs typeface="ＭＳ Ｐゴシック" charset="0"/>
              </a:rPr>
              <a:t>Continuum of information transformation</a:t>
            </a:r>
          </a:p>
        </p:txBody>
      </p:sp>
      <p:sp>
        <p:nvSpPr>
          <p:cNvPr id="16386" name="TextBox 48"/>
          <p:cNvSpPr txBox="1">
            <a:spLocks noChangeArrowheads="1"/>
          </p:cNvSpPr>
          <p:nvPr/>
        </p:nvSpPr>
        <p:spPr bwMode="auto">
          <a:xfrm>
            <a:off x="4027394" y="2663078"/>
            <a:ext cx="901178" cy="4845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900" dirty="0">
                <a:latin typeface="Helvetica" charset="0"/>
                <a:cs typeface="Helvetica" charset="0"/>
              </a:rPr>
              <a:t>Information Service</a:t>
            </a:r>
            <a:endParaRPr lang="en-GB" sz="900" dirty="0">
              <a:latin typeface="Helvetica" charset="0"/>
              <a:cs typeface="Helvetica" charset="0"/>
            </a:endParaRPr>
          </a:p>
        </p:txBody>
      </p:sp>
      <p:sp>
        <p:nvSpPr>
          <p:cNvPr id="16387" name="TextBox 48"/>
          <p:cNvSpPr txBox="1">
            <a:spLocks noChangeArrowheads="1"/>
          </p:cNvSpPr>
          <p:nvPr/>
        </p:nvSpPr>
        <p:spPr bwMode="auto">
          <a:xfrm>
            <a:off x="4027394" y="1510552"/>
            <a:ext cx="800100" cy="3762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900">
                <a:latin typeface="Helvetica" charset="0"/>
                <a:cs typeface="Helvetica" charset="0"/>
              </a:rPr>
              <a:t>Information</a:t>
            </a:r>
          </a:p>
          <a:p>
            <a:pPr eaLnBrk="1" hangingPunct="1"/>
            <a:r>
              <a:rPr lang="en-GB" sz="900">
                <a:latin typeface="Helvetica" charset="0"/>
                <a:cs typeface="Helvetica" charset="0"/>
              </a:rPr>
              <a:t>User</a:t>
            </a:r>
          </a:p>
        </p:txBody>
      </p:sp>
      <p:sp>
        <p:nvSpPr>
          <p:cNvPr id="16388" name="TextBox 48"/>
          <p:cNvSpPr txBox="1">
            <a:spLocks noChangeArrowheads="1"/>
          </p:cNvSpPr>
          <p:nvPr/>
        </p:nvSpPr>
        <p:spPr bwMode="auto">
          <a:xfrm>
            <a:off x="4027394" y="2027284"/>
            <a:ext cx="972741" cy="4845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900">
                <a:latin typeface="Helvetica" charset="0"/>
                <a:cs typeface="Helvetica" charset="0"/>
              </a:rPr>
              <a:t>Information</a:t>
            </a:r>
          </a:p>
          <a:p>
            <a:pPr eaLnBrk="1" hangingPunct="1"/>
            <a:r>
              <a:rPr lang="en-GB" sz="900">
                <a:latin typeface="Helvetica" charset="0"/>
                <a:cs typeface="Helvetica" charset="0"/>
              </a:rPr>
              <a:t>Process</a:t>
            </a:r>
          </a:p>
        </p:txBody>
      </p:sp>
      <p:sp>
        <p:nvSpPr>
          <p:cNvPr id="16389" name="TextBox 48"/>
          <p:cNvSpPr txBox="1">
            <a:spLocks noChangeArrowheads="1"/>
          </p:cNvSpPr>
          <p:nvPr/>
        </p:nvSpPr>
        <p:spPr bwMode="auto">
          <a:xfrm>
            <a:off x="2198848" y="2099198"/>
            <a:ext cx="761747"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GB" sz="900">
                <a:latin typeface="Helvetica" charset="0"/>
                <a:cs typeface="Helvetica" charset="0"/>
              </a:rPr>
              <a:t>Information</a:t>
            </a:r>
          </a:p>
          <a:p>
            <a:pPr algn="r" eaLnBrk="1" hangingPunct="1"/>
            <a:r>
              <a:rPr lang="en-GB" sz="900">
                <a:latin typeface="Helvetica" charset="0"/>
                <a:cs typeface="Helvetica" charset="0"/>
              </a:rPr>
              <a:t>Trigger</a:t>
            </a:r>
          </a:p>
        </p:txBody>
      </p:sp>
      <p:sp>
        <p:nvSpPr>
          <p:cNvPr id="16390" name="TextBox 48"/>
          <p:cNvSpPr txBox="1">
            <a:spLocks noChangeArrowheads="1"/>
          </p:cNvSpPr>
          <p:nvPr/>
        </p:nvSpPr>
        <p:spPr bwMode="auto">
          <a:xfrm>
            <a:off x="4027394" y="3326256"/>
            <a:ext cx="1066800" cy="48458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900">
                <a:latin typeface="Helvetica" charset="0"/>
                <a:cs typeface="Helvetica" charset="0"/>
              </a:rPr>
              <a:t>Information Collection</a:t>
            </a:r>
            <a:endParaRPr lang="en-GB" sz="900">
              <a:latin typeface="Helvetica" charset="0"/>
              <a:cs typeface="Helvetica" charset="0"/>
            </a:endParaRPr>
          </a:p>
        </p:txBody>
      </p:sp>
      <p:sp>
        <p:nvSpPr>
          <p:cNvPr id="16391" name="TextBox 48"/>
          <p:cNvSpPr txBox="1">
            <a:spLocks noChangeArrowheads="1"/>
          </p:cNvSpPr>
          <p:nvPr/>
        </p:nvSpPr>
        <p:spPr bwMode="auto">
          <a:xfrm>
            <a:off x="2606980" y="1480073"/>
            <a:ext cx="78224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ct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r>
              <a:rPr lang="en-GB" sz="900">
                <a:latin typeface="Helvetica" charset="0"/>
                <a:cs typeface="Helvetica" charset="0"/>
              </a:rPr>
              <a:t>Information</a:t>
            </a:r>
          </a:p>
          <a:p>
            <a:pPr algn="r" eaLnBrk="1" hangingPunct="1"/>
            <a:r>
              <a:rPr lang="en-GB" sz="900">
                <a:latin typeface="Helvetica" charset="0"/>
                <a:cs typeface="Helvetica" charset="0"/>
              </a:rPr>
              <a:t>Event</a:t>
            </a:r>
          </a:p>
        </p:txBody>
      </p:sp>
      <p:grpSp>
        <p:nvGrpSpPr>
          <p:cNvPr id="16392" name="Group 4"/>
          <p:cNvGrpSpPr>
            <a:grpSpLocks/>
          </p:cNvGrpSpPr>
          <p:nvPr/>
        </p:nvGrpSpPr>
        <p:grpSpPr bwMode="auto">
          <a:xfrm>
            <a:off x="3046319" y="1424828"/>
            <a:ext cx="838200" cy="2372916"/>
            <a:chOff x="3543300" y="1841500"/>
            <a:chExt cx="1562100" cy="4421188"/>
          </a:xfrm>
        </p:grpSpPr>
        <p:grpSp>
          <p:nvGrpSpPr>
            <p:cNvPr id="16397" name="Group 4"/>
            <p:cNvGrpSpPr>
              <a:grpSpLocks/>
            </p:cNvGrpSpPr>
            <p:nvPr/>
          </p:nvGrpSpPr>
          <p:grpSpPr bwMode="auto">
            <a:xfrm>
              <a:off x="4564063" y="1841500"/>
              <a:ext cx="355600" cy="654050"/>
              <a:chOff x="603250" y="4737100"/>
              <a:chExt cx="355600" cy="654050"/>
            </a:xfrm>
          </p:grpSpPr>
          <p:sp>
            <p:nvSpPr>
              <p:cNvPr id="7" name="Delay 6"/>
              <p:cNvSpPr/>
              <p:nvPr/>
            </p:nvSpPr>
            <p:spPr>
              <a:xfrm rot="16200000">
                <a:off x="545543" y="4978859"/>
                <a:ext cx="470292" cy="355023"/>
              </a:xfrm>
              <a:prstGeom prst="flowChartDelay">
                <a:avLst/>
              </a:prstGeom>
              <a:solidFill>
                <a:schemeClr val="tx2"/>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sp>
            <p:nvSpPr>
              <p:cNvPr id="8" name="Oval 7"/>
              <p:cNvSpPr/>
              <p:nvPr/>
            </p:nvSpPr>
            <p:spPr>
              <a:xfrm>
                <a:off x="628650" y="4737100"/>
                <a:ext cx="304800" cy="279400"/>
              </a:xfrm>
              <a:prstGeom prst="ellipse">
                <a:avLst/>
              </a:prstGeom>
              <a:solidFill>
                <a:schemeClr val="bg2"/>
              </a:solidFill>
              <a:ln>
                <a:solidFill>
                  <a:schemeClr val="tx2"/>
                </a:solidFill>
              </a:ln>
              <a:scene3d>
                <a:camera prst="orthographicFront"/>
                <a:lightRig rig="threePt" dir="t"/>
              </a:scene3d>
              <a:sp3d>
                <a:bevelT/>
              </a:sp3d>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grpSp>
        <p:sp>
          <p:nvSpPr>
            <p:cNvPr id="11" name="Oval 10"/>
            <p:cNvSpPr/>
            <p:nvPr/>
          </p:nvSpPr>
          <p:spPr bwMode="auto">
            <a:xfrm>
              <a:off x="4426419" y="3128148"/>
              <a:ext cx="632385" cy="610049"/>
            </a:xfrm>
            <a:prstGeom prst="ellipse">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cxnSp>
          <p:nvCxnSpPr>
            <p:cNvPr id="12" name="Straight Connector 11"/>
            <p:cNvCxnSpPr/>
            <p:nvPr/>
          </p:nvCxnSpPr>
          <p:spPr bwMode="auto">
            <a:xfrm rot="16200000" flipH="1">
              <a:off x="4525212" y="3209064"/>
              <a:ext cx="432580" cy="448216"/>
            </a:xfrm>
            <a:prstGeom prst="line">
              <a:avLst/>
            </a:prstGeom>
            <a:ln w="76200" cap="flat" cmpd="sng" algn="ctr">
              <a:solidFill>
                <a:schemeClr val="tx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bwMode="auto">
            <a:xfrm rot="16200000" flipH="1" flipV="1">
              <a:off x="4525212" y="3209064"/>
              <a:ext cx="432580" cy="448216"/>
            </a:xfrm>
            <a:prstGeom prst="line">
              <a:avLst/>
            </a:prstGeom>
            <a:ln w="76200" cap="flat" cmpd="sng" algn="ctr">
              <a:solidFill>
                <a:schemeClr val="tx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bwMode="auto">
            <a:xfrm rot="16200000" flipH="1">
              <a:off x="4437588" y="3434281"/>
              <a:ext cx="610048" cy="2220"/>
            </a:xfrm>
            <a:prstGeom prst="line">
              <a:avLst/>
            </a:prstGeom>
            <a:ln w="76200" cap="flat" cmpd="sng" algn="ctr">
              <a:solidFill>
                <a:schemeClr val="tx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bwMode="auto">
            <a:xfrm rot="10800000" flipH="1">
              <a:off x="4426419" y="3434281"/>
              <a:ext cx="632385" cy="0"/>
            </a:xfrm>
            <a:prstGeom prst="line">
              <a:avLst/>
            </a:prstGeom>
            <a:ln w="76200" cap="flat" cmpd="sng" algn="ctr">
              <a:solidFill>
                <a:schemeClr val="tx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bwMode="auto">
            <a:xfrm>
              <a:off x="4532926" y="3230192"/>
              <a:ext cx="419371" cy="419270"/>
            </a:xfrm>
            <a:prstGeom prst="ellipse">
              <a:avLst/>
            </a:prstGeom>
            <a:solidFill>
              <a:schemeClr val="tx2"/>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sp>
          <p:nvSpPr>
            <p:cNvPr id="17" name="Oval 16"/>
            <p:cNvSpPr/>
            <p:nvPr/>
          </p:nvSpPr>
          <p:spPr bwMode="auto">
            <a:xfrm>
              <a:off x="4617244" y="3312272"/>
              <a:ext cx="250736" cy="255110"/>
            </a:xfrm>
            <a:prstGeom prst="ellipse">
              <a:avLst/>
            </a:prstGeom>
            <a:solidFill>
              <a:srgbClr val="1F497D"/>
            </a:solidFill>
            <a:ln>
              <a:solidFill>
                <a:schemeClr val="bg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grpSp>
          <p:nvGrpSpPr>
            <p:cNvPr id="16405" name="Group 32"/>
            <p:cNvGrpSpPr>
              <a:grpSpLocks/>
            </p:cNvGrpSpPr>
            <p:nvPr/>
          </p:nvGrpSpPr>
          <p:grpSpPr bwMode="auto">
            <a:xfrm>
              <a:off x="4621213" y="2578100"/>
              <a:ext cx="242887" cy="509588"/>
              <a:chOff x="4430713" y="2578100"/>
              <a:chExt cx="242887" cy="509588"/>
            </a:xfrm>
          </p:grpSpPr>
          <p:cxnSp>
            <p:nvCxnSpPr>
              <p:cNvPr id="19" name="Straight Arrow Connector 18"/>
              <p:cNvCxnSpPr/>
              <p:nvPr/>
            </p:nvCxnSpPr>
            <p:spPr>
              <a:xfrm rot="5400000">
                <a:off x="4178289" y="2830888"/>
                <a:ext cx="508005" cy="2220"/>
              </a:xfrm>
              <a:prstGeom prst="straightConnector1">
                <a:avLst/>
              </a:prstGeom>
              <a:ln>
                <a:solidFill>
                  <a:schemeClr val="tx2"/>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Arrow Connector 19"/>
              <p:cNvCxnSpPr/>
              <p:nvPr/>
            </p:nvCxnSpPr>
            <p:spPr>
              <a:xfrm rot="5400000" flipH="1" flipV="1">
                <a:off x="4416819" y="2831997"/>
                <a:ext cx="510222" cy="2220"/>
              </a:xfrm>
              <a:prstGeom prst="straightConnector1">
                <a:avLst/>
              </a:prstGeom>
              <a:ln>
                <a:solidFill>
                  <a:srgbClr val="1F497D"/>
                </a:solidFill>
                <a:tailEnd type="arrow"/>
              </a:ln>
            </p:spPr>
            <p:style>
              <a:lnRef idx="2">
                <a:schemeClr val="accent1"/>
              </a:lnRef>
              <a:fillRef idx="0">
                <a:schemeClr val="accent1"/>
              </a:fillRef>
              <a:effectRef idx="1">
                <a:schemeClr val="accent1"/>
              </a:effectRef>
              <a:fontRef idx="minor">
                <a:schemeClr val="tx1"/>
              </a:fontRef>
            </p:style>
          </p:cxnSp>
        </p:grpSp>
        <p:cxnSp>
          <p:nvCxnSpPr>
            <p:cNvPr id="21" name="Curved Connector 20"/>
            <p:cNvCxnSpPr>
              <a:stCxn id="11" idx="4"/>
            </p:cNvCxnSpPr>
            <p:nvPr/>
          </p:nvCxnSpPr>
          <p:spPr>
            <a:xfrm rot="5400000">
              <a:off x="4458662" y="4021037"/>
              <a:ext cx="567900" cy="2220"/>
            </a:xfrm>
            <a:prstGeom prst="curvedConnector3">
              <a:avLst>
                <a:gd name="adj1" fmla="val 50000"/>
              </a:avLst>
            </a:prstGeom>
            <a:ln>
              <a:solidFill>
                <a:srgbClr val="1F497D"/>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2" name="Right Arrow 21"/>
            <p:cNvSpPr/>
            <p:nvPr/>
          </p:nvSpPr>
          <p:spPr>
            <a:xfrm>
              <a:off x="3543300" y="3201354"/>
              <a:ext cx="672325" cy="545716"/>
            </a:xfrm>
            <a:prstGeom prst="rightArrow">
              <a:avLst/>
            </a:prstGeom>
            <a:solidFill>
              <a:srgbClr val="1F497D"/>
            </a:solidFill>
            <a:ln>
              <a:solidFill>
                <a:srgbClr val="1F497D"/>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grpSp>
          <p:nvGrpSpPr>
            <p:cNvPr id="16408" name="Group 42"/>
            <p:cNvGrpSpPr>
              <a:grpSpLocks/>
            </p:cNvGrpSpPr>
            <p:nvPr/>
          </p:nvGrpSpPr>
          <p:grpSpPr bwMode="auto">
            <a:xfrm>
              <a:off x="4378325" y="4305300"/>
              <a:ext cx="727075" cy="749300"/>
              <a:chOff x="6451600" y="0"/>
              <a:chExt cx="990600" cy="977900"/>
            </a:xfrm>
          </p:grpSpPr>
          <p:sp>
            <p:nvSpPr>
              <p:cNvPr id="25" name="Off-page Connector 24"/>
              <p:cNvSpPr/>
              <p:nvPr/>
            </p:nvSpPr>
            <p:spPr>
              <a:xfrm>
                <a:off x="6450617" y="1040"/>
                <a:ext cx="991583" cy="975662"/>
              </a:xfrm>
              <a:prstGeom prst="flowChartOffpageConnector">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sp>
            <p:nvSpPr>
              <p:cNvPr id="26" name="Rounded Rectangle 25"/>
              <p:cNvSpPr/>
              <p:nvPr/>
            </p:nvSpPr>
            <p:spPr>
              <a:xfrm>
                <a:off x="6565496" y="64733"/>
                <a:ext cx="773918" cy="683254"/>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grpSp>
        <p:sp>
          <p:nvSpPr>
            <p:cNvPr id="27" name="Folded Corner 26"/>
            <p:cNvSpPr/>
            <p:nvPr/>
          </p:nvSpPr>
          <p:spPr bwMode="auto">
            <a:xfrm>
              <a:off x="4444170" y="5539503"/>
              <a:ext cx="596883" cy="723185"/>
            </a:xfrm>
            <a:prstGeom prst="foldedCorner">
              <a:avLst/>
            </a:prstGeom>
            <a:solidFill>
              <a:schemeClr val="bg1"/>
            </a:solidFill>
            <a:ln w="19050" cap="flat" cmpd="sng" algn="ctr">
              <a:solidFill>
                <a:schemeClr val="tx2"/>
              </a:solidFill>
              <a:prstDash val="sysDash"/>
              <a:round/>
              <a:headEnd type="none" w="med" len="med"/>
              <a:tailEnd type="none" w="med" len="med"/>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en-GB" sz="1350">
                  <a:solidFill>
                    <a:srgbClr val="FFFFFF"/>
                  </a:solidFill>
                  <a:latin typeface="Helvetica"/>
                  <a:ea typeface="ＭＳ Ｐゴシック" charset="0"/>
                  <a:cs typeface="Helvetica"/>
                </a:rPr>
                <a:t>√</a:t>
              </a:r>
            </a:p>
          </p:txBody>
        </p:sp>
        <p:cxnSp>
          <p:nvCxnSpPr>
            <p:cNvPr id="28" name="Straight Connector 27"/>
            <p:cNvCxnSpPr>
              <a:endCxn id="27" idx="0"/>
            </p:cNvCxnSpPr>
            <p:nvPr/>
          </p:nvCxnSpPr>
          <p:spPr>
            <a:xfrm rot="5400000">
              <a:off x="4498590" y="5296593"/>
              <a:ext cx="485821" cy="0"/>
            </a:xfrm>
            <a:prstGeom prst="line">
              <a:avLst/>
            </a:prstGeom>
            <a:ln w="25400" cap="flat" cmpd="sng" algn="ctr">
              <a:solidFill>
                <a:srgbClr val="1F497D"/>
              </a:solidFill>
              <a:prstDash val="sysDash"/>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1" name="5-Point Star 30"/>
            <p:cNvSpPr/>
            <p:nvPr/>
          </p:nvSpPr>
          <p:spPr>
            <a:xfrm>
              <a:off x="3600991" y="2724406"/>
              <a:ext cx="430465" cy="432580"/>
            </a:xfrm>
            <a:prstGeom prst="star5">
              <a:avLst/>
            </a:prstGeom>
            <a:solidFill>
              <a:srgbClr val="9DD7E2"/>
            </a:solidFill>
            <a:ln>
              <a:solidFill>
                <a:schemeClr val="tx2"/>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GB" sz="1350">
                <a:latin typeface="Helvetica"/>
                <a:cs typeface="Helvetica"/>
              </a:endParaRPr>
            </a:p>
          </p:txBody>
        </p:sp>
      </p:grpSp>
      <p:sp>
        <p:nvSpPr>
          <p:cNvPr id="24" name="Up-Down Arrow 23"/>
          <p:cNvSpPr/>
          <p:nvPr/>
        </p:nvSpPr>
        <p:spPr>
          <a:xfrm>
            <a:off x="5125027" y="1204546"/>
            <a:ext cx="366960" cy="2795953"/>
          </a:xfrm>
          <a:prstGeom prst="upDownArrow">
            <a:avLst/>
          </a:prstGeom>
          <a:solidFill>
            <a:schemeClr val="bg1">
              <a:lumMod val="65000"/>
            </a:schemeClr>
          </a:solidFill>
        </p:spPr>
        <p:style>
          <a:lnRef idx="1">
            <a:schemeClr val="accent1"/>
          </a:lnRef>
          <a:fillRef idx="3">
            <a:schemeClr val="accent1"/>
          </a:fillRef>
          <a:effectRef idx="2">
            <a:schemeClr val="accent1"/>
          </a:effectRef>
          <a:fontRef idx="minor">
            <a:schemeClr val="lt1"/>
          </a:fontRef>
        </p:style>
        <p:txBody>
          <a:bodyPr wrap="none" anchor="ctr">
            <a:noAutofit/>
          </a:bodyPr>
          <a:lstStyle/>
          <a:p>
            <a:pPr algn="ctr">
              <a:defRPr/>
            </a:pPr>
            <a:endParaRPr lang="en-US" sz="1200" dirty="0">
              <a:solidFill>
                <a:schemeClr val="tx1"/>
              </a:solidFill>
            </a:endParaRPr>
          </a:p>
        </p:txBody>
      </p:sp>
      <p:sp>
        <p:nvSpPr>
          <p:cNvPr id="16394" name="TextBox 28"/>
          <p:cNvSpPr txBox="1">
            <a:spLocks noChangeArrowheads="1"/>
          </p:cNvSpPr>
          <p:nvPr/>
        </p:nvSpPr>
        <p:spPr bwMode="auto">
          <a:xfrm>
            <a:off x="5560919" y="1281953"/>
            <a:ext cx="1038225" cy="5770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Helvetica" charset="0"/>
                <a:cs typeface="Helvetica" charset="0"/>
              </a:rPr>
              <a:t>Specific to the individual and task at hand</a:t>
            </a:r>
          </a:p>
        </p:txBody>
      </p:sp>
      <p:sp>
        <p:nvSpPr>
          <p:cNvPr id="16395" name="TextBox 84"/>
          <p:cNvSpPr txBox="1">
            <a:spLocks noChangeArrowheads="1"/>
          </p:cNvSpPr>
          <p:nvPr/>
        </p:nvSpPr>
        <p:spPr bwMode="auto">
          <a:xfrm>
            <a:off x="5560919" y="3272678"/>
            <a:ext cx="1104900" cy="9002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Helvetica" charset="0"/>
                <a:cs typeface="Helvetica" charset="0"/>
              </a:rPr>
              <a:t>Optimized for efficient storage and retrieval for many uses</a:t>
            </a:r>
          </a:p>
        </p:txBody>
      </p:sp>
      <p:sp>
        <p:nvSpPr>
          <p:cNvPr id="16396" name="TextBox 85"/>
          <p:cNvSpPr txBox="1">
            <a:spLocks noChangeArrowheads="1"/>
          </p:cNvSpPr>
          <p:nvPr/>
        </p:nvSpPr>
        <p:spPr bwMode="auto">
          <a:xfrm>
            <a:off x="5560919" y="2358278"/>
            <a:ext cx="1104900" cy="4154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050">
                <a:latin typeface="Helvetica" charset="0"/>
                <a:cs typeface="Helvetica" charset="0"/>
              </a:rPr>
              <a:t>Interchange of views</a:t>
            </a:r>
          </a:p>
        </p:txBody>
      </p:sp>
    </p:spTree>
    <p:extLst>
      <p:ext uri="{BB962C8B-B14F-4D97-AF65-F5344CB8AC3E}">
        <p14:creationId xmlns:p14="http://schemas.microsoft.com/office/powerpoint/2010/main" val="33529887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for APIs</a:t>
            </a:r>
          </a:p>
        </p:txBody>
      </p:sp>
      <p:pic>
        <p:nvPicPr>
          <p:cNvPr id="3" name="Picture 2"/>
          <p:cNvPicPr>
            <a:picLocks noChangeAspect="1"/>
          </p:cNvPicPr>
          <p:nvPr/>
        </p:nvPicPr>
        <p:blipFill>
          <a:blip r:embed="rId2"/>
          <a:stretch>
            <a:fillRect/>
          </a:stretch>
        </p:blipFill>
        <p:spPr>
          <a:xfrm>
            <a:off x="679297" y="1199309"/>
            <a:ext cx="3588542" cy="1321734"/>
          </a:xfrm>
          <a:prstGeom prst="rect">
            <a:avLst/>
          </a:prstGeom>
        </p:spPr>
      </p:pic>
      <p:pic>
        <p:nvPicPr>
          <p:cNvPr id="4" name="Picture 3"/>
          <p:cNvPicPr>
            <a:picLocks noChangeAspect="1"/>
          </p:cNvPicPr>
          <p:nvPr/>
        </p:nvPicPr>
        <p:blipFill>
          <a:blip r:embed="rId3"/>
          <a:stretch>
            <a:fillRect/>
          </a:stretch>
        </p:blipFill>
        <p:spPr>
          <a:xfrm>
            <a:off x="4423119" y="1019737"/>
            <a:ext cx="3291010" cy="3452532"/>
          </a:xfrm>
          <a:prstGeom prst="rect">
            <a:avLst/>
          </a:prstGeom>
        </p:spPr>
      </p:pic>
      <p:sp>
        <p:nvSpPr>
          <p:cNvPr id="5" name="TextBox 4"/>
          <p:cNvSpPr txBox="1"/>
          <p:nvPr/>
        </p:nvSpPr>
        <p:spPr bwMode="auto">
          <a:xfrm>
            <a:off x="2017059" y="3283324"/>
            <a:ext cx="2095500" cy="784830"/>
          </a:xfrm>
          <a:prstGeom prst="rect">
            <a:avLst/>
          </a:prstGeom>
          <a:noFill/>
          <a:ln w="9525">
            <a:noFill/>
            <a:miter lim="800000"/>
            <a:headEnd/>
            <a:tailEnd/>
          </a:ln>
        </p:spPr>
        <p:txBody>
          <a:bodyPr wrap="square" rtlCol="0">
            <a:prstTxWarp prst="textNoShape">
              <a:avLst/>
            </a:prstTxWarp>
            <a:spAutoFit/>
          </a:bodyPr>
          <a:lstStyle/>
          <a:p>
            <a:r>
              <a:rPr lang="en-US" sz="1500" dirty="0">
                <a:latin typeface="Calibri" pitchFamily="-1" charset="0"/>
              </a:rPr>
              <a:t>Model fragments for APIs, data integration and applications.</a:t>
            </a:r>
          </a:p>
        </p:txBody>
      </p:sp>
    </p:spTree>
    <p:extLst>
      <p:ext uri="{BB962C8B-B14F-4D97-AF65-F5344CB8AC3E}">
        <p14:creationId xmlns:p14="http://schemas.microsoft.com/office/powerpoint/2010/main" val="236967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Models for analytics and databases</a:t>
            </a:r>
          </a:p>
        </p:txBody>
      </p:sp>
      <p:pic>
        <p:nvPicPr>
          <p:cNvPr id="3" name="Picture 2"/>
          <p:cNvPicPr>
            <a:picLocks noChangeAspect="1"/>
          </p:cNvPicPr>
          <p:nvPr/>
        </p:nvPicPr>
        <p:blipFill>
          <a:blip r:embed="rId2"/>
          <a:stretch>
            <a:fillRect/>
          </a:stretch>
        </p:blipFill>
        <p:spPr>
          <a:xfrm>
            <a:off x="1394787" y="1372508"/>
            <a:ext cx="2642900" cy="1454524"/>
          </a:xfrm>
          <a:prstGeom prst="rect">
            <a:avLst/>
          </a:prstGeom>
        </p:spPr>
      </p:pic>
      <p:pic>
        <p:nvPicPr>
          <p:cNvPr id="4" name="Picture 3"/>
          <p:cNvPicPr>
            <a:picLocks noChangeAspect="1"/>
          </p:cNvPicPr>
          <p:nvPr/>
        </p:nvPicPr>
        <p:blipFill>
          <a:blip r:embed="rId3"/>
          <a:stretch>
            <a:fillRect/>
          </a:stretch>
        </p:blipFill>
        <p:spPr>
          <a:xfrm>
            <a:off x="5252900" y="1131794"/>
            <a:ext cx="2261365" cy="3160059"/>
          </a:xfrm>
          <a:prstGeom prst="rect">
            <a:avLst/>
          </a:prstGeom>
        </p:spPr>
      </p:pic>
      <p:sp>
        <p:nvSpPr>
          <p:cNvPr id="5" name="TextBox 4"/>
          <p:cNvSpPr txBox="1"/>
          <p:nvPr/>
        </p:nvSpPr>
        <p:spPr bwMode="auto">
          <a:xfrm>
            <a:off x="1882589" y="3126441"/>
            <a:ext cx="2297206" cy="784830"/>
          </a:xfrm>
          <a:prstGeom prst="rect">
            <a:avLst/>
          </a:prstGeom>
          <a:noFill/>
          <a:ln w="9525">
            <a:noFill/>
            <a:miter lim="800000"/>
            <a:headEnd/>
            <a:tailEnd/>
          </a:ln>
        </p:spPr>
        <p:txBody>
          <a:bodyPr wrap="square" rtlCol="0">
            <a:prstTxWarp prst="textNoShape">
              <a:avLst/>
            </a:prstTxWarp>
            <a:spAutoFit/>
          </a:bodyPr>
          <a:lstStyle/>
          <a:p>
            <a:r>
              <a:rPr lang="en-US" sz="1500" dirty="0">
                <a:latin typeface="Calibri" pitchFamily="-1" charset="0"/>
              </a:rPr>
              <a:t>Useful for defining how a subject area comes together in a single view</a:t>
            </a:r>
          </a:p>
        </p:txBody>
      </p:sp>
    </p:spTree>
    <p:extLst>
      <p:ext uri="{BB962C8B-B14F-4D97-AF65-F5344CB8AC3E}">
        <p14:creationId xmlns:p14="http://schemas.microsoft.com/office/powerpoint/2010/main" val="6786932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Integrating technologies</a:t>
            </a:r>
          </a:p>
        </p:txBody>
      </p:sp>
      <p:sp>
        <p:nvSpPr>
          <p:cNvPr id="8" name="Content Placeholder 7"/>
          <p:cNvSpPr>
            <a:spLocks noGrp="1"/>
          </p:cNvSpPr>
          <p:nvPr>
            <p:ph idx="1"/>
          </p:nvPr>
        </p:nvSpPr>
        <p:spPr>
          <a:xfrm>
            <a:off x="735105" y="1130113"/>
            <a:ext cx="3561230" cy="3371850"/>
          </a:xfrm>
        </p:spPr>
        <p:txBody>
          <a:bodyPr/>
          <a:lstStyle/>
          <a:p>
            <a:r>
              <a:rPr lang="en-US" dirty="0"/>
              <a:t>Used to relate models from different sources</a:t>
            </a:r>
          </a:p>
          <a:p>
            <a:r>
              <a:rPr lang="en-US" dirty="0"/>
              <a:t>Linking is via concept – not model to model</a:t>
            </a:r>
          </a:p>
        </p:txBody>
      </p:sp>
      <p:pic>
        <p:nvPicPr>
          <p:cNvPr id="5" name="Picture 4"/>
          <p:cNvPicPr>
            <a:picLocks noChangeAspect="1"/>
          </p:cNvPicPr>
          <p:nvPr/>
        </p:nvPicPr>
        <p:blipFill>
          <a:blip r:embed="rId2"/>
          <a:stretch>
            <a:fillRect/>
          </a:stretch>
        </p:blipFill>
        <p:spPr>
          <a:xfrm>
            <a:off x="1762685" y="2816038"/>
            <a:ext cx="3457575" cy="1743075"/>
          </a:xfrm>
          <a:prstGeom prst="rect">
            <a:avLst/>
          </a:prstGeom>
        </p:spPr>
      </p:pic>
      <p:pic>
        <p:nvPicPr>
          <p:cNvPr id="6" name="Picture 5"/>
          <p:cNvPicPr>
            <a:picLocks noChangeAspect="1"/>
          </p:cNvPicPr>
          <p:nvPr/>
        </p:nvPicPr>
        <p:blipFill>
          <a:blip r:embed="rId3"/>
          <a:stretch>
            <a:fillRect/>
          </a:stretch>
        </p:blipFill>
        <p:spPr>
          <a:xfrm>
            <a:off x="4797799" y="519393"/>
            <a:ext cx="3067050" cy="2647950"/>
          </a:xfrm>
          <a:prstGeom prst="rect">
            <a:avLst/>
          </a:prstGeom>
        </p:spPr>
      </p:pic>
      <p:pic>
        <p:nvPicPr>
          <p:cNvPr id="7" name="Picture 6"/>
          <p:cNvPicPr>
            <a:picLocks noChangeAspect="1"/>
          </p:cNvPicPr>
          <p:nvPr/>
        </p:nvPicPr>
        <p:blipFill>
          <a:blip r:embed="rId4"/>
          <a:stretch>
            <a:fillRect/>
          </a:stretch>
        </p:blipFill>
        <p:spPr>
          <a:xfrm>
            <a:off x="5721724" y="3500717"/>
            <a:ext cx="1981200" cy="876300"/>
          </a:xfrm>
          <a:prstGeom prst="rect">
            <a:avLst/>
          </a:prstGeom>
        </p:spPr>
      </p:pic>
    </p:spTree>
    <p:extLst>
      <p:ext uri="{BB962C8B-B14F-4D97-AF65-F5344CB8AC3E}">
        <p14:creationId xmlns:p14="http://schemas.microsoft.com/office/powerpoint/2010/main" val="11863716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Many views of the same concept</a:t>
            </a:r>
          </a:p>
        </p:txBody>
      </p:sp>
      <p:pic>
        <p:nvPicPr>
          <p:cNvPr id="3" name="Picture 2"/>
          <p:cNvPicPr>
            <a:picLocks noChangeAspect="1"/>
          </p:cNvPicPr>
          <p:nvPr/>
        </p:nvPicPr>
        <p:blipFill>
          <a:blip r:embed="rId2"/>
          <a:stretch>
            <a:fillRect/>
          </a:stretch>
        </p:blipFill>
        <p:spPr>
          <a:xfrm>
            <a:off x="4934482" y="930089"/>
            <a:ext cx="2797751" cy="3697941"/>
          </a:xfrm>
          <a:prstGeom prst="rect">
            <a:avLst/>
          </a:prstGeom>
        </p:spPr>
      </p:pic>
      <p:pic>
        <p:nvPicPr>
          <p:cNvPr id="5" name="Picture 4"/>
          <p:cNvPicPr>
            <a:picLocks noChangeAspect="1"/>
          </p:cNvPicPr>
          <p:nvPr/>
        </p:nvPicPr>
        <p:blipFill>
          <a:blip r:embed="rId3"/>
          <a:stretch>
            <a:fillRect/>
          </a:stretch>
        </p:blipFill>
        <p:spPr>
          <a:xfrm>
            <a:off x="1495425" y="976034"/>
            <a:ext cx="2724150" cy="3505200"/>
          </a:xfrm>
          <a:prstGeom prst="rect">
            <a:avLst/>
          </a:prstGeom>
        </p:spPr>
      </p:pic>
    </p:spTree>
    <p:extLst>
      <p:ext uri="{BB962C8B-B14F-4D97-AF65-F5344CB8AC3E}">
        <p14:creationId xmlns:p14="http://schemas.microsoft.com/office/powerpoint/2010/main" val="29044766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DE483-228B-174A-BAE8-8F2251753B9E}"/>
              </a:ext>
            </a:extLst>
          </p:cNvPr>
          <p:cNvSpPr>
            <a:spLocks noGrp="1"/>
          </p:cNvSpPr>
          <p:nvPr>
            <p:ph type="title"/>
          </p:nvPr>
        </p:nvSpPr>
        <p:spPr/>
        <p:txBody>
          <a:bodyPr/>
          <a:lstStyle/>
          <a:p>
            <a:r>
              <a:rPr lang="en-US" dirty="0"/>
              <a:t>Outline process for common data definitions</a:t>
            </a:r>
          </a:p>
        </p:txBody>
      </p:sp>
      <p:sp>
        <p:nvSpPr>
          <p:cNvPr id="4" name="Slide Number Placeholder 3">
            <a:extLst>
              <a:ext uri="{FF2B5EF4-FFF2-40B4-BE49-F238E27FC236}">
                <a16:creationId xmlns:a16="http://schemas.microsoft.com/office/drawing/2014/main" id="{73ED55C4-6532-7E4C-8A75-B04320E6BC28}"/>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61</a:t>
            </a:fld>
            <a:endParaRPr lang="en-US" sz="1000"/>
          </a:p>
        </p:txBody>
      </p:sp>
      <p:pic>
        <p:nvPicPr>
          <p:cNvPr id="8" name="Picture 7">
            <a:extLst>
              <a:ext uri="{FF2B5EF4-FFF2-40B4-BE49-F238E27FC236}">
                <a16:creationId xmlns:a16="http://schemas.microsoft.com/office/drawing/2014/main" id="{E52DA8A6-9745-E047-BE22-4D6C839E5AD8}"/>
              </a:ext>
            </a:extLst>
          </p:cNvPr>
          <p:cNvPicPr>
            <a:picLocks noChangeAspect="1"/>
          </p:cNvPicPr>
          <p:nvPr/>
        </p:nvPicPr>
        <p:blipFill>
          <a:blip r:embed="rId2"/>
          <a:stretch>
            <a:fillRect/>
          </a:stretch>
        </p:blipFill>
        <p:spPr>
          <a:xfrm>
            <a:off x="1621064" y="1066800"/>
            <a:ext cx="5530763" cy="2460172"/>
          </a:xfrm>
          <a:prstGeom prst="rect">
            <a:avLst/>
          </a:prstGeom>
        </p:spPr>
      </p:pic>
    </p:spTree>
    <p:extLst>
      <p:ext uri="{BB962C8B-B14F-4D97-AF65-F5344CB8AC3E}">
        <p14:creationId xmlns:p14="http://schemas.microsoft.com/office/powerpoint/2010/main" val="35029261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414D3-968A-F64B-9883-F6762DB59296}"/>
              </a:ext>
            </a:extLst>
          </p:cNvPr>
          <p:cNvSpPr>
            <a:spLocks noGrp="1"/>
          </p:cNvSpPr>
          <p:nvPr>
            <p:ph type="title"/>
          </p:nvPr>
        </p:nvSpPr>
        <p:spPr>
          <a:xfrm>
            <a:off x="359200" y="289077"/>
            <a:ext cx="3745919" cy="564772"/>
          </a:xfrm>
        </p:spPr>
        <p:txBody>
          <a:bodyPr/>
          <a:lstStyle/>
          <a:p>
            <a:r>
              <a:rPr lang="en-US" dirty="0"/>
              <a:t>Communication is at the heart of good governance</a:t>
            </a:r>
          </a:p>
        </p:txBody>
      </p:sp>
      <p:sp>
        <p:nvSpPr>
          <p:cNvPr id="4" name="Slide Number Placeholder 3">
            <a:extLst>
              <a:ext uri="{FF2B5EF4-FFF2-40B4-BE49-F238E27FC236}">
                <a16:creationId xmlns:a16="http://schemas.microsoft.com/office/drawing/2014/main" id="{75C6FC14-1C35-194A-9BE3-EEBEB2522A5D}"/>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62</a:t>
            </a:fld>
            <a:endParaRPr lang="en-US" sz="1000"/>
          </a:p>
        </p:txBody>
      </p:sp>
      <p:pic>
        <p:nvPicPr>
          <p:cNvPr id="5" name="Picture 4">
            <a:extLst>
              <a:ext uri="{FF2B5EF4-FFF2-40B4-BE49-F238E27FC236}">
                <a16:creationId xmlns:a16="http://schemas.microsoft.com/office/drawing/2014/main" id="{D9C84697-ACAF-7C4F-8661-3755DA1679EB}"/>
              </a:ext>
            </a:extLst>
          </p:cNvPr>
          <p:cNvPicPr>
            <a:picLocks noChangeAspect="1"/>
          </p:cNvPicPr>
          <p:nvPr/>
        </p:nvPicPr>
        <p:blipFill>
          <a:blip r:embed="rId2"/>
          <a:stretch>
            <a:fillRect/>
          </a:stretch>
        </p:blipFill>
        <p:spPr>
          <a:xfrm>
            <a:off x="5038882" y="853849"/>
            <a:ext cx="3517900" cy="3759200"/>
          </a:xfrm>
          <a:prstGeom prst="rect">
            <a:avLst/>
          </a:prstGeom>
        </p:spPr>
      </p:pic>
    </p:spTree>
    <p:extLst>
      <p:ext uri="{BB962C8B-B14F-4D97-AF65-F5344CB8AC3E}">
        <p14:creationId xmlns:p14="http://schemas.microsoft.com/office/powerpoint/2010/main" val="96850324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C3A30-E3E7-4A44-AB78-75FEA77AF253}"/>
              </a:ext>
            </a:extLst>
          </p:cNvPr>
          <p:cNvSpPr>
            <a:spLocks noGrp="1"/>
          </p:cNvSpPr>
          <p:nvPr>
            <p:ph type="title"/>
          </p:nvPr>
        </p:nvSpPr>
        <p:spPr/>
        <p:txBody>
          <a:bodyPr>
            <a:normAutofit/>
          </a:bodyPr>
          <a:lstStyle/>
          <a:p>
            <a:r>
              <a:rPr lang="en-GB" b="1" dirty="0"/>
              <a:t>ODPi Egeria</a:t>
            </a:r>
            <a:endParaRPr lang="en-GB" dirty="0"/>
          </a:p>
        </p:txBody>
      </p:sp>
      <p:sp>
        <p:nvSpPr>
          <p:cNvPr id="3" name="Slide Number Placeholder 2">
            <a:extLst>
              <a:ext uri="{FF2B5EF4-FFF2-40B4-BE49-F238E27FC236}">
                <a16:creationId xmlns:a16="http://schemas.microsoft.com/office/drawing/2014/main" id="{00861036-A1A8-EB42-B740-1DBEC50D9DF9}"/>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63</a:t>
            </a:fld>
            <a:endParaRPr lang="en-US" sz="1000"/>
          </a:p>
        </p:txBody>
      </p:sp>
      <p:sp>
        <p:nvSpPr>
          <p:cNvPr id="4" name="TextBox 3">
            <a:extLst>
              <a:ext uri="{FF2B5EF4-FFF2-40B4-BE49-F238E27FC236}">
                <a16:creationId xmlns:a16="http://schemas.microsoft.com/office/drawing/2014/main" id="{354C2169-99CC-5944-B2D7-78D5DB7D13E0}"/>
              </a:ext>
            </a:extLst>
          </p:cNvPr>
          <p:cNvSpPr txBox="1"/>
          <p:nvPr/>
        </p:nvSpPr>
        <p:spPr>
          <a:xfrm>
            <a:off x="445169" y="3582669"/>
            <a:ext cx="4952741" cy="307777"/>
          </a:xfrm>
          <a:prstGeom prst="rect">
            <a:avLst/>
          </a:prstGeom>
          <a:noFill/>
        </p:spPr>
        <p:txBody>
          <a:bodyPr wrap="square" rtlCol="0">
            <a:spAutoFit/>
          </a:bodyPr>
          <a:lstStyle/>
          <a:p>
            <a:r>
              <a:rPr lang="en-US" dirty="0">
                <a:solidFill>
                  <a:schemeClr val="accent5">
                    <a:lumMod val="40000"/>
                    <a:lumOff val="60000"/>
                  </a:schemeClr>
                </a:solidFill>
              </a:rPr>
              <a:t>Mandy Chessell, IBM</a:t>
            </a:r>
          </a:p>
        </p:txBody>
      </p:sp>
    </p:spTree>
    <p:extLst>
      <p:ext uri="{BB962C8B-B14F-4D97-AF65-F5344CB8AC3E}">
        <p14:creationId xmlns:p14="http://schemas.microsoft.com/office/powerpoint/2010/main" val="6965066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BEC74695-FC6C-F74D-8428-371C0B7515A2}"/>
              </a:ext>
            </a:extLst>
          </p:cNvPr>
          <p:cNvPicPr>
            <a:picLocks noChangeAspect="1"/>
          </p:cNvPicPr>
          <p:nvPr/>
        </p:nvPicPr>
        <p:blipFill>
          <a:blip r:embed="rId2"/>
          <a:stretch>
            <a:fillRect/>
          </a:stretch>
        </p:blipFill>
        <p:spPr>
          <a:xfrm>
            <a:off x="1819598" y="3461693"/>
            <a:ext cx="1009734" cy="1009734"/>
          </a:xfrm>
          <a:prstGeom prst="rect">
            <a:avLst/>
          </a:prstGeom>
        </p:spPr>
      </p:pic>
      <p:sp>
        <p:nvSpPr>
          <p:cNvPr id="2" name="Title 1">
            <a:extLst>
              <a:ext uri="{FF2B5EF4-FFF2-40B4-BE49-F238E27FC236}">
                <a16:creationId xmlns:a16="http://schemas.microsoft.com/office/drawing/2014/main" id="{A1B33520-649C-7541-A995-0B6DDF34419E}"/>
              </a:ext>
            </a:extLst>
          </p:cNvPr>
          <p:cNvSpPr>
            <a:spLocks noGrp="1"/>
          </p:cNvSpPr>
          <p:nvPr>
            <p:ph type="title"/>
          </p:nvPr>
        </p:nvSpPr>
        <p:spPr/>
        <p:txBody>
          <a:bodyPr/>
          <a:lstStyle/>
          <a:p>
            <a:r>
              <a:rPr lang="en-US" dirty="0"/>
              <a:t>Realizing open metadata and governance</a:t>
            </a:r>
          </a:p>
        </p:txBody>
      </p:sp>
      <p:sp>
        <p:nvSpPr>
          <p:cNvPr id="12" name="Content Placeholder 11">
            <a:extLst>
              <a:ext uri="{FF2B5EF4-FFF2-40B4-BE49-F238E27FC236}">
                <a16:creationId xmlns:a16="http://schemas.microsoft.com/office/drawing/2014/main" id="{DCC4B37E-B584-C74C-B4EA-086B24BE17C1}"/>
              </a:ext>
            </a:extLst>
          </p:cNvPr>
          <p:cNvSpPr>
            <a:spLocks noGrp="1"/>
          </p:cNvSpPr>
          <p:nvPr>
            <p:ph idx="1"/>
          </p:nvPr>
        </p:nvSpPr>
        <p:spPr>
          <a:xfrm>
            <a:off x="359200" y="1260909"/>
            <a:ext cx="3741161" cy="3307966"/>
          </a:xfrm>
        </p:spPr>
        <p:txBody>
          <a:bodyPr/>
          <a:lstStyle/>
          <a:p>
            <a:r>
              <a:rPr lang="en-US" dirty="0"/>
              <a:t>Delivering core technology</a:t>
            </a:r>
          </a:p>
          <a:p>
            <a:r>
              <a:rPr lang="en-US" dirty="0"/>
              <a:t>Recruiting vendors</a:t>
            </a:r>
          </a:p>
          <a:p>
            <a:r>
              <a:rPr lang="en-US" dirty="0"/>
              <a:t>Assisting practitioners</a:t>
            </a:r>
          </a:p>
        </p:txBody>
      </p:sp>
      <p:sp>
        <p:nvSpPr>
          <p:cNvPr id="3" name="Slide Number Placeholder 2">
            <a:extLst>
              <a:ext uri="{FF2B5EF4-FFF2-40B4-BE49-F238E27FC236}">
                <a16:creationId xmlns:a16="http://schemas.microsoft.com/office/drawing/2014/main" id="{2CFA3C5E-E1E5-B845-AC9B-CEA88ABD22EC}"/>
              </a:ext>
            </a:extLst>
          </p:cNvPr>
          <p:cNvSpPr>
            <a:spLocks noGrp="1"/>
          </p:cNvSpPr>
          <p:nvPr>
            <p:ph type="sldNum" idx="12"/>
          </p:nvPr>
        </p:nvSpPr>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64</a:t>
            </a:fld>
            <a:endParaRPr lang="en-US" sz="1000"/>
          </a:p>
        </p:txBody>
      </p:sp>
      <p:sp>
        <p:nvSpPr>
          <p:cNvPr id="4" name="Rectangle 3">
            <a:extLst>
              <a:ext uri="{FF2B5EF4-FFF2-40B4-BE49-F238E27FC236}">
                <a16:creationId xmlns:a16="http://schemas.microsoft.com/office/drawing/2014/main" id="{6480FE21-9267-6543-A07E-D7CC1D467CE7}"/>
              </a:ext>
            </a:extLst>
          </p:cNvPr>
          <p:cNvSpPr/>
          <p:nvPr/>
        </p:nvSpPr>
        <p:spPr>
          <a:xfrm>
            <a:off x="5313145" y="1020279"/>
            <a:ext cx="2136809" cy="3474720"/>
          </a:xfrm>
          <a:prstGeom prst="rect">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ln w="0"/>
              <a:solidFill>
                <a:schemeClr val="accent6">
                  <a:lumMod val="50000"/>
                </a:schemeClr>
              </a:solidFill>
              <a:effectLst>
                <a:outerShdw blurRad="38100" dist="19050" dir="2700000" algn="tl" rotWithShape="0">
                  <a:schemeClr val="dk1">
                    <a:alpha val="40000"/>
                  </a:schemeClr>
                </a:outerShdw>
              </a:effectLst>
            </a:endParaRPr>
          </a:p>
        </p:txBody>
      </p:sp>
      <p:sp>
        <p:nvSpPr>
          <p:cNvPr id="6" name="Right Arrow 5">
            <a:extLst>
              <a:ext uri="{FF2B5EF4-FFF2-40B4-BE49-F238E27FC236}">
                <a16:creationId xmlns:a16="http://schemas.microsoft.com/office/drawing/2014/main" id="{84D7E271-8190-FC46-9A8B-5F371DA7A433}"/>
              </a:ext>
            </a:extLst>
          </p:cNvPr>
          <p:cNvSpPr/>
          <p:nvPr/>
        </p:nvSpPr>
        <p:spPr>
          <a:xfrm>
            <a:off x="3657599" y="1963567"/>
            <a:ext cx="1443790" cy="903170"/>
          </a:xfrm>
          <a:prstGeom prst="rightArrow">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n w="0"/>
                <a:solidFill>
                  <a:schemeClr val="accent6">
                    <a:lumMod val="50000"/>
                  </a:schemeClr>
                </a:solidFill>
                <a:effectLst>
                  <a:outerShdw blurRad="38100" dist="19050" dir="2700000" algn="tl" rotWithShape="0">
                    <a:schemeClr val="dk1">
                      <a:alpha val="40000"/>
                    </a:schemeClr>
                  </a:outerShdw>
                </a:effectLst>
              </a:rPr>
              <a:t>Vendors</a:t>
            </a:r>
          </a:p>
        </p:txBody>
      </p:sp>
      <p:sp>
        <p:nvSpPr>
          <p:cNvPr id="7" name="Right Arrow 6">
            <a:extLst>
              <a:ext uri="{FF2B5EF4-FFF2-40B4-BE49-F238E27FC236}">
                <a16:creationId xmlns:a16="http://schemas.microsoft.com/office/drawing/2014/main" id="{A113B37D-4751-9644-BE48-E18225D1E705}"/>
              </a:ext>
            </a:extLst>
          </p:cNvPr>
          <p:cNvSpPr/>
          <p:nvPr/>
        </p:nvSpPr>
        <p:spPr>
          <a:xfrm>
            <a:off x="3657599" y="3425001"/>
            <a:ext cx="1443790" cy="903170"/>
          </a:xfrm>
          <a:prstGeom prst="rightArrow">
            <a:avLst/>
          </a:prstGeom>
          <a:solidFill>
            <a:srgbClr val="6DCCDE"/>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n w="0"/>
                <a:solidFill>
                  <a:schemeClr val="accent6">
                    <a:lumMod val="50000"/>
                  </a:schemeClr>
                </a:solidFill>
                <a:effectLst>
                  <a:outerShdw blurRad="38100" dist="19050" dir="2700000" algn="tl" rotWithShape="0">
                    <a:schemeClr val="dk1">
                      <a:alpha val="40000"/>
                    </a:schemeClr>
                  </a:outerShdw>
                </a:effectLst>
              </a:rPr>
              <a:t>Practitioners</a:t>
            </a:r>
          </a:p>
        </p:txBody>
      </p:sp>
      <p:sp>
        <p:nvSpPr>
          <p:cNvPr id="8" name="Rounded Rectangle 7">
            <a:extLst>
              <a:ext uri="{FF2B5EF4-FFF2-40B4-BE49-F238E27FC236}">
                <a16:creationId xmlns:a16="http://schemas.microsoft.com/office/drawing/2014/main" id="{AFD39B8F-6B67-4A43-82C6-FDE12EC5F6D1}"/>
              </a:ext>
            </a:extLst>
          </p:cNvPr>
          <p:cNvSpPr/>
          <p:nvPr/>
        </p:nvSpPr>
        <p:spPr>
          <a:xfrm>
            <a:off x="5727031" y="1809549"/>
            <a:ext cx="1318662" cy="702644"/>
          </a:xfrm>
          <a:prstGeom prst="roundRect">
            <a:avLst/>
          </a:prstGeom>
          <a:solidFill>
            <a:srgbClr val="6DCCD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n w="0"/>
                <a:solidFill>
                  <a:schemeClr val="accent6">
                    <a:lumMod val="50000"/>
                  </a:schemeClr>
                </a:solidFill>
                <a:effectLst>
                  <a:outerShdw blurRad="38100" dist="19050" dir="2700000" algn="tl" rotWithShape="0">
                    <a:schemeClr val="dk1">
                      <a:alpha val="40000"/>
                    </a:schemeClr>
                  </a:outerShdw>
                </a:effectLst>
              </a:rPr>
              <a:t>Core Technology</a:t>
            </a:r>
          </a:p>
        </p:txBody>
      </p:sp>
      <p:sp>
        <p:nvSpPr>
          <p:cNvPr id="9" name="Rounded Rectangle 8">
            <a:extLst>
              <a:ext uri="{FF2B5EF4-FFF2-40B4-BE49-F238E27FC236}">
                <a16:creationId xmlns:a16="http://schemas.microsoft.com/office/drawing/2014/main" id="{4065EE6F-0C84-4243-91B9-E3B9D481E85C}"/>
              </a:ext>
            </a:extLst>
          </p:cNvPr>
          <p:cNvSpPr/>
          <p:nvPr/>
        </p:nvSpPr>
        <p:spPr>
          <a:xfrm>
            <a:off x="5727031" y="2649745"/>
            <a:ext cx="1318662" cy="702644"/>
          </a:xfrm>
          <a:prstGeom prst="roundRect">
            <a:avLst/>
          </a:prstGeom>
          <a:solidFill>
            <a:srgbClr val="6DCCD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n w="0"/>
                <a:solidFill>
                  <a:schemeClr val="accent6">
                    <a:lumMod val="50000"/>
                  </a:schemeClr>
                </a:solidFill>
                <a:effectLst>
                  <a:outerShdw blurRad="38100" dist="19050" dir="2700000" algn="tl" rotWithShape="0">
                    <a:schemeClr val="dk1">
                      <a:alpha val="40000"/>
                    </a:schemeClr>
                  </a:outerShdw>
                </a:effectLst>
              </a:rPr>
              <a:t>Conformance Suite</a:t>
            </a:r>
          </a:p>
        </p:txBody>
      </p:sp>
      <p:sp>
        <p:nvSpPr>
          <p:cNvPr id="10" name="Rounded Rectangle 9">
            <a:extLst>
              <a:ext uri="{FF2B5EF4-FFF2-40B4-BE49-F238E27FC236}">
                <a16:creationId xmlns:a16="http://schemas.microsoft.com/office/drawing/2014/main" id="{9C206426-4A65-3C49-B5EE-AE3F9A59BDC2}"/>
              </a:ext>
            </a:extLst>
          </p:cNvPr>
          <p:cNvSpPr/>
          <p:nvPr/>
        </p:nvSpPr>
        <p:spPr>
          <a:xfrm>
            <a:off x="5722218" y="3488965"/>
            <a:ext cx="1318662" cy="702644"/>
          </a:xfrm>
          <a:prstGeom prst="roundRect">
            <a:avLst/>
          </a:prstGeom>
          <a:solidFill>
            <a:srgbClr val="6DCCDE"/>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ln w="0"/>
                <a:solidFill>
                  <a:schemeClr val="accent6">
                    <a:lumMod val="50000"/>
                  </a:schemeClr>
                </a:solidFill>
                <a:effectLst>
                  <a:outerShdw blurRad="38100" dist="19050" dir="2700000" algn="tl" rotWithShape="0">
                    <a:schemeClr val="dk1">
                      <a:alpha val="40000"/>
                    </a:schemeClr>
                  </a:outerShdw>
                </a:effectLst>
              </a:rPr>
              <a:t>Best Practices</a:t>
            </a:r>
          </a:p>
        </p:txBody>
      </p:sp>
      <p:sp>
        <p:nvSpPr>
          <p:cNvPr id="13" name="Right Brace 12">
            <a:extLst>
              <a:ext uri="{FF2B5EF4-FFF2-40B4-BE49-F238E27FC236}">
                <a16:creationId xmlns:a16="http://schemas.microsoft.com/office/drawing/2014/main" id="{003A6DF4-7166-4D44-A724-C9BD3FCE0B02}"/>
              </a:ext>
            </a:extLst>
          </p:cNvPr>
          <p:cNvSpPr/>
          <p:nvPr/>
        </p:nvSpPr>
        <p:spPr>
          <a:xfrm>
            <a:off x="7613583" y="1809549"/>
            <a:ext cx="240632" cy="1542840"/>
          </a:xfrm>
          <a:prstGeom prst="rightBrace">
            <a:avLst/>
          </a:prstGeom>
          <a:ln w="57150">
            <a:solidFill>
              <a:srgbClr val="6DCCD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ight Brace 13">
            <a:extLst>
              <a:ext uri="{FF2B5EF4-FFF2-40B4-BE49-F238E27FC236}">
                <a16:creationId xmlns:a16="http://schemas.microsoft.com/office/drawing/2014/main" id="{AFEE1105-619C-E74B-8BBA-525AF0BC188A}"/>
              </a:ext>
            </a:extLst>
          </p:cNvPr>
          <p:cNvSpPr/>
          <p:nvPr/>
        </p:nvSpPr>
        <p:spPr>
          <a:xfrm>
            <a:off x="7613582" y="3488965"/>
            <a:ext cx="240632" cy="791888"/>
          </a:xfrm>
          <a:prstGeom prst="rightBrace">
            <a:avLst/>
          </a:prstGeom>
          <a:ln w="57150">
            <a:solidFill>
              <a:srgbClr val="6DCCDE"/>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29C11C4B-63FA-C348-AC90-1954BA4B9D5E}"/>
              </a:ext>
            </a:extLst>
          </p:cNvPr>
          <p:cNvSpPr txBox="1"/>
          <p:nvPr/>
        </p:nvSpPr>
        <p:spPr>
          <a:xfrm>
            <a:off x="7920227" y="2250583"/>
            <a:ext cx="742511" cy="523220"/>
          </a:xfrm>
          <a:prstGeom prst="rect">
            <a:avLst/>
          </a:prstGeom>
          <a:noFill/>
        </p:spPr>
        <p:txBody>
          <a:bodyPr wrap="none" rtlCol="0">
            <a:spAutoFit/>
          </a:bodyPr>
          <a:lstStyle/>
          <a:p>
            <a:r>
              <a:rPr lang="en-US" dirty="0"/>
              <a:t>Project</a:t>
            </a:r>
          </a:p>
          <a:p>
            <a:r>
              <a:rPr lang="en-US" dirty="0"/>
              <a:t>Egeria</a:t>
            </a:r>
          </a:p>
        </p:txBody>
      </p:sp>
      <p:sp>
        <p:nvSpPr>
          <p:cNvPr id="16" name="TextBox 15">
            <a:extLst>
              <a:ext uri="{FF2B5EF4-FFF2-40B4-BE49-F238E27FC236}">
                <a16:creationId xmlns:a16="http://schemas.microsoft.com/office/drawing/2014/main" id="{6C550419-EAA2-0F4C-8AC2-44D5A458DBEA}"/>
              </a:ext>
            </a:extLst>
          </p:cNvPr>
          <p:cNvSpPr txBox="1"/>
          <p:nvPr/>
        </p:nvSpPr>
        <p:spPr>
          <a:xfrm>
            <a:off x="7916096" y="3515577"/>
            <a:ext cx="1159292" cy="738664"/>
          </a:xfrm>
          <a:prstGeom prst="rect">
            <a:avLst/>
          </a:prstGeom>
          <a:noFill/>
        </p:spPr>
        <p:txBody>
          <a:bodyPr wrap="none" rtlCol="0">
            <a:spAutoFit/>
          </a:bodyPr>
          <a:lstStyle/>
          <a:p>
            <a:r>
              <a:rPr lang="en-US" dirty="0"/>
              <a:t>Project</a:t>
            </a:r>
          </a:p>
          <a:p>
            <a:r>
              <a:rPr lang="en-US" dirty="0"/>
              <a:t>Data</a:t>
            </a:r>
          </a:p>
          <a:p>
            <a:r>
              <a:rPr lang="en-US" dirty="0"/>
              <a:t>Governance</a:t>
            </a:r>
          </a:p>
        </p:txBody>
      </p:sp>
      <p:pic>
        <p:nvPicPr>
          <p:cNvPr id="17" name="Picture 2" descr="Image result for ing logo">
            <a:extLst>
              <a:ext uri="{FF2B5EF4-FFF2-40B4-BE49-F238E27FC236}">
                <a16:creationId xmlns:a16="http://schemas.microsoft.com/office/drawing/2014/main" id="{F243D0A5-37BE-3E4A-ACF3-F279716E1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45" y="3143228"/>
            <a:ext cx="1088769" cy="318465"/>
          </a:xfrm>
          <a:prstGeom prst="rect">
            <a:avLst/>
          </a:prstGeom>
          <a:noFill/>
          <a:extLst>
            <a:ext uri="{909E8E84-426E-40dd-AFC4-6F175D3DCCD1}">
              <a14:hiddenFill xmlns:a14="http://schemas.microsoft.com/office/drawing/2010/main" xmlns="">
                <a:solidFill>
                  <a:srgbClr val="FFFFFF"/>
                </a:solidFill>
              </a14:hiddenFill>
            </a:ext>
          </a:extLst>
        </p:spPr>
      </p:pic>
      <p:pic>
        <p:nvPicPr>
          <p:cNvPr id="18" name="Picture 4" descr="Image result for ibm logo">
            <a:extLst>
              <a:ext uri="{FF2B5EF4-FFF2-40B4-BE49-F238E27FC236}">
                <a16:creationId xmlns:a16="http://schemas.microsoft.com/office/drawing/2014/main" id="{DCA55CFE-4AEC-A34E-B2DB-9A7A28597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2600" y="3089342"/>
            <a:ext cx="852470" cy="426235"/>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18" descr="A close up of a logo&#10;&#10;Description generated with very high confidence">
            <a:extLst>
              <a:ext uri="{FF2B5EF4-FFF2-40B4-BE49-F238E27FC236}">
                <a16:creationId xmlns:a16="http://schemas.microsoft.com/office/drawing/2014/main" id="{E756EF0E-9EDA-CE45-AD44-7126B1286CB4}"/>
              </a:ext>
            </a:extLst>
          </p:cNvPr>
          <p:cNvPicPr>
            <a:picLocks noChangeAspect="1"/>
          </p:cNvPicPr>
          <p:nvPr/>
        </p:nvPicPr>
        <p:blipFill rotWithShape="1">
          <a:blip r:embed="rId5"/>
          <a:srcRect t="21161" b="22348"/>
          <a:stretch/>
        </p:blipFill>
        <p:spPr>
          <a:xfrm>
            <a:off x="5779968" y="1134957"/>
            <a:ext cx="1025724" cy="579438"/>
          </a:xfrm>
          <a:prstGeom prst="rect">
            <a:avLst/>
          </a:prstGeom>
        </p:spPr>
      </p:pic>
      <p:sp>
        <p:nvSpPr>
          <p:cNvPr id="5" name="AutoShape 2" descr="Logo">
            <a:hlinkClick r:id="rId6"/>
            <a:extLst>
              <a:ext uri="{FF2B5EF4-FFF2-40B4-BE49-F238E27FC236}">
                <a16:creationId xmlns:a16="http://schemas.microsoft.com/office/drawing/2014/main" id="{081C07C4-C689-8F4C-9B1B-2C18481E5CC1}"/>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3" name="Picture 22" descr="Screen Shot 2018-08-17 at 14.46.50.png">
            <a:extLst>
              <a:ext uri="{FF2B5EF4-FFF2-40B4-BE49-F238E27FC236}">
                <a16:creationId xmlns:a16="http://schemas.microsoft.com/office/drawing/2014/main" id="{1EE4C63B-A937-9245-B46D-6541A8F6D9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98595" y="1625228"/>
            <a:ext cx="932566" cy="412064"/>
          </a:xfrm>
          <a:prstGeom prst="rect">
            <a:avLst/>
          </a:prstGeom>
          <a:ln>
            <a:solidFill>
              <a:schemeClr val="accent1"/>
            </a:solidFill>
          </a:ln>
        </p:spPr>
      </p:pic>
      <p:pic>
        <p:nvPicPr>
          <p:cNvPr id="21" name="Picture 20">
            <a:extLst>
              <a:ext uri="{FF2B5EF4-FFF2-40B4-BE49-F238E27FC236}">
                <a16:creationId xmlns:a16="http://schemas.microsoft.com/office/drawing/2014/main" id="{442A070B-EE22-0746-AEB2-3AD67577628D}"/>
              </a:ext>
            </a:extLst>
          </p:cNvPr>
          <p:cNvPicPr>
            <a:picLocks noChangeAspect="1"/>
          </p:cNvPicPr>
          <p:nvPr/>
        </p:nvPicPr>
        <p:blipFill>
          <a:blip r:embed="rId8"/>
          <a:stretch>
            <a:fillRect/>
          </a:stretch>
        </p:blipFill>
        <p:spPr>
          <a:xfrm>
            <a:off x="537446" y="3762630"/>
            <a:ext cx="1070396" cy="321119"/>
          </a:xfrm>
          <a:prstGeom prst="rect">
            <a:avLst/>
          </a:prstGeom>
        </p:spPr>
      </p:pic>
    </p:spTree>
    <p:extLst>
      <p:ext uri="{BB962C8B-B14F-4D97-AF65-F5344CB8AC3E}">
        <p14:creationId xmlns:p14="http://schemas.microsoft.com/office/powerpoint/2010/main" val="11709982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DA24F2-B6AE-D74A-80F7-CA96FDE29A44}"/>
              </a:ext>
            </a:extLst>
          </p:cNvPr>
          <p:cNvSpPr>
            <a:spLocks noGrp="1"/>
          </p:cNvSpPr>
          <p:nvPr>
            <p:ph type="title"/>
          </p:nvPr>
        </p:nvSpPr>
        <p:spPr>
          <a:xfrm>
            <a:off x="359200" y="289077"/>
            <a:ext cx="4513589" cy="468912"/>
          </a:xfrm>
        </p:spPr>
        <p:txBody>
          <a:bodyPr/>
          <a:lstStyle/>
          <a:p>
            <a:r>
              <a:rPr lang="en-US" dirty="0"/>
              <a:t>Egeria Conformance Program - its an “imitation game”</a:t>
            </a:r>
          </a:p>
        </p:txBody>
      </p:sp>
      <p:sp>
        <p:nvSpPr>
          <p:cNvPr id="3" name="Slide Number Placeholder 2">
            <a:extLst>
              <a:ext uri="{FF2B5EF4-FFF2-40B4-BE49-F238E27FC236}">
                <a16:creationId xmlns:a16="http://schemas.microsoft.com/office/drawing/2014/main" id="{DE035AC1-BF36-CC4A-9FDD-1CDDECCEB735}"/>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65</a:t>
            </a:fld>
            <a:endParaRPr lang="en-US" sz="1000"/>
          </a:p>
        </p:txBody>
      </p:sp>
      <p:pic>
        <p:nvPicPr>
          <p:cNvPr id="9" name="Picture 8">
            <a:extLst>
              <a:ext uri="{FF2B5EF4-FFF2-40B4-BE49-F238E27FC236}">
                <a16:creationId xmlns:a16="http://schemas.microsoft.com/office/drawing/2014/main" id="{91BFC27A-4FB3-7B4A-BDF6-7DCC15433CC7}"/>
              </a:ext>
            </a:extLst>
          </p:cNvPr>
          <p:cNvPicPr>
            <a:picLocks noChangeAspect="1"/>
          </p:cNvPicPr>
          <p:nvPr/>
        </p:nvPicPr>
        <p:blipFill>
          <a:blip r:embed="rId2"/>
          <a:stretch>
            <a:fillRect/>
          </a:stretch>
        </p:blipFill>
        <p:spPr>
          <a:xfrm>
            <a:off x="1466271" y="1691909"/>
            <a:ext cx="1388746" cy="1759681"/>
          </a:xfrm>
          <a:prstGeom prst="rect">
            <a:avLst/>
          </a:prstGeom>
        </p:spPr>
      </p:pic>
      <p:pic>
        <p:nvPicPr>
          <p:cNvPr id="10" name="Picture 9">
            <a:extLst>
              <a:ext uri="{FF2B5EF4-FFF2-40B4-BE49-F238E27FC236}">
                <a16:creationId xmlns:a16="http://schemas.microsoft.com/office/drawing/2014/main" id="{2CDB8BB0-5687-6640-8B69-80095544A7A9}"/>
              </a:ext>
            </a:extLst>
          </p:cNvPr>
          <p:cNvPicPr>
            <a:picLocks noChangeAspect="1"/>
          </p:cNvPicPr>
          <p:nvPr/>
        </p:nvPicPr>
        <p:blipFill>
          <a:blip r:embed="rId3"/>
          <a:stretch>
            <a:fillRect/>
          </a:stretch>
        </p:blipFill>
        <p:spPr>
          <a:xfrm>
            <a:off x="5051359" y="367325"/>
            <a:ext cx="3533942" cy="4408850"/>
          </a:xfrm>
          <a:prstGeom prst="rect">
            <a:avLst/>
          </a:prstGeom>
        </p:spPr>
      </p:pic>
      <p:sp>
        <p:nvSpPr>
          <p:cNvPr id="2" name="TextBox 1">
            <a:extLst>
              <a:ext uri="{FF2B5EF4-FFF2-40B4-BE49-F238E27FC236}">
                <a16:creationId xmlns:a16="http://schemas.microsoft.com/office/drawing/2014/main" id="{F28CB9AF-BB2F-4A45-8B54-47DD891A7290}"/>
              </a:ext>
            </a:extLst>
          </p:cNvPr>
          <p:cNvSpPr txBox="1"/>
          <p:nvPr/>
        </p:nvSpPr>
        <p:spPr>
          <a:xfrm>
            <a:off x="7340959" y="2279561"/>
            <a:ext cx="520976" cy="215444"/>
          </a:xfrm>
          <a:prstGeom prst="rect">
            <a:avLst/>
          </a:prstGeom>
          <a:solidFill>
            <a:schemeClr val="bg1"/>
          </a:solidFill>
        </p:spPr>
        <p:txBody>
          <a:bodyPr wrap="none" lIns="0" rIns="0" rtlCol="0">
            <a:spAutoFit/>
          </a:bodyPr>
          <a:lstStyle/>
          <a:p>
            <a:r>
              <a:rPr lang="en-US" sz="800" dirty="0"/>
              <a:t>Workbench</a:t>
            </a:r>
          </a:p>
        </p:txBody>
      </p:sp>
    </p:spTree>
    <p:extLst>
      <p:ext uri="{BB962C8B-B14F-4D97-AF65-F5344CB8AC3E}">
        <p14:creationId xmlns:p14="http://schemas.microsoft.com/office/powerpoint/2010/main" val="3426582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7" name="Group 2"/>
          <p:cNvGrpSpPr>
            <a:grpSpLocks/>
          </p:cNvGrpSpPr>
          <p:nvPr/>
        </p:nvGrpSpPr>
        <p:grpSpPr bwMode="auto">
          <a:xfrm>
            <a:off x="838210" y="1078706"/>
            <a:ext cx="7561263" cy="3053800"/>
            <a:chOff x="573" y="1189"/>
            <a:chExt cx="4718" cy="2201"/>
          </a:xfrm>
        </p:grpSpPr>
        <p:sp>
          <p:nvSpPr>
            <p:cNvPr id="19458" name="AutoShape 3"/>
            <p:cNvSpPr>
              <a:spLocks noChangeAspect="1" noChangeArrowheads="1" noTextEdit="1"/>
            </p:cNvSpPr>
            <p:nvPr/>
          </p:nvSpPr>
          <p:spPr bwMode="auto">
            <a:xfrm>
              <a:off x="573" y="1189"/>
              <a:ext cx="4718" cy="19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GB"/>
            </a:p>
          </p:txBody>
        </p:sp>
        <p:sp>
          <p:nvSpPr>
            <p:cNvPr id="19459" name="Freeform 4"/>
            <p:cNvSpPr>
              <a:spLocks/>
            </p:cNvSpPr>
            <p:nvPr/>
          </p:nvSpPr>
          <p:spPr bwMode="auto">
            <a:xfrm>
              <a:off x="3409" y="1712"/>
              <a:ext cx="777" cy="965"/>
            </a:xfrm>
            <a:custGeom>
              <a:avLst/>
              <a:gdLst>
                <a:gd name="T0" fmla="*/ 1 w 1554"/>
                <a:gd name="T1" fmla="*/ 0 h 2894"/>
                <a:gd name="T2" fmla="*/ 1 w 1554"/>
                <a:gd name="T3" fmla="*/ 0 h 2894"/>
                <a:gd name="T4" fmla="*/ 1 w 1554"/>
                <a:gd name="T5" fmla="*/ 0 h 2894"/>
                <a:gd name="T6" fmla="*/ 1 w 1554"/>
                <a:gd name="T7" fmla="*/ 0 h 2894"/>
                <a:gd name="T8" fmla="*/ 1 w 1554"/>
                <a:gd name="T9" fmla="*/ 0 h 2894"/>
                <a:gd name="T10" fmla="*/ 1 w 1554"/>
                <a:gd name="T11" fmla="*/ 0 h 2894"/>
                <a:gd name="T12" fmla="*/ 1 w 1554"/>
                <a:gd name="T13" fmla="*/ 0 h 2894"/>
                <a:gd name="T14" fmla="*/ 1 w 1554"/>
                <a:gd name="T15" fmla="*/ 0 h 2894"/>
                <a:gd name="T16" fmla="*/ 1 w 1554"/>
                <a:gd name="T17" fmla="*/ 0 h 2894"/>
                <a:gd name="T18" fmla="*/ 1 w 1554"/>
                <a:gd name="T19" fmla="*/ 0 h 2894"/>
                <a:gd name="T20" fmla="*/ 1 w 1554"/>
                <a:gd name="T21" fmla="*/ 0 h 2894"/>
                <a:gd name="T22" fmla="*/ 1 w 1554"/>
                <a:gd name="T23" fmla="*/ 0 h 2894"/>
                <a:gd name="T24" fmla="*/ 1 w 1554"/>
                <a:gd name="T25" fmla="*/ 0 h 2894"/>
                <a:gd name="T26" fmla="*/ 1 w 1554"/>
                <a:gd name="T27" fmla="*/ 0 h 2894"/>
                <a:gd name="T28" fmla="*/ 1 w 1554"/>
                <a:gd name="T29" fmla="*/ 0 h 2894"/>
                <a:gd name="T30" fmla="*/ 1 w 1554"/>
                <a:gd name="T31" fmla="*/ 0 h 2894"/>
                <a:gd name="T32" fmla="*/ 1 w 1554"/>
                <a:gd name="T33" fmla="*/ 0 h 2894"/>
                <a:gd name="T34" fmla="*/ 1 w 1554"/>
                <a:gd name="T35" fmla="*/ 0 h 2894"/>
                <a:gd name="T36" fmla="*/ 1 w 1554"/>
                <a:gd name="T37" fmla="*/ 0 h 2894"/>
                <a:gd name="T38" fmla="*/ 1 w 1554"/>
                <a:gd name="T39" fmla="*/ 0 h 2894"/>
                <a:gd name="T40" fmla="*/ 1 w 1554"/>
                <a:gd name="T41" fmla="*/ 0 h 2894"/>
                <a:gd name="T42" fmla="*/ 1 w 1554"/>
                <a:gd name="T43" fmla="*/ 0 h 2894"/>
                <a:gd name="T44" fmla="*/ 1 w 1554"/>
                <a:gd name="T45" fmla="*/ 0 h 2894"/>
                <a:gd name="T46" fmla="*/ 1 w 1554"/>
                <a:gd name="T47" fmla="*/ 0 h 2894"/>
                <a:gd name="T48" fmla="*/ 1 w 1554"/>
                <a:gd name="T49" fmla="*/ 0 h 2894"/>
                <a:gd name="T50" fmla="*/ 1 w 1554"/>
                <a:gd name="T51" fmla="*/ 0 h 2894"/>
                <a:gd name="T52" fmla="*/ 1 w 1554"/>
                <a:gd name="T53" fmla="*/ 0 h 2894"/>
                <a:gd name="T54" fmla="*/ 1 w 1554"/>
                <a:gd name="T55" fmla="*/ 0 h 2894"/>
                <a:gd name="T56" fmla="*/ 1 w 1554"/>
                <a:gd name="T57" fmla="*/ 0 h 2894"/>
                <a:gd name="T58" fmla="*/ 1 w 1554"/>
                <a:gd name="T59" fmla="*/ 0 h 2894"/>
                <a:gd name="T60" fmla="*/ 1 w 1554"/>
                <a:gd name="T61" fmla="*/ 0 h 2894"/>
                <a:gd name="T62" fmla="*/ 1 w 1554"/>
                <a:gd name="T63" fmla="*/ 0 h 2894"/>
                <a:gd name="T64" fmla="*/ 1 w 1554"/>
                <a:gd name="T65" fmla="*/ 0 h 2894"/>
                <a:gd name="T66" fmla="*/ 0 w 1554"/>
                <a:gd name="T67" fmla="*/ 0 h 2894"/>
                <a:gd name="T68" fmla="*/ 1 w 1554"/>
                <a:gd name="T69" fmla="*/ 0 h 2894"/>
                <a:gd name="T70" fmla="*/ 1 w 1554"/>
                <a:gd name="T71" fmla="*/ 0 h 289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54"/>
                <a:gd name="T109" fmla="*/ 0 h 2894"/>
                <a:gd name="T110" fmla="*/ 1554 w 1554"/>
                <a:gd name="T111" fmla="*/ 2894 h 289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54" h="2894">
                  <a:moveTo>
                    <a:pt x="1486" y="2887"/>
                  </a:moveTo>
                  <a:lnTo>
                    <a:pt x="1515" y="2876"/>
                  </a:lnTo>
                  <a:lnTo>
                    <a:pt x="1535" y="2838"/>
                  </a:lnTo>
                  <a:lnTo>
                    <a:pt x="1554" y="2707"/>
                  </a:lnTo>
                  <a:lnTo>
                    <a:pt x="1554" y="2665"/>
                  </a:lnTo>
                  <a:lnTo>
                    <a:pt x="1553" y="2618"/>
                  </a:lnTo>
                  <a:lnTo>
                    <a:pt x="1547" y="2519"/>
                  </a:lnTo>
                  <a:lnTo>
                    <a:pt x="1517" y="2295"/>
                  </a:lnTo>
                  <a:lnTo>
                    <a:pt x="1424" y="1841"/>
                  </a:lnTo>
                  <a:lnTo>
                    <a:pt x="1323" y="1529"/>
                  </a:lnTo>
                  <a:lnTo>
                    <a:pt x="1284" y="1492"/>
                  </a:lnTo>
                  <a:lnTo>
                    <a:pt x="1237" y="1467"/>
                  </a:lnTo>
                  <a:lnTo>
                    <a:pt x="1028" y="1373"/>
                  </a:lnTo>
                  <a:lnTo>
                    <a:pt x="976" y="1323"/>
                  </a:lnTo>
                  <a:lnTo>
                    <a:pt x="939" y="1245"/>
                  </a:lnTo>
                  <a:lnTo>
                    <a:pt x="923" y="1193"/>
                  </a:lnTo>
                  <a:lnTo>
                    <a:pt x="924" y="1170"/>
                  </a:lnTo>
                  <a:lnTo>
                    <a:pt x="933" y="1137"/>
                  </a:lnTo>
                  <a:lnTo>
                    <a:pt x="1020" y="953"/>
                  </a:lnTo>
                  <a:lnTo>
                    <a:pt x="1055" y="848"/>
                  </a:lnTo>
                  <a:lnTo>
                    <a:pt x="1071" y="786"/>
                  </a:lnTo>
                  <a:lnTo>
                    <a:pt x="1077" y="739"/>
                  </a:lnTo>
                  <a:lnTo>
                    <a:pt x="1077" y="702"/>
                  </a:lnTo>
                  <a:lnTo>
                    <a:pt x="1077" y="677"/>
                  </a:lnTo>
                  <a:lnTo>
                    <a:pt x="1076" y="647"/>
                  </a:lnTo>
                  <a:lnTo>
                    <a:pt x="1067" y="507"/>
                  </a:lnTo>
                  <a:lnTo>
                    <a:pt x="1035" y="280"/>
                  </a:lnTo>
                  <a:lnTo>
                    <a:pt x="941" y="128"/>
                  </a:lnTo>
                  <a:lnTo>
                    <a:pt x="830" y="4"/>
                  </a:lnTo>
                  <a:lnTo>
                    <a:pt x="814" y="0"/>
                  </a:lnTo>
                  <a:lnTo>
                    <a:pt x="792" y="0"/>
                  </a:lnTo>
                  <a:lnTo>
                    <a:pt x="749" y="16"/>
                  </a:lnTo>
                  <a:lnTo>
                    <a:pt x="723" y="39"/>
                  </a:lnTo>
                  <a:lnTo>
                    <a:pt x="720" y="48"/>
                  </a:lnTo>
                  <a:lnTo>
                    <a:pt x="729" y="58"/>
                  </a:lnTo>
                  <a:lnTo>
                    <a:pt x="700" y="23"/>
                  </a:lnTo>
                  <a:lnTo>
                    <a:pt x="664" y="6"/>
                  </a:lnTo>
                  <a:lnTo>
                    <a:pt x="646" y="3"/>
                  </a:lnTo>
                  <a:lnTo>
                    <a:pt x="630" y="13"/>
                  </a:lnTo>
                  <a:lnTo>
                    <a:pt x="543" y="110"/>
                  </a:lnTo>
                  <a:lnTo>
                    <a:pt x="462" y="224"/>
                  </a:lnTo>
                  <a:lnTo>
                    <a:pt x="452" y="417"/>
                  </a:lnTo>
                  <a:lnTo>
                    <a:pt x="452" y="540"/>
                  </a:lnTo>
                  <a:lnTo>
                    <a:pt x="448" y="621"/>
                  </a:lnTo>
                  <a:lnTo>
                    <a:pt x="432" y="660"/>
                  </a:lnTo>
                  <a:lnTo>
                    <a:pt x="418" y="703"/>
                  </a:lnTo>
                  <a:lnTo>
                    <a:pt x="418" y="728"/>
                  </a:lnTo>
                  <a:lnTo>
                    <a:pt x="416" y="750"/>
                  </a:lnTo>
                  <a:lnTo>
                    <a:pt x="416" y="773"/>
                  </a:lnTo>
                  <a:lnTo>
                    <a:pt x="416" y="806"/>
                  </a:lnTo>
                  <a:lnTo>
                    <a:pt x="452" y="875"/>
                  </a:lnTo>
                  <a:lnTo>
                    <a:pt x="489" y="946"/>
                  </a:lnTo>
                  <a:lnTo>
                    <a:pt x="538" y="1069"/>
                  </a:lnTo>
                  <a:lnTo>
                    <a:pt x="553" y="1132"/>
                  </a:lnTo>
                  <a:lnTo>
                    <a:pt x="550" y="1163"/>
                  </a:lnTo>
                  <a:lnTo>
                    <a:pt x="552" y="1187"/>
                  </a:lnTo>
                  <a:lnTo>
                    <a:pt x="553" y="1225"/>
                  </a:lnTo>
                  <a:lnTo>
                    <a:pt x="547" y="1259"/>
                  </a:lnTo>
                  <a:lnTo>
                    <a:pt x="530" y="1285"/>
                  </a:lnTo>
                  <a:lnTo>
                    <a:pt x="478" y="1330"/>
                  </a:lnTo>
                  <a:lnTo>
                    <a:pt x="423" y="1372"/>
                  </a:lnTo>
                  <a:lnTo>
                    <a:pt x="327" y="1375"/>
                  </a:lnTo>
                  <a:lnTo>
                    <a:pt x="211" y="1398"/>
                  </a:lnTo>
                  <a:lnTo>
                    <a:pt x="90" y="1490"/>
                  </a:lnTo>
                  <a:lnTo>
                    <a:pt x="56" y="1622"/>
                  </a:lnTo>
                  <a:lnTo>
                    <a:pt x="33" y="1763"/>
                  </a:lnTo>
                  <a:lnTo>
                    <a:pt x="4" y="2369"/>
                  </a:lnTo>
                  <a:lnTo>
                    <a:pt x="0" y="2852"/>
                  </a:lnTo>
                  <a:lnTo>
                    <a:pt x="471" y="2886"/>
                  </a:lnTo>
                  <a:lnTo>
                    <a:pt x="948" y="2894"/>
                  </a:lnTo>
                  <a:lnTo>
                    <a:pt x="1213" y="2894"/>
                  </a:lnTo>
                  <a:lnTo>
                    <a:pt x="1486" y="2887"/>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0" name="Freeform 5"/>
            <p:cNvSpPr>
              <a:spLocks/>
            </p:cNvSpPr>
            <p:nvPr/>
          </p:nvSpPr>
          <p:spPr bwMode="auto">
            <a:xfrm>
              <a:off x="4205" y="1742"/>
              <a:ext cx="789" cy="940"/>
            </a:xfrm>
            <a:custGeom>
              <a:avLst/>
              <a:gdLst>
                <a:gd name="T0" fmla="*/ 1 w 1577"/>
                <a:gd name="T1" fmla="*/ 0 h 2821"/>
                <a:gd name="T2" fmla="*/ 0 w 1577"/>
                <a:gd name="T3" fmla="*/ 0 h 2821"/>
                <a:gd name="T4" fmla="*/ 1 w 1577"/>
                <a:gd name="T5" fmla="*/ 0 h 2821"/>
                <a:gd name="T6" fmla="*/ 1 w 1577"/>
                <a:gd name="T7" fmla="*/ 0 h 2821"/>
                <a:gd name="T8" fmla="*/ 1 w 1577"/>
                <a:gd name="T9" fmla="*/ 0 h 2821"/>
                <a:gd name="T10" fmla="*/ 1 w 1577"/>
                <a:gd name="T11" fmla="*/ 0 h 2821"/>
                <a:gd name="T12" fmla="*/ 1 w 1577"/>
                <a:gd name="T13" fmla="*/ 0 h 2821"/>
                <a:gd name="T14" fmla="*/ 1 w 1577"/>
                <a:gd name="T15" fmla="*/ 0 h 2821"/>
                <a:gd name="T16" fmla="*/ 1 w 1577"/>
                <a:gd name="T17" fmla="*/ 0 h 2821"/>
                <a:gd name="T18" fmla="*/ 1 w 1577"/>
                <a:gd name="T19" fmla="*/ 0 h 2821"/>
                <a:gd name="T20" fmla="*/ 1 w 1577"/>
                <a:gd name="T21" fmla="*/ 0 h 2821"/>
                <a:gd name="T22" fmla="*/ 1 w 1577"/>
                <a:gd name="T23" fmla="*/ 0 h 2821"/>
                <a:gd name="T24" fmla="*/ 1 w 1577"/>
                <a:gd name="T25" fmla="*/ 0 h 2821"/>
                <a:gd name="T26" fmla="*/ 1 w 1577"/>
                <a:gd name="T27" fmla="*/ 0 h 2821"/>
                <a:gd name="T28" fmla="*/ 1 w 1577"/>
                <a:gd name="T29" fmla="*/ 0 h 2821"/>
                <a:gd name="T30" fmla="*/ 1 w 1577"/>
                <a:gd name="T31" fmla="*/ 0 h 2821"/>
                <a:gd name="T32" fmla="*/ 1 w 1577"/>
                <a:gd name="T33" fmla="*/ 0 h 2821"/>
                <a:gd name="T34" fmla="*/ 1 w 1577"/>
                <a:gd name="T35" fmla="*/ 0 h 2821"/>
                <a:gd name="T36" fmla="*/ 1 w 1577"/>
                <a:gd name="T37" fmla="*/ 0 h 2821"/>
                <a:gd name="T38" fmla="*/ 1 w 1577"/>
                <a:gd name="T39" fmla="*/ 0 h 2821"/>
                <a:gd name="T40" fmla="*/ 1 w 1577"/>
                <a:gd name="T41" fmla="*/ 0 h 2821"/>
                <a:gd name="T42" fmla="*/ 1 w 1577"/>
                <a:gd name="T43" fmla="*/ 0 h 2821"/>
                <a:gd name="T44" fmla="*/ 1 w 1577"/>
                <a:gd name="T45" fmla="*/ 0 h 2821"/>
                <a:gd name="T46" fmla="*/ 1 w 1577"/>
                <a:gd name="T47" fmla="*/ 0 h 2821"/>
                <a:gd name="T48" fmla="*/ 1 w 1577"/>
                <a:gd name="T49" fmla="*/ 0 h 2821"/>
                <a:gd name="T50" fmla="*/ 1 w 1577"/>
                <a:gd name="T51" fmla="*/ 0 h 2821"/>
                <a:gd name="T52" fmla="*/ 1 w 1577"/>
                <a:gd name="T53" fmla="*/ 0 h 2821"/>
                <a:gd name="T54" fmla="*/ 1 w 1577"/>
                <a:gd name="T55" fmla="*/ 0 h 2821"/>
                <a:gd name="T56" fmla="*/ 1 w 1577"/>
                <a:gd name="T57" fmla="*/ 0 h 2821"/>
                <a:gd name="T58" fmla="*/ 1 w 1577"/>
                <a:gd name="T59" fmla="*/ 0 h 2821"/>
                <a:gd name="T60" fmla="*/ 1 w 1577"/>
                <a:gd name="T61" fmla="*/ 0 h 2821"/>
                <a:gd name="T62" fmla="*/ 1 w 1577"/>
                <a:gd name="T63" fmla="*/ 0 h 2821"/>
                <a:gd name="T64" fmla="*/ 1 w 1577"/>
                <a:gd name="T65" fmla="*/ 0 h 2821"/>
                <a:gd name="T66" fmla="*/ 1 w 1577"/>
                <a:gd name="T67" fmla="*/ 0 h 28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77"/>
                <a:gd name="T103" fmla="*/ 0 h 2821"/>
                <a:gd name="T104" fmla="*/ 1577 w 1577"/>
                <a:gd name="T105" fmla="*/ 2821 h 282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77" h="2821">
                  <a:moveTo>
                    <a:pt x="31" y="2790"/>
                  </a:moveTo>
                  <a:lnTo>
                    <a:pt x="17" y="2757"/>
                  </a:lnTo>
                  <a:lnTo>
                    <a:pt x="7" y="2669"/>
                  </a:lnTo>
                  <a:lnTo>
                    <a:pt x="0" y="2396"/>
                  </a:lnTo>
                  <a:lnTo>
                    <a:pt x="14" y="1941"/>
                  </a:lnTo>
                  <a:lnTo>
                    <a:pt x="31" y="1831"/>
                  </a:lnTo>
                  <a:lnTo>
                    <a:pt x="60" y="1732"/>
                  </a:lnTo>
                  <a:lnTo>
                    <a:pt x="188" y="1521"/>
                  </a:lnTo>
                  <a:lnTo>
                    <a:pt x="260" y="1485"/>
                  </a:lnTo>
                  <a:lnTo>
                    <a:pt x="300" y="1463"/>
                  </a:lnTo>
                  <a:lnTo>
                    <a:pt x="319" y="1434"/>
                  </a:lnTo>
                  <a:lnTo>
                    <a:pt x="310" y="1405"/>
                  </a:lnTo>
                  <a:lnTo>
                    <a:pt x="291" y="1371"/>
                  </a:lnTo>
                  <a:lnTo>
                    <a:pt x="261" y="1306"/>
                  </a:lnTo>
                  <a:lnTo>
                    <a:pt x="261" y="1278"/>
                  </a:lnTo>
                  <a:lnTo>
                    <a:pt x="267" y="1246"/>
                  </a:lnTo>
                  <a:lnTo>
                    <a:pt x="288" y="1174"/>
                  </a:lnTo>
                  <a:lnTo>
                    <a:pt x="327" y="1041"/>
                  </a:lnTo>
                  <a:lnTo>
                    <a:pt x="331" y="894"/>
                  </a:lnTo>
                  <a:lnTo>
                    <a:pt x="331" y="855"/>
                  </a:lnTo>
                  <a:lnTo>
                    <a:pt x="331" y="835"/>
                  </a:lnTo>
                  <a:lnTo>
                    <a:pt x="330" y="813"/>
                  </a:lnTo>
                  <a:lnTo>
                    <a:pt x="327" y="745"/>
                  </a:lnTo>
                  <a:lnTo>
                    <a:pt x="305" y="612"/>
                  </a:lnTo>
                  <a:lnTo>
                    <a:pt x="294" y="542"/>
                  </a:lnTo>
                  <a:lnTo>
                    <a:pt x="291" y="510"/>
                  </a:lnTo>
                  <a:lnTo>
                    <a:pt x="290" y="482"/>
                  </a:lnTo>
                  <a:lnTo>
                    <a:pt x="319" y="329"/>
                  </a:lnTo>
                  <a:lnTo>
                    <a:pt x="372" y="185"/>
                  </a:lnTo>
                  <a:lnTo>
                    <a:pt x="455" y="74"/>
                  </a:lnTo>
                  <a:lnTo>
                    <a:pt x="508" y="25"/>
                  </a:lnTo>
                  <a:lnTo>
                    <a:pt x="556" y="0"/>
                  </a:lnTo>
                  <a:lnTo>
                    <a:pt x="584" y="10"/>
                  </a:lnTo>
                  <a:lnTo>
                    <a:pt x="614" y="29"/>
                  </a:lnTo>
                  <a:lnTo>
                    <a:pt x="696" y="75"/>
                  </a:lnTo>
                  <a:lnTo>
                    <a:pt x="725" y="64"/>
                  </a:lnTo>
                  <a:lnTo>
                    <a:pt x="756" y="55"/>
                  </a:lnTo>
                  <a:lnTo>
                    <a:pt x="801" y="87"/>
                  </a:lnTo>
                  <a:lnTo>
                    <a:pt x="852" y="144"/>
                  </a:lnTo>
                  <a:lnTo>
                    <a:pt x="931" y="274"/>
                  </a:lnTo>
                  <a:lnTo>
                    <a:pt x="979" y="420"/>
                  </a:lnTo>
                  <a:lnTo>
                    <a:pt x="1015" y="581"/>
                  </a:lnTo>
                  <a:lnTo>
                    <a:pt x="1058" y="900"/>
                  </a:lnTo>
                  <a:lnTo>
                    <a:pt x="1065" y="1150"/>
                  </a:lnTo>
                  <a:lnTo>
                    <a:pt x="1070" y="1236"/>
                  </a:lnTo>
                  <a:lnTo>
                    <a:pt x="1072" y="1284"/>
                  </a:lnTo>
                  <a:lnTo>
                    <a:pt x="1072" y="1306"/>
                  </a:lnTo>
                  <a:lnTo>
                    <a:pt x="1071" y="1326"/>
                  </a:lnTo>
                  <a:lnTo>
                    <a:pt x="1064" y="1358"/>
                  </a:lnTo>
                  <a:lnTo>
                    <a:pt x="1058" y="1392"/>
                  </a:lnTo>
                  <a:lnTo>
                    <a:pt x="1073" y="1423"/>
                  </a:lnTo>
                  <a:lnTo>
                    <a:pt x="1103" y="1454"/>
                  </a:lnTo>
                  <a:lnTo>
                    <a:pt x="1163" y="1501"/>
                  </a:lnTo>
                  <a:lnTo>
                    <a:pt x="1307" y="1616"/>
                  </a:lnTo>
                  <a:lnTo>
                    <a:pt x="1563" y="2106"/>
                  </a:lnTo>
                  <a:lnTo>
                    <a:pt x="1571" y="2210"/>
                  </a:lnTo>
                  <a:lnTo>
                    <a:pt x="1564" y="2226"/>
                  </a:lnTo>
                  <a:lnTo>
                    <a:pt x="1563" y="2256"/>
                  </a:lnTo>
                  <a:lnTo>
                    <a:pt x="1563" y="2281"/>
                  </a:lnTo>
                  <a:lnTo>
                    <a:pt x="1563" y="2315"/>
                  </a:lnTo>
                  <a:lnTo>
                    <a:pt x="1574" y="2617"/>
                  </a:lnTo>
                  <a:lnTo>
                    <a:pt x="1577" y="2751"/>
                  </a:lnTo>
                  <a:lnTo>
                    <a:pt x="1577" y="2775"/>
                  </a:lnTo>
                  <a:lnTo>
                    <a:pt x="1576" y="2793"/>
                  </a:lnTo>
                  <a:lnTo>
                    <a:pt x="1570" y="2809"/>
                  </a:lnTo>
                  <a:lnTo>
                    <a:pt x="763" y="2821"/>
                  </a:lnTo>
                  <a:lnTo>
                    <a:pt x="366" y="2816"/>
                  </a:lnTo>
                  <a:lnTo>
                    <a:pt x="31" y="2790"/>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1" name="Freeform 6"/>
            <p:cNvSpPr>
              <a:spLocks/>
            </p:cNvSpPr>
            <p:nvPr/>
          </p:nvSpPr>
          <p:spPr bwMode="auto">
            <a:xfrm>
              <a:off x="3800" y="1869"/>
              <a:ext cx="946" cy="925"/>
            </a:xfrm>
            <a:custGeom>
              <a:avLst/>
              <a:gdLst>
                <a:gd name="T0" fmla="*/ 0 w 1891"/>
                <a:gd name="T1" fmla="*/ 0 h 2775"/>
                <a:gd name="T2" fmla="*/ 1 w 1891"/>
                <a:gd name="T3" fmla="*/ 0 h 2775"/>
                <a:gd name="T4" fmla="*/ 1 w 1891"/>
                <a:gd name="T5" fmla="*/ 0 h 2775"/>
                <a:gd name="T6" fmla="*/ 1 w 1891"/>
                <a:gd name="T7" fmla="*/ 0 h 2775"/>
                <a:gd name="T8" fmla="*/ 1 w 1891"/>
                <a:gd name="T9" fmla="*/ 0 h 2775"/>
                <a:gd name="T10" fmla="*/ 1 w 1891"/>
                <a:gd name="T11" fmla="*/ 0 h 2775"/>
                <a:gd name="T12" fmla="*/ 1 w 1891"/>
                <a:gd name="T13" fmla="*/ 0 h 2775"/>
                <a:gd name="T14" fmla="*/ 1 w 1891"/>
                <a:gd name="T15" fmla="*/ 0 h 2775"/>
                <a:gd name="T16" fmla="*/ 1 w 1891"/>
                <a:gd name="T17" fmla="*/ 0 h 2775"/>
                <a:gd name="T18" fmla="*/ 1 w 1891"/>
                <a:gd name="T19" fmla="*/ 0 h 2775"/>
                <a:gd name="T20" fmla="*/ 1 w 1891"/>
                <a:gd name="T21" fmla="*/ 0 h 2775"/>
                <a:gd name="T22" fmla="*/ 1 w 1891"/>
                <a:gd name="T23" fmla="*/ 0 h 2775"/>
                <a:gd name="T24" fmla="*/ 1 w 1891"/>
                <a:gd name="T25" fmla="*/ 0 h 2775"/>
                <a:gd name="T26" fmla="*/ 1 w 1891"/>
                <a:gd name="T27" fmla="*/ 0 h 2775"/>
                <a:gd name="T28" fmla="*/ 1 w 1891"/>
                <a:gd name="T29" fmla="*/ 0 h 2775"/>
                <a:gd name="T30" fmla="*/ 1 w 1891"/>
                <a:gd name="T31" fmla="*/ 0 h 2775"/>
                <a:gd name="T32" fmla="*/ 1 w 1891"/>
                <a:gd name="T33" fmla="*/ 0 h 2775"/>
                <a:gd name="T34" fmla="*/ 1 w 1891"/>
                <a:gd name="T35" fmla="*/ 0 h 2775"/>
                <a:gd name="T36" fmla="*/ 1 w 1891"/>
                <a:gd name="T37" fmla="*/ 0 h 2775"/>
                <a:gd name="T38" fmla="*/ 1 w 1891"/>
                <a:gd name="T39" fmla="*/ 0 h 2775"/>
                <a:gd name="T40" fmla="*/ 1 w 1891"/>
                <a:gd name="T41" fmla="*/ 0 h 2775"/>
                <a:gd name="T42" fmla="*/ 1 w 1891"/>
                <a:gd name="T43" fmla="*/ 0 h 2775"/>
                <a:gd name="T44" fmla="*/ 1 w 1891"/>
                <a:gd name="T45" fmla="*/ 0 h 2775"/>
                <a:gd name="T46" fmla="*/ 1 w 1891"/>
                <a:gd name="T47" fmla="*/ 0 h 2775"/>
                <a:gd name="T48" fmla="*/ 1 w 1891"/>
                <a:gd name="T49" fmla="*/ 0 h 2775"/>
                <a:gd name="T50" fmla="*/ 1 w 1891"/>
                <a:gd name="T51" fmla="*/ 0 h 2775"/>
                <a:gd name="T52" fmla="*/ 1 w 1891"/>
                <a:gd name="T53" fmla="*/ 0 h 2775"/>
                <a:gd name="T54" fmla="*/ 1 w 1891"/>
                <a:gd name="T55" fmla="*/ 0 h 2775"/>
                <a:gd name="T56" fmla="*/ 1 w 1891"/>
                <a:gd name="T57" fmla="*/ 0 h 2775"/>
                <a:gd name="T58" fmla="*/ 1 w 1891"/>
                <a:gd name="T59" fmla="*/ 0 h 2775"/>
                <a:gd name="T60" fmla="*/ 1 w 1891"/>
                <a:gd name="T61" fmla="*/ 0 h 2775"/>
                <a:gd name="T62" fmla="*/ 1 w 1891"/>
                <a:gd name="T63" fmla="*/ 0 h 2775"/>
                <a:gd name="T64" fmla="*/ 1 w 1891"/>
                <a:gd name="T65" fmla="*/ 0 h 2775"/>
                <a:gd name="T66" fmla="*/ 1 w 1891"/>
                <a:gd name="T67" fmla="*/ 0 h 2775"/>
                <a:gd name="T68" fmla="*/ 1 w 1891"/>
                <a:gd name="T69" fmla="*/ 0 h 2775"/>
                <a:gd name="T70" fmla="*/ 1 w 1891"/>
                <a:gd name="T71" fmla="*/ 0 h 2775"/>
                <a:gd name="T72" fmla="*/ 1 w 1891"/>
                <a:gd name="T73" fmla="*/ 0 h 2775"/>
                <a:gd name="T74" fmla="*/ 0 w 1891"/>
                <a:gd name="T75" fmla="*/ 0 h 2775"/>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891"/>
                <a:gd name="T115" fmla="*/ 0 h 2775"/>
                <a:gd name="T116" fmla="*/ 1891 w 1891"/>
                <a:gd name="T117" fmla="*/ 2775 h 2775"/>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891" h="2775">
                  <a:moveTo>
                    <a:pt x="0" y="2723"/>
                  </a:moveTo>
                  <a:lnTo>
                    <a:pt x="86" y="1843"/>
                  </a:lnTo>
                  <a:lnTo>
                    <a:pt x="136" y="1713"/>
                  </a:lnTo>
                  <a:lnTo>
                    <a:pt x="212" y="1528"/>
                  </a:lnTo>
                  <a:lnTo>
                    <a:pt x="301" y="1508"/>
                  </a:lnTo>
                  <a:lnTo>
                    <a:pt x="477" y="1473"/>
                  </a:lnTo>
                  <a:lnTo>
                    <a:pt x="562" y="1426"/>
                  </a:lnTo>
                  <a:lnTo>
                    <a:pt x="633" y="1368"/>
                  </a:lnTo>
                  <a:lnTo>
                    <a:pt x="660" y="1209"/>
                  </a:lnTo>
                  <a:lnTo>
                    <a:pt x="575" y="997"/>
                  </a:lnTo>
                  <a:lnTo>
                    <a:pt x="519" y="978"/>
                  </a:lnTo>
                  <a:lnTo>
                    <a:pt x="468" y="748"/>
                  </a:lnTo>
                  <a:lnTo>
                    <a:pt x="503" y="689"/>
                  </a:lnTo>
                  <a:lnTo>
                    <a:pt x="487" y="462"/>
                  </a:lnTo>
                  <a:lnTo>
                    <a:pt x="493" y="249"/>
                  </a:lnTo>
                  <a:lnTo>
                    <a:pt x="554" y="165"/>
                  </a:lnTo>
                  <a:lnTo>
                    <a:pt x="679" y="21"/>
                  </a:lnTo>
                  <a:lnTo>
                    <a:pt x="779" y="0"/>
                  </a:lnTo>
                  <a:lnTo>
                    <a:pt x="910" y="0"/>
                  </a:lnTo>
                  <a:lnTo>
                    <a:pt x="1012" y="58"/>
                  </a:lnTo>
                  <a:lnTo>
                    <a:pt x="1097" y="165"/>
                  </a:lnTo>
                  <a:lnTo>
                    <a:pt x="1154" y="341"/>
                  </a:lnTo>
                  <a:lnTo>
                    <a:pt x="1167" y="496"/>
                  </a:lnTo>
                  <a:lnTo>
                    <a:pt x="1167" y="629"/>
                  </a:lnTo>
                  <a:lnTo>
                    <a:pt x="1220" y="652"/>
                  </a:lnTo>
                  <a:lnTo>
                    <a:pt x="1202" y="865"/>
                  </a:lnTo>
                  <a:lnTo>
                    <a:pt x="1130" y="903"/>
                  </a:lnTo>
                  <a:lnTo>
                    <a:pt x="1112" y="1033"/>
                  </a:lnTo>
                  <a:lnTo>
                    <a:pt x="1086" y="1179"/>
                  </a:lnTo>
                  <a:lnTo>
                    <a:pt x="1104" y="1293"/>
                  </a:lnTo>
                  <a:lnTo>
                    <a:pt x="1197" y="1368"/>
                  </a:lnTo>
                  <a:lnTo>
                    <a:pt x="1321" y="1411"/>
                  </a:lnTo>
                  <a:lnTo>
                    <a:pt x="1497" y="1448"/>
                  </a:lnTo>
                  <a:lnTo>
                    <a:pt x="1620" y="1459"/>
                  </a:lnTo>
                  <a:lnTo>
                    <a:pt x="1687" y="1579"/>
                  </a:lnTo>
                  <a:lnTo>
                    <a:pt x="1738" y="1687"/>
                  </a:lnTo>
                  <a:lnTo>
                    <a:pt x="1891" y="2775"/>
                  </a:lnTo>
                  <a:lnTo>
                    <a:pt x="0" y="2723"/>
                  </a:lnTo>
                  <a:close/>
                </a:path>
              </a:pathLst>
            </a:custGeom>
            <a:solidFill>
              <a:srgbClr val="808080"/>
            </a:solidFill>
            <a:ln w="1588">
              <a:solidFill>
                <a:srgbClr val="919191"/>
              </a:solidFill>
              <a:round/>
              <a:headEnd/>
              <a:tailEnd/>
            </a:ln>
          </p:spPr>
          <p:txBody>
            <a:bodyPr/>
            <a:lstStyle/>
            <a:p>
              <a:endParaRPr lang="en-GB"/>
            </a:p>
          </p:txBody>
        </p:sp>
        <p:sp>
          <p:nvSpPr>
            <p:cNvPr id="19462" name="Freeform 7"/>
            <p:cNvSpPr>
              <a:spLocks/>
            </p:cNvSpPr>
            <p:nvPr/>
          </p:nvSpPr>
          <p:spPr bwMode="auto">
            <a:xfrm>
              <a:off x="1544" y="1762"/>
              <a:ext cx="739" cy="982"/>
            </a:xfrm>
            <a:custGeom>
              <a:avLst/>
              <a:gdLst>
                <a:gd name="T0" fmla="*/ 0 w 1479"/>
                <a:gd name="T1" fmla="*/ 0 h 2946"/>
                <a:gd name="T2" fmla="*/ 0 w 1479"/>
                <a:gd name="T3" fmla="*/ 0 h 2946"/>
                <a:gd name="T4" fmla="*/ 0 w 1479"/>
                <a:gd name="T5" fmla="*/ 0 h 2946"/>
                <a:gd name="T6" fmla="*/ 0 w 1479"/>
                <a:gd name="T7" fmla="*/ 0 h 2946"/>
                <a:gd name="T8" fmla="*/ 0 w 1479"/>
                <a:gd name="T9" fmla="*/ 0 h 2946"/>
                <a:gd name="T10" fmla="*/ 0 w 1479"/>
                <a:gd name="T11" fmla="*/ 0 h 2946"/>
                <a:gd name="T12" fmla="*/ 0 w 1479"/>
                <a:gd name="T13" fmla="*/ 0 h 2946"/>
                <a:gd name="T14" fmla="*/ 0 w 1479"/>
                <a:gd name="T15" fmla="*/ 0 h 2946"/>
                <a:gd name="T16" fmla="*/ 0 w 1479"/>
                <a:gd name="T17" fmla="*/ 0 h 2946"/>
                <a:gd name="T18" fmla="*/ 0 w 1479"/>
                <a:gd name="T19" fmla="*/ 0 h 2946"/>
                <a:gd name="T20" fmla="*/ 0 w 1479"/>
                <a:gd name="T21" fmla="*/ 0 h 2946"/>
                <a:gd name="T22" fmla="*/ 0 w 1479"/>
                <a:gd name="T23" fmla="*/ 0 h 2946"/>
                <a:gd name="T24" fmla="*/ 0 w 1479"/>
                <a:gd name="T25" fmla="*/ 0 h 2946"/>
                <a:gd name="T26" fmla="*/ 0 w 1479"/>
                <a:gd name="T27" fmla="*/ 0 h 2946"/>
                <a:gd name="T28" fmla="*/ 0 w 1479"/>
                <a:gd name="T29" fmla="*/ 0 h 2946"/>
                <a:gd name="T30" fmla="*/ 0 w 1479"/>
                <a:gd name="T31" fmla="*/ 0 h 2946"/>
                <a:gd name="T32" fmla="*/ 0 w 1479"/>
                <a:gd name="T33" fmla="*/ 0 h 2946"/>
                <a:gd name="T34" fmla="*/ 0 w 1479"/>
                <a:gd name="T35" fmla="*/ 0 h 2946"/>
                <a:gd name="T36" fmla="*/ 0 w 1479"/>
                <a:gd name="T37" fmla="*/ 0 h 2946"/>
                <a:gd name="T38" fmla="*/ 0 w 1479"/>
                <a:gd name="T39" fmla="*/ 0 h 2946"/>
                <a:gd name="T40" fmla="*/ 0 w 1479"/>
                <a:gd name="T41" fmla="*/ 0 h 2946"/>
                <a:gd name="T42" fmla="*/ 0 w 1479"/>
                <a:gd name="T43" fmla="*/ 0 h 2946"/>
                <a:gd name="T44" fmla="*/ 0 w 1479"/>
                <a:gd name="T45" fmla="*/ 0 h 2946"/>
                <a:gd name="T46" fmla="*/ 0 w 1479"/>
                <a:gd name="T47" fmla="*/ 0 h 2946"/>
                <a:gd name="T48" fmla="*/ 0 w 1479"/>
                <a:gd name="T49" fmla="*/ 0 h 2946"/>
                <a:gd name="T50" fmla="*/ 0 w 1479"/>
                <a:gd name="T51" fmla="*/ 0 h 2946"/>
                <a:gd name="T52" fmla="*/ 0 w 1479"/>
                <a:gd name="T53" fmla="*/ 0 h 2946"/>
                <a:gd name="T54" fmla="*/ 0 w 1479"/>
                <a:gd name="T55" fmla="*/ 0 h 2946"/>
                <a:gd name="T56" fmla="*/ 0 w 1479"/>
                <a:gd name="T57" fmla="*/ 0 h 2946"/>
                <a:gd name="T58" fmla="*/ 0 w 1479"/>
                <a:gd name="T59" fmla="*/ 0 h 2946"/>
                <a:gd name="T60" fmla="*/ 0 w 1479"/>
                <a:gd name="T61" fmla="*/ 0 h 2946"/>
                <a:gd name="T62" fmla="*/ 0 w 1479"/>
                <a:gd name="T63" fmla="*/ 0 h 2946"/>
                <a:gd name="T64" fmla="*/ 0 w 1479"/>
                <a:gd name="T65" fmla="*/ 0 h 2946"/>
                <a:gd name="T66" fmla="*/ 0 w 1479"/>
                <a:gd name="T67" fmla="*/ 0 h 2946"/>
                <a:gd name="T68" fmla="*/ 0 w 1479"/>
                <a:gd name="T69" fmla="*/ 0 h 2946"/>
                <a:gd name="T70" fmla="*/ 0 w 1479"/>
                <a:gd name="T71" fmla="*/ 0 h 2946"/>
                <a:gd name="T72" fmla="*/ 0 w 1479"/>
                <a:gd name="T73" fmla="*/ 0 h 2946"/>
                <a:gd name="T74" fmla="*/ 0 w 1479"/>
                <a:gd name="T75" fmla="*/ 0 h 2946"/>
                <a:gd name="T76" fmla="*/ 0 w 1479"/>
                <a:gd name="T77" fmla="*/ 0 h 294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479"/>
                <a:gd name="T118" fmla="*/ 0 h 2946"/>
                <a:gd name="T119" fmla="*/ 1479 w 1479"/>
                <a:gd name="T120" fmla="*/ 2946 h 294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479" h="2946">
                  <a:moveTo>
                    <a:pt x="0" y="2946"/>
                  </a:moveTo>
                  <a:lnTo>
                    <a:pt x="20" y="1832"/>
                  </a:lnTo>
                  <a:lnTo>
                    <a:pt x="78" y="1502"/>
                  </a:lnTo>
                  <a:lnTo>
                    <a:pt x="195" y="1349"/>
                  </a:lnTo>
                  <a:lnTo>
                    <a:pt x="344" y="1324"/>
                  </a:lnTo>
                  <a:lnTo>
                    <a:pt x="474" y="1275"/>
                  </a:lnTo>
                  <a:lnTo>
                    <a:pt x="528" y="1167"/>
                  </a:lnTo>
                  <a:lnTo>
                    <a:pt x="532" y="1005"/>
                  </a:lnTo>
                  <a:lnTo>
                    <a:pt x="480" y="917"/>
                  </a:lnTo>
                  <a:lnTo>
                    <a:pt x="480" y="865"/>
                  </a:lnTo>
                  <a:lnTo>
                    <a:pt x="436" y="798"/>
                  </a:lnTo>
                  <a:lnTo>
                    <a:pt x="398" y="660"/>
                  </a:lnTo>
                  <a:lnTo>
                    <a:pt x="405" y="635"/>
                  </a:lnTo>
                  <a:lnTo>
                    <a:pt x="367" y="527"/>
                  </a:lnTo>
                  <a:lnTo>
                    <a:pt x="405" y="309"/>
                  </a:lnTo>
                  <a:lnTo>
                    <a:pt x="488" y="206"/>
                  </a:lnTo>
                  <a:lnTo>
                    <a:pt x="584" y="63"/>
                  </a:lnTo>
                  <a:lnTo>
                    <a:pt x="774" y="0"/>
                  </a:lnTo>
                  <a:lnTo>
                    <a:pt x="919" y="108"/>
                  </a:lnTo>
                  <a:lnTo>
                    <a:pt x="971" y="195"/>
                  </a:lnTo>
                  <a:lnTo>
                    <a:pt x="1054" y="238"/>
                  </a:lnTo>
                  <a:lnTo>
                    <a:pt x="1054" y="336"/>
                  </a:lnTo>
                  <a:lnTo>
                    <a:pt x="1063" y="391"/>
                  </a:lnTo>
                  <a:lnTo>
                    <a:pt x="1124" y="499"/>
                  </a:lnTo>
                  <a:lnTo>
                    <a:pt x="1075" y="651"/>
                  </a:lnTo>
                  <a:lnTo>
                    <a:pt x="1083" y="759"/>
                  </a:lnTo>
                  <a:lnTo>
                    <a:pt x="1038" y="865"/>
                  </a:lnTo>
                  <a:lnTo>
                    <a:pt x="1002" y="897"/>
                  </a:lnTo>
                  <a:lnTo>
                    <a:pt x="1002" y="949"/>
                  </a:lnTo>
                  <a:lnTo>
                    <a:pt x="957" y="1070"/>
                  </a:lnTo>
                  <a:lnTo>
                    <a:pt x="926" y="1167"/>
                  </a:lnTo>
                  <a:lnTo>
                    <a:pt x="1018" y="1275"/>
                  </a:lnTo>
                  <a:lnTo>
                    <a:pt x="1175" y="1380"/>
                  </a:lnTo>
                  <a:lnTo>
                    <a:pt x="1340" y="1489"/>
                  </a:lnTo>
                  <a:lnTo>
                    <a:pt x="1416" y="1617"/>
                  </a:lnTo>
                  <a:lnTo>
                    <a:pt x="1447" y="1789"/>
                  </a:lnTo>
                  <a:lnTo>
                    <a:pt x="1470" y="2052"/>
                  </a:lnTo>
                  <a:lnTo>
                    <a:pt x="1479" y="2817"/>
                  </a:lnTo>
                  <a:lnTo>
                    <a:pt x="0" y="2946"/>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3" name="Freeform 8"/>
            <p:cNvSpPr>
              <a:spLocks/>
            </p:cNvSpPr>
            <p:nvPr/>
          </p:nvSpPr>
          <p:spPr bwMode="auto">
            <a:xfrm>
              <a:off x="2100" y="1704"/>
              <a:ext cx="789" cy="1031"/>
            </a:xfrm>
            <a:custGeom>
              <a:avLst/>
              <a:gdLst>
                <a:gd name="T0" fmla="*/ 1 w 1577"/>
                <a:gd name="T1" fmla="*/ 0 h 3093"/>
                <a:gd name="T2" fmla="*/ 0 w 1577"/>
                <a:gd name="T3" fmla="*/ 0 h 3093"/>
                <a:gd name="T4" fmla="*/ 1 w 1577"/>
                <a:gd name="T5" fmla="*/ 0 h 3093"/>
                <a:gd name="T6" fmla="*/ 1 w 1577"/>
                <a:gd name="T7" fmla="*/ 0 h 3093"/>
                <a:gd name="T8" fmla="*/ 1 w 1577"/>
                <a:gd name="T9" fmla="*/ 0 h 3093"/>
                <a:gd name="T10" fmla="*/ 1 w 1577"/>
                <a:gd name="T11" fmla="*/ 0 h 3093"/>
                <a:gd name="T12" fmla="*/ 1 w 1577"/>
                <a:gd name="T13" fmla="*/ 0 h 3093"/>
                <a:gd name="T14" fmla="*/ 1 w 1577"/>
                <a:gd name="T15" fmla="*/ 0 h 3093"/>
                <a:gd name="T16" fmla="*/ 1 w 1577"/>
                <a:gd name="T17" fmla="*/ 0 h 3093"/>
                <a:gd name="T18" fmla="*/ 1 w 1577"/>
                <a:gd name="T19" fmla="*/ 0 h 3093"/>
                <a:gd name="T20" fmla="*/ 1 w 1577"/>
                <a:gd name="T21" fmla="*/ 0 h 3093"/>
                <a:gd name="T22" fmla="*/ 1 w 1577"/>
                <a:gd name="T23" fmla="*/ 0 h 3093"/>
                <a:gd name="T24" fmla="*/ 1 w 1577"/>
                <a:gd name="T25" fmla="*/ 0 h 3093"/>
                <a:gd name="T26" fmla="*/ 1 w 1577"/>
                <a:gd name="T27" fmla="*/ 0 h 3093"/>
                <a:gd name="T28" fmla="*/ 1 w 1577"/>
                <a:gd name="T29" fmla="*/ 0 h 3093"/>
                <a:gd name="T30" fmla="*/ 1 w 1577"/>
                <a:gd name="T31" fmla="*/ 0 h 3093"/>
                <a:gd name="T32" fmla="*/ 1 w 1577"/>
                <a:gd name="T33" fmla="*/ 0 h 3093"/>
                <a:gd name="T34" fmla="*/ 1 w 1577"/>
                <a:gd name="T35" fmla="*/ 0 h 3093"/>
                <a:gd name="T36" fmla="*/ 1 w 1577"/>
                <a:gd name="T37" fmla="*/ 0 h 3093"/>
                <a:gd name="T38" fmla="*/ 1 w 1577"/>
                <a:gd name="T39" fmla="*/ 0 h 3093"/>
                <a:gd name="T40" fmla="*/ 1 w 1577"/>
                <a:gd name="T41" fmla="*/ 0 h 3093"/>
                <a:gd name="T42" fmla="*/ 1 w 1577"/>
                <a:gd name="T43" fmla="*/ 0 h 3093"/>
                <a:gd name="T44" fmla="*/ 1 w 1577"/>
                <a:gd name="T45" fmla="*/ 0 h 3093"/>
                <a:gd name="T46" fmla="*/ 1 w 1577"/>
                <a:gd name="T47" fmla="*/ 0 h 3093"/>
                <a:gd name="T48" fmla="*/ 1 w 1577"/>
                <a:gd name="T49" fmla="*/ 0 h 3093"/>
                <a:gd name="T50" fmla="*/ 1 w 1577"/>
                <a:gd name="T51" fmla="*/ 0 h 3093"/>
                <a:gd name="T52" fmla="*/ 1 w 1577"/>
                <a:gd name="T53" fmla="*/ 0 h 3093"/>
                <a:gd name="T54" fmla="*/ 1 w 1577"/>
                <a:gd name="T55" fmla="*/ 0 h 3093"/>
                <a:gd name="T56" fmla="*/ 1 w 1577"/>
                <a:gd name="T57" fmla="*/ 0 h 3093"/>
                <a:gd name="T58" fmla="*/ 1 w 1577"/>
                <a:gd name="T59" fmla="*/ 0 h 3093"/>
                <a:gd name="T60" fmla="*/ 1 w 1577"/>
                <a:gd name="T61" fmla="*/ 0 h 3093"/>
                <a:gd name="T62" fmla="*/ 1 w 1577"/>
                <a:gd name="T63" fmla="*/ 0 h 3093"/>
                <a:gd name="T64" fmla="*/ 1 w 1577"/>
                <a:gd name="T65" fmla="*/ 0 h 3093"/>
                <a:gd name="T66" fmla="*/ 1 w 1577"/>
                <a:gd name="T67" fmla="*/ 0 h 309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77"/>
                <a:gd name="T103" fmla="*/ 0 h 3093"/>
                <a:gd name="T104" fmla="*/ 1577 w 1577"/>
                <a:gd name="T105" fmla="*/ 3093 h 3093"/>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77" h="3093">
                  <a:moveTo>
                    <a:pt x="31" y="3059"/>
                  </a:moveTo>
                  <a:lnTo>
                    <a:pt x="17" y="3023"/>
                  </a:lnTo>
                  <a:lnTo>
                    <a:pt x="7" y="2927"/>
                  </a:lnTo>
                  <a:lnTo>
                    <a:pt x="0" y="2628"/>
                  </a:lnTo>
                  <a:lnTo>
                    <a:pt x="14" y="2128"/>
                  </a:lnTo>
                  <a:lnTo>
                    <a:pt x="31" y="2008"/>
                  </a:lnTo>
                  <a:lnTo>
                    <a:pt x="60" y="1898"/>
                  </a:lnTo>
                  <a:lnTo>
                    <a:pt x="188" y="1667"/>
                  </a:lnTo>
                  <a:lnTo>
                    <a:pt x="260" y="1627"/>
                  </a:lnTo>
                  <a:lnTo>
                    <a:pt x="300" y="1604"/>
                  </a:lnTo>
                  <a:lnTo>
                    <a:pt x="319" y="1573"/>
                  </a:lnTo>
                  <a:lnTo>
                    <a:pt x="310" y="1541"/>
                  </a:lnTo>
                  <a:lnTo>
                    <a:pt x="291" y="1504"/>
                  </a:lnTo>
                  <a:lnTo>
                    <a:pt x="261" y="1432"/>
                  </a:lnTo>
                  <a:lnTo>
                    <a:pt x="261" y="1401"/>
                  </a:lnTo>
                  <a:lnTo>
                    <a:pt x="268" y="1365"/>
                  </a:lnTo>
                  <a:lnTo>
                    <a:pt x="288" y="1287"/>
                  </a:lnTo>
                  <a:lnTo>
                    <a:pt x="327" y="1143"/>
                  </a:lnTo>
                  <a:lnTo>
                    <a:pt x="331" y="981"/>
                  </a:lnTo>
                  <a:lnTo>
                    <a:pt x="331" y="938"/>
                  </a:lnTo>
                  <a:lnTo>
                    <a:pt x="331" y="916"/>
                  </a:lnTo>
                  <a:lnTo>
                    <a:pt x="330" y="893"/>
                  </a:lnTo>
                  <a:lnTo>
                    <a:pt x="327" y="818"/>
                  </a:lnTo>
                  <a:lnTo>
                    <a:pt x="305" y="672"/>
                  </a:lnTo>
                  <a:lnTo>
                    <a:pt x="294" y="595"/>
                  </a:lnTo>
                  <a:lnTo>
                    <a:pt x="291" y="561"/>
                  </a:lnTo>
                  <a:lnTo>
                    <a:pt x="290" y="529"/>
                  </a:lnTo>
                  <a:lnTo>
                    <a:pt x="319" y="361"/>
                  </a:lnTo>
                  <a:lnTo>
                    <a:pt x="372" y="204"/>
                  </a:lnTo>
                  <a:lnTo>
                    <a:pt x="455" y="83"/>
                  </a:lnTo>
                  <a:lnTo>
                    <a:pt x="508" y="29"/>
                  </a:lnTo>
                  <a:lnTo>
                    <a:pt x="556" y="0"/>
                  </a:lnTo>
                  <a:lnTo>
                    <a:pt x="584" y="10"/>
                  </a:lnTo>
                  <a:lnTo>
                    <a:pt x="614" y="32"/>
                  </a:lnTo>
                  <a:lnTo>
                    <a:pt x="653" y="60"/>
                  </a:lnTo>
                  <a:lnTo>
                    <a:pt x="696" y="83"/>
                  </a:lnTo>
                  <a:lnTo>
                    <a:pt x="726" y="71"/>
                  </a:lnTo>
                  <a:lnTo>
                    <a:pt x="756" y="61"/>
                  </a:lnTo>
                  <a:lnTo>
                    <a:pt x="801" y="96"/>
                  </a:lnTo>
                  <a:lnTo>
                    <a:pt x="852" y="159"/>
                  </a:lnTo>
                  <a:lnTo>
                    <a:pt x="931" y="302"/>
                  </a:lnTo>
                  <a:lnTo>
                    <a:pt x="979" y="463"/>
                  </a:lnTo>
                  <a:lnTo>
                    <a:pt x="1015" y="637"/>
                  </a:lnTo>
                  <a:lnTo>
                    <a:pt x="1058" y="987"/>
                  </a:lnTo>
                  <a:lnTo>
                    <a:pt x="1065" y="1261"/>
                  </a:lnTo>
                  <a:lnTo>
                    <a:pt x="1070" y="1357"/>
                  </a:lnTo>
                  <a:lnTo>
                    <a:pt x="1072" y="1407"/>
                  </a:lnTo>
                  <a:lnTo>
                    <a:pt x="1072" y="1430"/>
                  </a:lnTo>
                  <a:lnTo>
                    <a:pt x="1071" y="1453"/>
                  </a:lnTo>
                  <a:lnTo>
                    <a:pt x="1064" y="1488"/>
                  </a:lnTo>
                  <a:lnTo>
                    <a:pt x="1058" y="1527"/>
                  </a:lnTo>
                  <a:lnTo>
                    <a:pt x="1103" y="1595"/>
                  </a:lnTo>
                  <a:lnTo>
                    <a:pt x="1163" y="1645"/>
                  </a:lnTo>
                  <a:lnTo>
                    <a:pt x="1307" y="1773"/>
                  </a:lnTo>
                  <a:lnTo>
                    <a:pt x="1563" y="2308"/>
                  </a:lnTo>
                  <a:lnTo>
                    <a:pt x="1571" y="2422"/>
                  </a:lnTo>
                  <a:lnTo>
                    <a:pt x="1564" y="2440"/>
                  </a:lnTo>
                  <a:lnTo>
                    <a:pt x="1563" y="2473"/>
                  </a:lnTo>
                  <a:lnTo>
                    <a:pt x="1563" y="2499"/>
                  </a:lnTo>
                  <a:lnTo>
                    <a:pt x="1563" y="2516"/>
                  </a:lnTo>
                  <a:lnTo>
                    <a:pt x="1563" y="2538"/>
                  </a:lnTo>
                  <a:lnTo>
                    <a:pt x="1574" y="2869"/>
                  </a:lnTo>
                  <a:lnTo>
                    <a:pt x="1577" y="3016"/>
                  </a:lnTo>
                  <a:lnTo>
                    <a:pt x="1577" y="3041"/>
                  </a:lnTo>
                  <a:lnTo>
                    <a:pt x="1576" y="3061"/>
                  </a:lnTo>
                  <a:lnTo>
                    <a:pt x="1570" y="3080"/>
                  </a:lnTo>
                  <a:lnTo>
                    <a:pt x="763" y="3093"/>
                  </a:lnTo>
                  <a:lnTo>
                    <a:pt x="366" y="3088"/>
                  </a:lnTo>
                  <a:lnTo>
                    <a:pt x="31" y="3059"/>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4" name="Freeform 9"/>
            <p:cNvSpPr>
              <a:spLocks/>
            </p:cNvSpPr>
            <p:nvPr/>
          </p:nvSpPr>
          <p:spPr bwMode="auto">
            <a:xfrm rot="-2660175">
              <a:off x="2627" y="1712"/>
              <a:ext cx="812" cy="969"/>
            </a:xfrm>
            <a:custGeom>
              <a:avLst/>
              <a:gdLst>
                <a:gd name="T0" fmla="*/ 1 w 1623"/>
                <a:gd name="T1" fmla="*/ 0 h 2907"/>
                <a:gd name="T2" fmla="*/ 1 w 1623"/>
                <a:gd name="T3" fmla="*/ 0 h 2907"/>
                <a:gd name="T4" fmla="*/ 1 w 1623"/>
                <a:gd name="T5" fmla="*/ 0 h 2907"/>
                <a:gd name="T6" fmla="*/ 1 w 1623"/>
                <a:gd name="T7" fmla="*/ 0 h 2907"/>
                <a:gd name="T8" fmla="*/ 1 w 1623"/>
                <a:gd name="T9" fmla="*/ 0 h 2907"/>
                <a:gd name="T10" fmla="*/ 1 w 1623"/>
                <a:gd name="T11" fmla="*/ 0 h 2907"/>
                <a:gd name="T12" fmla="*/ 1 w 1623"/>
                <a:gd name="T13" fmla="*/ 0 h 2907"/>
                <a:gd name="T14" fmla="*/ 1 w 1623"/>
                <a:gd name="T15" fmla="*/ 0 h 2907"/>
                <a:gd name="T16" fmla="*/ 1 w 1623"/>
                <a:gd name="T17" fmla="*/ 0 h 2907"/>
                <a:gd name="T18" fmla="*/ 1 w 1623"/>
                <a:gd name="T19" fmla="*/ 0 h 2907"/>
                <a:gd name="T20" fmla="*/ 1 w 1623"/>
                <a:gd name="T21" fmla="*/ 0 h 2907"/>
                <a:gd name="T22" fmla="*/ 1 w 1623"/>
                <a:gd name="T23" fmla="*/ 0 h 2907"/>
                <a:gd name="T24" fmla="*/ 1 w 1623"/>
                <a:gd name="T25" fmla="*/ 0 h 2907"/>
                <a:gd name="T26" fmla="*/ 1 w 1623"/>
                <a:gd name="T27" fmla="*/ 0 h 2907"/>
                <a:gd name="T28" fmla="*/ 1 w 1623"/>
                <a:gd name="T29" fmla="*/ 0 h 2907"/>
                <a:gd name="T30" fmla="*/ 1 w 1623"/>
                <a:gd name="T31" fmla="*/ 0 h 2907"/>
                <a:gd name="T32" fmla="*/ 1 w 1623"/>
                <a:gd name="T33" fmla="*/ 0 h 2907"/>
                <a:gd name="T34" fmla="*/ 1 w 1623"/>
                <a:gd name="T35" fmla="*/ 0 h 2907"/>
                <a:gd name="T36" fmla="*/ 1 w 1623"/>
                <a:gd name="T37" fmla="*/ 0 h 2907"/>
                <a:gd name="T38" fmla="*/ 1 w 1623"/>
                <a:gd name="T39" fmla="*/ 0 h 2907"/>
                <a:gd name="T40" fmla="*/ 1 w 1623"/>
                <a:gd name="T41" fmla="*/ 0 h 2907"/>
                <a:gd name="T42" fmla="*/ 1 w 1623"/>
                <a:gd name="T43" fmla="*/ 0 h 2907"/>
                <a:gd name="T44" fmla="*/ 1 w 1623"/>
                <a:gd name="T45" fmla="*/ 0 h 2907"/>
                <a:gd name="T46" fmla="*/ 1 w 1623"/>
                <a:gd name="T47" fmla="*/ 0 h 2907"/>
                <a:gd name="T48" fmla="*/ 1 w 1623"/>
                <a:gd name="T49" fmla="*/ 0 h 2907"/>
                <a:gd name="T50" fmla="*/ 1 w 1623"/>
                <a:gd name="T51" fmla="*/ 0 h 2907"/>
                <a:gd name="T52" fmla="*/ 1 w 1623"/>
                <a:gd name="T53" fmla="*/ 0 h 2907"/>
                <a:gd name="T54" fmla="*/ 1 w 1623"/>
                <a:gd name="T55" fmla="*/ 0 h 2907"/>
                <a:gd name="T56" fmla="*/ 1 w 1623"/>
                <a:gd name="T57" fmla="*/ 0 h 2907"/>
                <a:gd name="T58" fmla="*/ 1 w 1623"/>
                <a:gd name="T59" fmla="*/ 0 h 2907"/>
                <a:gd name="T60" fmla="*/ 1 w 1623"/>
                <a:gd name="T61" fmla="*/ 0 h 2907"/>
                <a:gd name="T62" fmla="*/ 1 w 1623"/>
                <a:gd name="T63" fmla="*/ 0 h 2907"/>
                <a:gd name="T64" fmla="*/ 1 w 1623"/>
                <a:gd name="T65" fmla="*/ 0 h 2907"/>
                <a:gd name="T66" fmla="*/ 1 w 1623"/>
                <a:gd name="T67" fmla="*/ 0 h 2907"/>
                <a:gd name="T68" fmla="*/ 1 w 1623"/>
                <a:gd name="T69" fmla="*/ 0 h 2907"/>
                <a:gd name="T70" fmla="*/ 1 w 1623"/>
                <a:gd name="T71" fmla="*/ 0 h 2907"/>
                <a:gd name="T72" fmla="*/ 1 w 1623"/>
                <a:gd name="T73" fmla="*/ 0 h 2907"/>
                <a:gd name="T74" fmla="*/ 1 w 1623"/>
                <a:gd name="T75" fmla="*/ 0 h 2907"/>
                <a:gd name="T76" fmla="*/ 0 w 1623"/>
                <a:gd name="T77" fmla="*/ 0 h 2907"/>
                <a:gd name="T78" fmla="*/ 1 w 1623"/>
                <a:gd name="T79" fmla="*/ 0 h 2907"/>
                <a:gd name="T80" fmla="*/ 1 w 1623"/>
                <a:gd name="T81" fmla="*/ 0 h 2907"/>
                <a:gd name="T82" fmla="*/ 1 w 1623"/>
                <a:gd name="T83" fmla="*/ 0 h 290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23"/>
                <a:gd name="T127" fmla="*/ 0 h 2907"/>
                <a:gd name="T128" fmla="*/ 1623 w 1623"/>
                <a:gd name="T129" fmla="*/ 2907 h 290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23" h="2907">
                  <a:moveTo>
                    <a:pt x="1538" y="2864"/>
                  </a:moveTo>
                  <a:lnTo>
                    <a:pt x="1570" y="2852"/>
                  </a:lnTo>
                  <a:lnTo>
                    <a:pt x="1595" y="2816"/>
                  </a:lnTo>
                  <a:lnTo>
                    <a:pt x="1620" y="2688"/>
                  </a:lnTo>
                  <a:lnTo>
                    <a:pt x="1623" y="2604"/>
                  </a:lnTo>
                  <a:lnTo>
                    <a:pt x="1623" y="2558"/>
                  </a:lnTo>
                  <a:lnTo>
                    <a:pt x="1621" y="2506"/>
                  </a:lnTo>
                  <a:lnTo>
                    <a:pt x="1601" y="2289"/>
                  </a:lnTo>
                  <a:lnTo>
                    <a:pt x="1522" y="1849"/>
                  </a:lnTo>
                  <a:lnTo>
                    <a:pt x="1475" y="1668"/>
                  </a:lnTo>
                  <a:lnTo>
                    <a:pt x="1427" y="1542"/>
                  </a:lnTo>
                  <a:lnTo>
                    <a:pt x="1372" y="1499"/>
                  </a:lnTo>
                  <a:lnTo>
                    <a:pt x="1308" y="1470"/>
                  </a:lnTo>
                  <a:lnTo>
                    <a:pt x="1128" y="1365"/>
                  </a:lnTo>
                  <a:lnTo>
                    <a:pt x="1022" y="1305"/>
                  </a:lnTo>
                  <a:lnTo>
                    <a:pt x="966" y="1266"/>
                  </a:lnTo>
                  <a:lnTo>
                    <a:pt x="927" y="1219"/>
                  </a:lnTo>
                  <a:lnTo>
                    <a:pt x="913" y="1131"/>
                  </a:lnTo>
                  <a:lnTo>
                    <a:pt x="913" y="1109"/>
                  </a:lnTo>
                  <a:lnTo>
                    <a:pt x="913" y="1083"/>
                  </a:lnTo>
                  <a:lnTo>
                    <a:pt x="922" y="1040"/>
                  </a:lnTo>
                  <a:lnTo>
                    <a:pt x="947" y="940"/>
                  </a:lnTo>
                  <a:lnTo>
                    <a:pt x="1012" y="869"/>
                  </a:lnTo>
                  <a:lnTo>
                    <a:pt x="1034" y="758"/>
                  </a:lnTo>
                  <a:lnTo>
                    <a:pt x="1047" y="640"/>
                  </a:lnTo>
                  <a:lnTo>
                    <a:pt x="1043" y="615"/>
                  </a:lnTo>
                  <a:lnTo>
                    <a:pt x="1032" y="596"/>
                  </a:lnTo>
                  <a:lnTo>
                    <a:pt x="1016" y="549"/>
                  </a:lnTo>
                  <a:lnTo>
                    <a:pt x="1016" y="481"/>
                  </a:lnTo>
                  <a:lnTo>
                    <a:pt x="1012" y="393"/>
                  </a:lnTo>
                  <a:lnTo>
                    <a:pt x="984" y="241"/>
                  </a:lnTo>
                  <a:lnTo>
                    <a:pt x="909" y="133"/>
                  </a:lnTo>
                  <a:lnTo>
                    <a:pt x="817" y="52"/>
                  </a:lnTo>
                  <a:lnTo>
                    <a:pt x="725" y="17"/>
                  </a:lnTo>
                  <a:lnTo>
                    <a:pt x="630" y="0"/>
                  </a:lnTo>
                  <a:lnTo>
                    <a:pt x="614" y="1"/>
                  </a:lnTo>
                  <a:lnTo>
                    <a:pt x="595" y="8"/>
                  </a:lnTo>
                  <a:lnTo>
                    <a:pt x="553" y="36"/>
                  </a:lnTo>
                  <a:lnTo>
                    <a:pt x="480" y="99"/>
                  </a:lnTo>
                  <a:lnTo>
                    <a:pt x="446" y="192"/>
                  </a:lnTo>
                  <a:lnTo>
                    <a:pt x="418" y="299"/>
                  </a:lnTo>
                  <a:lnTo>
                    <a:pt x="412" y="352"/>
                  </a:lnTo>
                  <a:lnTo>
                    <a:pt x="416" y="433"/>
                  </a:lnTo>
                  <a:lnTo>
                    <a:pt x="421" y="515"/>
                  </a:lnTo>
                  <a:lnTo>
                    <a:pt x="422" y="549"/>
                  </a:lnTo>
                  <a:lnTo>
                    <a:pt x="422" y="576"/>
                  </a:lnTo>
                  <a:lnTo>
                    <a:pt x="409" y="596"/>
                  </a:lnTo>
                  <a:lnTo>
                    <a:pt x="400" y="602"/>
                  </a:lnTo>
                  <a:lnTo>
                    <a:pt x="395" y="618"/>
                  </a:lnTo>
                  <a:lnTo>
                    <a:pt x="420" y="830"/>
                  </a:lnTo>
                  <a:lnTo>
                    <a:pt x="453" y="887"/>
                  </a:lnTo>
                  <a:lnTo>
                    <a:pt x="488" y="927"/>
                  </a:lnTo>
                  <a:lnTo>
                    <a:pt x="525" y="1015"/>
                  </a:lnTo>
                  <a:lnTo>
                    <a:pt x="535" y="1035"/>
                  </a:lnTo>
                  <a:lnTo>
                    <a:pt x="542" y="1123"/>
                  </a:lnTo>
                  <a:lnTo>
                    <a:pt x="542" y="1203"/>
                  </a:lnTo>
                  <a:lnTo>
                    <a:pt x="507" y="1236"/>
                  </a:lnTo>
                  <a:lnTo>
                    <a:pt x="445" y="1266"/>
                  </a:lnTo>
                  <a:lnTo>
                    <a:pt x="418" y="1274"/>
                  </a:lnTo>
                  <a:lnTo>
                    <a:pt x="398" y="1274"/>
                  </a:lnTo>
                  <a:lnTo>
                    <a:pt x="377" y="1274"/>
                  </a:lnTo>
                  <a:lnTo>
                    <a:pt x="338" y="1272"/>
                  </a:lnTo>
                  <a:lnTo>
                    <a:pt x="322" y="1272"/>
                  </a:lnTo>
                  <a:lnTo>
                    <a:pt x="307" y="1272"/>
                  </a:lnTo>
                  <a:lnTo>
                    <a:pt x="292" y="1272"/>
                  </a:lnTo>
                  <a:lnTo>
                    <a:pt x="270" y="1272"/>
                  </a:lnTo>
                  <a:lnTo>
                    <a:pt x="214" y="1262"/>
                  </a:lnTo>
                  <a:lnTo>
                    <a:pt x="159" y="1255"/>
                  </a:lnTo>
                  <a:lnTo>
                    <a:pt x="137" y="1253"/>
                  </a:lnTo>
                  <a:lnTo>
                    <a:pt x="118" y="1255"/>
                  </a:lnTo>
                  <a:lnTo>
                    <a:pt x="108" y="1284"/>
                  </a:lnTo>
                  <a:lnTo>
                    <a:pt x="103" y="1344"/>
                  </a:lnTo>
                  <a:lnTo>
                    <a:pt x="89" y="1448"/>
                  </a:lnTo>
                  <a:lnTo>
                    <a:pt x="60" y="1532"/>
                  </a:lnTo>
                  <a:lnTo>
                    <a:pt x="42" y="1626"/>
                  </a:lnTo>
                  <a:lnTo>
                    <a:pt x="4" y="2101"/>
                  </a:lnTo>
                  <a:lnTo>
                    <a:pt x="0" y="2553"/>
                  </a:lnTo>
                  <a:lnTo>
                    <a:pt x="0" y="2780"/>
                  </a:lnTo>
                  <a:lnTo>
                    <a:pt x="4" y="2880"/>
                  </a:lnTo>
                  <a:lnTo>
                    <a:pt x="305" y="2903"/>
                  </a:lnTo>
                  <a:lnTo>
                    <a:pt x="477" y="2907"/>
                  </a:lnTo>
                  <a:lnTo>
                    <a:pt x="568" y="2907"/>
                  </a:lnTo>
                  <a:lnTo>
                    <a:pt x="615" y="2907"/>
                  </a:lnTo>
                  <a:lnTo>
                    <a:pt x="664" y="2907"/>
                  </a:lnTo>
                  <a:lnTo>
                    <a:pt x="1538" y="2864"/>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5" name="Freeform 10"/>
            <p:cNvSpPr>
              <a:spLocks/>
            </p:cNvSpPr>
            <p:nvPr/>
          </p:nvSpPr>
          <p:spPr bwMode="auto">
            <a:xfrm>
              <a:off x="1546" y="1992"/>
              <a:ext cx="820" cy="1005"/>
            </a:xfrm>
            <a:custGeom>
              <a:avLst/>
              <a:gdLst>
                <a:gd name="T0" fmla="*/ 1 w 1639"/>
                <a:gd name="T1" fmla="*/ 0 h 3014"/>
                <a:gd name="T2" fmla="*/ 1 w 1639"/>
                <a:gd name="T3" fmla="*/ 0 h 3014"/>
                <a:gd name="T4" fmla="*/ 0 w 1639"/>
                <a:gd name="T5" fmla="*/ 0 h 3014"/>
                <a:gd name="T6" fmla="*/ 1 w 1639"/>
                <a:gd name="T7" fmla="*/ 0 h 3014"/>
                <a:gd name="T8" fmla="*/ 1 w 1639"/>
                <a:gd name="T9" fmla="*/ 0 h 3014"/>
                <a:gd name="T10" fmla="*/ 1 w 1639"/>
                <a:gd name="T11" fmla="*/ 0 h 3014"/>
                <a:gd name="T12" fmla="*/ 1 w 1639"/>
                <a:gd name="T13" fmla="*/ 0 h 3014"/>
                <a:gd name="T14" fmla="*/ 1 w 1639"/>
                <a:gd name="T15" fmla="*/ 0 h 3014"/>
                <a:gd name="T16" fmla="*/ 1 w 1639"/>
                <a:gd name="T17" fmla="*/ 0 h 3014"/>
                <a:gd name="T18" fmla="*/ 1 w 1639"/>
                <a:gd name="T19" fmla="*/ 0 h 3014"/>
                <a:gd name="T20" fmla="*/ 1 w 1639"/>
                <a:gd name="T21" fmla="*/ 0 h 3014"/>
                <a:gd name="T22" fmla="*/ 1 w 1639"/>
                <a:gd name="T23" fmla="*/ 0 h 3014"/>
                <a:gd name="T24" fmla="*/ 1 w 1639"/>
                <a:gd name="T25" fmla="*/ 0 h 3014"/>
                <a:gd name="T26" fmla="*/ 1 w 1639"/>
                <a:gd name="T27" fmla="*/ 0 h 3014"/>
                <a:gd name="T28" fmla="*/ 1 w 1639"/>
                <a:gd name="T29" fmla="*/ 0 h 3014"/>
                <a:gd name="T30" fmla="*/ 1 w 1639"/>
                <a:gd name="T31" fmla="*/ 0 h 3014"/>
                <a:gd name="T32" fmla="*/ 1 w 1639"/>
                <a:gd name="T33" fmla="*/ 0 h 3014"/>
                <a:gd name="T34" fmla="*/ 1 w 1639"/>
                <a:gd name="T35" fmla="*/ 0 h 3014"/>
                <a:gd name="T36" fmla="*/ 1 w 1639"/>
                <a:gd name="T37" fmla="*/ 0 h 3014"/>
                <a:gd name="T38" fmla="*/ 1 w 1639"/>
                <a:gd name="T39" fmla="*/ 0 h 3014"/>
                <a:gd name="T40" fmla="*/ 1 w 1639"/>
                <a:gd name="T41" fmla="*/ 0 h 3014"/>
                <a:gd name="T42" fmla="*/ 1 w 1639"/>
                <a:gd name="T43" fmla="*/ 0 h 3014"/>
                <a:gd name="T44" fmla="*/ 1 w 1639"/>
                <a:gd name="T45" fmla="*/ 0 h 3014"/>
                <a:gd name="T46" fmla="*/ 1 w 1639"/>
                <a:gd name="T47" fmla="*/ 0 h 3014"/>
                <a:gd name="T48" fmla="*/ 1 w 1639"/>
                <a:gd name="T49" fmla="*/ 0 h 3014"/>
                <a:gd name="T50" fmla="*/ 1 w 1639"/>
                <a:gd name="T51" fmla="*/ 0 h 3014"/>
                <a:gd name="T52" fmla="*/ 1 w 1639"/>
                <a:gd name="T53" fmla="*/ 0 h 3014"/>
                <a:gd name="T54" fmla="*/ 1 w 1639"/>
                <a:gd name="T55" fmla="*/ 0 h 3014"/>
                <a:gd name="T56" fmla="*/ 1 w 1639"/>
                <a:gd name="T57" fmla="*/ 0 h 3014"/>
                <a:gd name="T58" fmla="*/ 1 w 1639"/>
                <a:gd name="T59" fmla="*/ 0 h 3014"/>
                <a:gd name="T60" fmla="*/ 1 w 1639"/>
                <a:gd name="T61" fmla="*/ 0 h 3014"/>
                <a:gd name="T62" fmla="*/ 1 w 1639"/>
                <a:gd name="T63" fmla="*/ 0 h 3014"/>
                <a:gd name="T64" fmla="*/ 1 w 1639"/>
                <a:gd name="T65" fmla="*/ 0 h 3014"/>
                <a:gd name="T66" fmla="*/ 1 w 1639"/>
                <a:gd name="T67" fmla="*/ 0 h 30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39"/>
                <a:gd name="T103" fmla="*/ 0 h 3014"/>
                <a:gd name="T104" fmla="*/ 1639 w 1639"/>
                <a:gd name="T105" fmla="*/ 3014 h 30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39" h="3014">
                  <a:moveTo>
                    <a:pt x="156" y="3014"/>
                  </a:moveTo>
                  <a:lnTo>
                    <a:pt x="9" y="2958"/>
                  </a:lnTo>
                  <a:lnTo>
                    <a:pt x="0" y="1901"/>
                  </a:lnTo>
                  <a:lnTo>
                    <a:pt x="118" y="1674"/>
                  </a:lnTo>
                  <a:lnTo>
                    <a:pt x="316" y="1573"/>
                  </a:lnTo>
                  <a:lnTo>
                    <a:pt x="427" y="1488"/>
                  </a:lnTo>
                  <a:lnTo>
                    <a:pt x="551" y="1415"/>
                  </a:lnTo>
                  <a:lnTo>
                    <a:pt x="597" y="1310"/>
                  </a:lnTo>
                  <a:lnTo>
                    <a:pt x="606" y="1251"/>
                  </a:lnTo>
                  <a:lnTo>
                    <a:pt x="590" y="1184"/>
                  </a:lnTo>
                  <a:lnTo>
                    <a:pt x="499" y="1155"/>
                  </a:lnTo>
                  <a:lnTo>
                    <a:pt x="433" y="885"/>
                  </a:lnTo>
                  <a:lnTo>
                    <a:pt x="472" y="514"/>
                  </a:lnTo>
                  <a:lnTo>
                    <a:pt x="506" y="243"/>
                  </a:lnTo>
                  <a:lnTo>
                    <a:pt x="620" y="59"/>
                  </a:lnTo>
                  <a:lnTo>
                    <a:pt x="699" y="0"/>
                  </a:lnTo>
                  <a:lnTo>
                    <a:pt x="769" y="13"/>
                  </a:lnTo>
                  <a:lnTo>
                    <a:pt x="838" y="26"/>
                  </a:lnTo>
                  <a:lnTo>
                    <a:pt x="869" y="0"/>
                  </a:lnTo>
                  <a:lnTo>
                    <a:pt x="1020" y="118"/>
                  </a:lnTo>
                  <a:lnTo>
                    <a:pt x="1136" y="455"/>
                  </a:lnTo>
                  <a:lnTo>
                    <a:pt x="1215" y="750"/>
                  </a:lnTo>
                  <a:lnTo>
                    <a:pt x="1215" y="1013"/>
                  </a:lnTo>
                  <a:lnTo>
                    <a:pt x="1136" y="1189"/>
                  </a:lnTo>
                  <a:lnTo>
                    <a:pt x="1049" y="1262"/>
                  </a:lnTo>
                  <a:lnTo>
                    <a:pt x="1080" y="1333"/>
                  </a:lnTo>
                  <a:lnTo>
                    <a:pt x="1228" y="1465"/>
                  </a:lnTo>
                  <a:lnTo>
                    <a:pt x="1414" y="1488"/>
                  </a:lnTo>
                  <a:lnTo>
                    <a:pt x="1518" y="1561"/>
                  </a:lnTo>
                  <a:lnTo>
                    <a:pt x="1602" y="1631"/>
                  </a:lnTo>
                  <a:lnTo>
                    <a:pt x="1632" y="1801"/>
                  </a:lnTo>
                  <a:lnTo>
                    <a:pt x="1639" y="1940"/>
                  </a:lnTo>
                  <a:lnTo>
                    <a:pt x="1527" y="3013"/>
                  </a:lnTo>
                  <a:lnTo>
                    <a:pt x="156" y="3014"/>
                  </a:lnTo>
                  <a:close/>
                </a:path>
              </a:pathLst>
            </a:custGeom>
            <a:solidFill>
              <a:srgbClr val="808080"/>
            </a:solidFill>
            <a:ln w="1588">
              <a:solidFill>
                <a:srgbClr val="919191"/>
              </a:solidFill>
              <a:round/>
              <a:headEnd/>
              <a:tailEnd/>
            </a:ln>
          </p:spPr>
          <p:txBody>
            <a:bodyPr/>
            <a:lstStyle/>
            <a:p>
              <a:endParaRPr lang="en-GB"/>
            </a:p>
          </p:txBody>
        </p:sp>
        <p:sp>
          <p:nvSpPr>
            <p:cNvPr id="19466" name="Freeform 11"/>
            <p:cNvSpPr>
              <a:spLocks/>
            </p:cNvSpPr>
            <p:nvPr/>
          </p:nvSpPr>
          <p:spPr bwMode="auto">
            <a:xfrm>
              <a:off x="2825" y="1953"/>
              <a:ext cx="882" cy="924"/>
            </a:xfrm>
            <a:custGeom>
              <a:avLst/>
              <a:gdLst>
                <a:gd name="T0" fmla="*/ 0 w 1765"/>
                <a:gd name="T1" fmla="*/ 0 h 2774"/>
                <a:gd name="T2" fmla="*/ 0 w 1765"/>
                <a:gd name="T3" fmla="*/ 0 h 2774"/>
                <a:gd name="T4" fmla="*/ 0 w 1765"/>
                <a:gd name="T5" fmla="*/ 0 h 2774"/>
                <a:gd name="T6" fmla="*/ 0 w 1765"/>
                <a:gd name="T7" fmla="*/ 0 h 2774"/>
                <a:gd name="T8" fmla="*/ 0 w 1765"/>
                <a:gd name="T9" fmla="*/ 0 h 2774"/>
                <a:gd name="T10" fmla="*/ 0 w 1765"/>
                <a:gd name="T11" fmla="*/ 0 h 2774"/>
                <a:gd name="T12" fmla="*/ 0 w 1765"/>
                <a:gd name="T13" fmla="*/ 0 h 2774"/>
                <a:gd name="T14" fmla="*/ 0 w 1765"/>
                <a:gd name="T15" fmla="*/ 0 h 2774"/>
                <a:gd name="T16" fmla="*/ 0 w 1765"/>
                <a:gd name="T17" fmla="*/ 0 h 2774"/>
                <a:gd name="T18" fmla="*/ 0 w 1765"/>
                <a:gd name="T19" fmla="*/ 0 h 2774"/>
                <a:gd name="T20" fmla="*/ 0 w 1765"/>
                <a:gd name="T21" fmla="*/ 0 h 2774"/>
                <a:gd name="T22" fmla="*/ 0 w 1765"/>
                <a:gd name="T23" fmla="*/ 0 h 2774"/>
                <a:gd name="T24" fmla="*/ 0 w 1765"/>
                <a:gd name="T25" fmla="*/ 0 h 2774"/>
                <a:gd name="T26" fmla="*/ 0 w 1765"/>
                <a:gd name="T27" fmla="*/ 0 h 2774"/>
                <a:gd name="T28" fmla="*/ 0 w 1765"/>
                <a:gd name="T29" fmla="*/ 0 h 2774"/>
                <a:gd name="T30" fmla="*/ 0 w 1765"/>
                <a:gd name="T31" fmla="*/ 0 h 2774"/>
                <a:gd name="T32" fmla="*/ 0 w 1765"/>
                <a:gd name="T33" fmla="*/ 0 h 2774"/>
                <a:gd name="T34" fmla="*/ 0 w 1765"/>
                <a:gd name="T35" fmla="*/ 0 h 2774"/>
                <a:gd name="T36" fmla="*/ 0 w 1765"/>
                <a:gd name="T37" fmla="*/ 0 h 2774"/>
                <a:gd name="T38" fmla="*/ 0 w 1765"/>
                <a:gd name="T39" fmla="*/ 0 h 2774"/>
                <a:gd name="T40" fmla="*/ 0 w 1765"/>
                <a:gd name="T41" fmla="*/ 0 h 2774"/>
                <a:gd name="T42" fmla="*/ 0 w 1765"/>
                <a:gd name="T43" fmla="*/ 0 h 2774"/>
                <a:gd name="T44" fmla="*/ 0 w 1765"/>
                <a:gd name="T45" fmla="*/ 0 h 2774"/>
                <a:gd name="T46" fmla="*/ 0 w 1765"/>
                <a:gd name="T47" fmla="*/ 0 h 2774"/>
                <a:gd name="T48" fmla="*/ 0 w 1765"/>
                <a:gd name="T49" fmla="*/ 0 h 2774"/>
                <a:gd name="T50" fmla="*/ 0 w 1765"/>
                <a:gd name="T51" fmla="*/ 0 h 2774"/>
                <a:gd name="T52" fmla="*/ 0 w 1765"/>
                <a:gd name="T53" fmla="*/ 0 h 2774"/>
                <a:gd name="T54" fmla="*/ 0 w 1765"/>
                <a:gd name="T55" fmla="*/ 0 h 2774"/>
                <a:gd name="T56" fmla="*/ 0 w 1765"/>
                <a:gd name="T57" fmla="*/ 0 h 2774"/>
                <a:gd name="T58" fmla="*/ 0 w 1765"/>
                <a:gd name="T59" fmla="*/ 0 h 2774"/>
                <a:gd name="T60" fmla="*/ 0 w 1765"/>
                <a:gd name="T61" fmla="*/ 0 h 2774"/>
                <a:gd name="T62" fmla="*/ 0 w 1765"/>
                <a:gd name="T63" fmla="*/ 0 h 2774"/>
                <a:gd name="T64" fmla="*/ 0 w 1765"/>
                <a:gd name="T65" fmla="*/ 0 h 2774"/>
                <a:gd name="T66" fmla="*/ 0 w 1765"/>
                <a:gd name="T67" fmla="*/ 0 h 2774"/>
                <a:gd name="T68" fmla="*/ 0 w 1765"/>
                <a:gd name="T69" fmla="*/ 0 h 2774"/>
                <a:gd name="T70" fmla="*/ 0 w 1765"/>
                <a:gd name="T71" fmla="*/ 0 h 2774"/>
                <a:gd name="T72" fmla="*/ 0 w 1765"/>
                <a:gd name="T73" fmla="*/ 0 h 2774"/>
                <a:gd name="T74" fmla="*/ 0 w 1765"/>
                <a:gd name="T75" fmla="*/ 0 h 277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5"/>
                <a:gd name="T115" fmla="*/ 0 h 2774"/>
                <a:gd name="T116" fmla="*/ 1765 w 1765"/>
                <a:gd name="T117" fmla="*/ 2774 h 277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5" h="2774">
                  <a:moveTo>
                    <a:pt x="0" y="2722"/>
                  </a:moveTo>
                  <a:lnTo>
                    <a:pt x="81" y="1843"/>
                  </a:lnTo>
                  <a:lnTo>
                    <a:pt x="127" y="1713"/>
                  </a:lnTo>
                  <a:lnTo>
                    <a:pt x="198" y="1528"/>
                  </a:lnTo>
                  <a:lnTo>
                    <a:pt x="282" y="1507"/>
                  </a:lnTo>
                  <a:lnTo>
                    <a:pt x="446" y="1473"/>
                  </a:lnTo>
                  <a:lnTo>
                    <a:pt x="525" y="1425"/>
                  </a:lnTo>
                  <a:lnTo>
                    <a:pt x="591" y="1367"/>
                  </a:lnTo>
                  <a:lnTo>
                    <a:pt x="617" y="1208"/>
                  </a:lnTo>
                  <a:lnTo>
                    <a:pt x="538" y="996"/>
                  </a:lnTo>
                  <a:lnTo>
                    <a:pt x="485" y="977"/>
                  </a:lnTo>
                  <a:lnTo>
                    <a:pt x="438" y="748"/>
                  </a:lnTo>
                  <a:lnTo>
                    <a:pt x="470" y="689"/>
                  </a:lnTo>
                  <a:lnTo>
                    <a:pt x="454" y="462"/>
                  </a:lnTo>
                  <a:lnTo>
                    <a:pt x="460" y="248"/>
                  </a:lnTo>
                  <a:lnTo>
                    <a:pt x="518" y="164"/>
                  </a:lnTo>
                  <a:lnTo>
                    <a:pt x="634" y="20"/>
                  </a:lnTo>
                  <a:lnTo>
                    <a:pt x="727" y="0"/>
                  </a:lnTo>
                  <a:lnTo>
                    <a:pt x="850" y="0"/>
                  </a:lnTo>
                  <a:lnTo>
                    <a:pt x="945" y="57"/>
                  </a:lnTo>
                  <a:lnTo>
                    <a:pt x="1024" y="164"/>
                  </a:lnTo>
                  <a:lnTo>
                    <a:pt x="1078" y="340"/>
                  </a:lnTo>
                  <a:lnTo>
                    <a:pt x="1090" y="495"/>
                  </a:lnTo>
                  <a:lnTo>
                    <a:pt x="1090" y="628"/>
                  </a:lnTo>
                  <a:lnTo>
                    <a:pt x="1138" y="651"/>
                  </a:lnTo>
                  <a:lnTo>
                    <a:pt x="1122" y="865"/>
                  </a:lnTo>
                  <a:lnTo>
                    <a:pt x="1054" y="902"/>
                  </a:lnTo>
                  <a:lnTo>
                    <a:pt x="1038" y="1032"/>
                  </a:lnTo>
                  <a:lnTo>
                    <a:pt x="1013" y="1178"/>
                  </a:lnTo>
                  <a:lnTo>
                    <a:pt x="1031" y="1292"/>
                  </a:lnTo>
                  <a:lnTo>
                    <a:pt x="1118" y="1367"/>
                  </a:lnTo>
                  <a:lnTo>
                    <a:pt x="1233" y="1411"/>
                  </a:lnTo>
                  <a:lnTo>
                    <a:pt x="1397" y="1447"/>
                  </a:lnTo>
                  <a:lnTo>
                    <a:pt x="1512" y="1458"/>
                  </a:lnTo>
                  <a:lnTo>
                    <a:pt x="1575" y="1578"/>
                  </a:lnTo>
                  <a:lnTo>
                    <a:pt x="1622" y="1687"/>
                  </a:lnTo>
                  <a:lnTo>
                    <a:pt x="1765" y="2774"/>
                  </a:lnTo>
                  <a:lnTo>
                    <a:pt x="0" y="2722"/>
                  </a:lnTo>
                  <a:close/>
                </a:path>
              </a:pathLst>
            </a:custGeom>
            <a:solidFill>
              <a:srgbClr val="808080"/>
            </a:solidFill>
            <a:ln w="1588">
              <a:solidFill>
                <a:srgbClr val="919191"/>
              </a:solidFill>
              <a:round/>
              <a:headEnd/>
              <a:tailEnd/>
            </a:ln>
          </p:spPr>
          <p:txBody>
            <a:bodyPr/>
            <a:lstStyle/>
            <a:p>
              <a:endParaRPr lang="en-GB"/>
            </a:p>
          </p:txBody>
        </p:sp>
        <p:sp>
          <p:nvSpPr>
            <p:cNvPr id="19467" name="Freeform 12"/>
            <p:cNvSpPr>
              <a:spLocks/>
            </p:cNvSpPr>
            <p:nvPr/>
          </p:nvSpPr>
          <p:spPr bwMode="auto">
            <a:xfrm>
              <a:off x="2464" y="2105"/>
              <a:ext cx="814" cy="1037"/>
            </a:xfrm>
            <a:custGeom>
              <a:avLst/>
              <a:gdLst>
                <a:gd name="T0" fmla="*/ 1 w 1626"/>
                <a:gd name="T1" fmla="*/ 0 h 3111"/>
                <a:gd name="T2" fmla="*/ 0 w 1626"/>
                <a:gd name="T3" fmla="*/ 0 h 3111"/>
                <a:gd name="T4" fmla="*/ 1 w 1626"/>
                <a:gd name="T5" fmla="*/ 0 h 3111"/>
                <a:gd name="T6" fmla="*/ 1 w 1626"/>
                <a:gd name="T7" fmla="*/ 0 h 3111"/>
                <a:gd name="T8" fmla="*/ 1 w 1626"/>
                <a:gd name="T9" fmla="*/ 0 h 3111"/>
                <a:gd name="T10" fmla="*/ 1 w 1626"/>
                <a:gd name="T11" fmla="*/ 0 h 3111"/>
                <a:gd name="T12" fmla="*/ 1 w 1626"/>
                <a:gd name="T13" fmla="*/ 0 h 3111"/>
                <a:gd name="T14" fmla="*/ 1 w 1626"/>
                <a:gd name="T15" fmla="*/ 0 h 3111"/>
                <a:gd name="T16" fmla="*/ 1 w 1626"/>
                <a:gd name="T17" fmla="*/ 0 h 3111"/>
                <a:gd name="T18" fmla="*/ 1 w 1626"/>
                <a:gd name="T19" fmla="*/ 0 h 3111"/>
                <a:gd name="T20" fmla="*/ 1 w 1626"/>
                <a:gd name="T21" fmla="*/ 0 h 3111"/>
                <a:gd name="T22" fmla="*/ 1 w 1626"/>
                <a:gd name="T23" fmla="*/ 0 h 3111"/>
                <a:gd name="T24" fmla="*/ 1 w 1626"/>
                <a:gd name="T25" fmla="*/ 0 h 3111"/>
                <a:gd name="T26" fmla="*/ 1 w 1626"/>
                <a:gd name="T27" fmla="*/ 0 h 3111"/>
                <a:gd name="T28" fmla="*/ 1 w 1626"/>
                <a:gd name="T29" fmla="*/ 0 h 3111"/>
                <a:gd name="T30" fmla="*/ 1 w 1626"/>
                <a:gd name="T31" fmla="*/ 0 h 3111"/>
                <a:gd name="T32" fmla="*/ 1 w 1626"/>
                <a:gd name="T33" fmla="*/ 0 h 3111"/>
                <a:gd name="T34" fmla="*/ 1 w 1626"/>
                <a:gd name="T35" fmla="*/ 0 h 3111"/>
                <a:gd name="T36" fmla="*/ 1 w 1626"/>
                <a:gd name="T37" fmla="*/ 0 h 3111"/>
                <a:gd name="T38" fmla="*/ 1 w 1626"/>
                <a:gd name="T39" fmla="*/ 0 h 3111"/>
                <a:gd name="T40" fmla="*/ 1 w 1626"/>
                <a:gd name="T41" fmla="*/ 0 h 3111"/>
                <a:gd name="T42" fmla="*/ 1 w 1626"/>
                <a:gd name="T43" fmla="*/ 0 h 3111"/>
                <a:gd name="T44" fmla="*/ 1 w 1626"/>
                <a:gd name="T45" fmla="*/ 0 h 3111"/>
                <a:gd name="T46" fmla="*/ 1 w 1626"/>
                <a:gd name="T47" fmla="*/ 0 h 3111"/>
                <a:gd name="T48" fmla="*/ 1 w 1626"/>
                <a:gd name="T49" fmla="*/ 0 h 3111"/>
                <a:gd name="T50" fmla="*/ 1 w 1626"/>
                <a:gd name="T51" fmla="*/ 0 h 3111"/>
                <a:gd name="T52" fmla="*/ 1 w 1626"/>
                <a:gd name="T53" fmla="*/ 0 h 3111"/>
                <a:gd name="T54" fmla="*/ 1 w 1626"/>
                <a:gd name="T55" fmla="*/ 0 h 3111"/>
                <a:gd name="T56" fmla="*/ 1 w 1626"/>
                <a:gd name="T57" fmla="*/ 0 h 3111"/>
                <a:gd name="T58" fmla="*/ 1 w 1626"/>
                <a:gd name="T59" fmla="*/ 0 h 3111"/>
                <a:gd name="T60" fmla="*/ 1 w 1626"/>
                <a:gd name="T61" fmla="*/ 0 h 3111"/>
                <a:gd name="T62" fmla="*/ 1 w 1626"/>
                <a:gd name="T63" fmla="*/ 0 h 3111"/>
                <a:gd name="T64" fmla="*/ 1 w 1626"/>
                <a:gd name="T65" fmla="*/ 0 h 3111"/>
                <a:gd name="T66" fmla="*/ 1 w 1626"/>
                <a:gd name="T67" fmla="*/ 0 h 3111"/>
                <a:gd name="T68" fmla="*/ 1 w 1626"/>
                <a:gd name="T69" fmla="*/ 0 h 3111"/>
                <a:gd name="T70" fmla="*/ 1 w 1626"/>
                <a:gd name="T71" fmla="*/ 0 h 3111"/>
                <a:gd name="T72" fmla="*/ 1 w 1626"/>
                <a:gd name="T73" fmla="*/ 0 h 311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26"/>
                <a:gd name="T112" fmla="*/ 0 h 3111"/>
                <a:gd name="T113" fmla="*/ 1626 w 1626"/>
                <a:gd name="T114" fmla="*/ 3111 h 311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26" h="3111">
                  <a:moveTo>
                    <a:pt x="31" y="3081"/>
                  </a:moveTo>
                  <a:lnTo>
                    <a:pt x="17" y="3045"/>
                  </a:lnTo>
                  <a:lnTo>
                    <a:pt x="7" y="2945"/>
                  </a:lnTo>
                  <a:lnTo>
                    <a:pt x="0" y="2643"/>
                  </a:lnTo>
                  <a:lnTo>
                    <a:pt x="14" y="2143"/>
                  </a:lnTo>
                  <a:lnTo>
                    <a:pt x="31" y="2023"/>
                  </a:lnTo>
                  <a:lnTo>
                    <a:pt x="59" y="1911"/>
                  </a:lnTo>
                  <a:lnTo>
                    <a:pt x="135" y="1837"/>
                  </a:lnTo>
                  <a:lnTo>
                    <a:pt x="268" y="1733"/>
                  </a:lnTo>
                  <a:lnTo>
                    <a:pt x="403" y="1632"/>
                  </a:lnTo>
                  <a:lnTo>
                    <a:pt x="483" y="1557"/>
                  </a:lnTo>
                  <a:lnTo>
                    <a:pt x="460" y="1521"/>
                  </a:lnTo>
                  <a:lnTo>
                    <a:pt x="383" y="1456"/>
                  </a:lnTo>
                  <a:lnTo>
                    <a:pt x="302" y="1389"/>
                  </a:lnTo>
                  <a:lnTo>
                    <a:pt x="263" y="1337"/>
                  </a:lnTo>
                  <a:lnTo>
                    <a:pt x="269" y="1319"/>
                  </a:lnTo>
                  <a:lnTo>
                    <a:pt x="286" y="1316"/>
                  </a:lnTo>
                  <a:lnTo>
                    <a:pt x="300" y="1313"/>
                  </a:lnTo>
                  <a:lnTo>
                    <a:pt x="306" y="1294"/>
                  </a:lnTo>
                  <a:lnTo>
                    <a:pt x="301" y="1259"/>
                  </a:lnTo>
                  <a:lnTo>
                    <a:pt x="291" y="1251"/>
                  </a:lnTo>
                  <a:lnTo>
                    <a:pt x="284" y="1242"/>
                  </a:lnTo>
                  <a:lnTo>
                    <a:pt x="283" y="1231"/>
                  </a:lnTo>
                  <a:lnTo>
                    <a:pt x="284" y="1207"/>
                  </a:lnTo>
                  <a:lnTo>
                    <a:pt x="313" y="1015"/>
                  </a:lnTo>
                  <a:lnTo>
                    <a:pt x="330" y="907"/>
                  </a:lnTo>
                  <a:lnTo>
                    <a:pt x="334" y="862"/>
                  </a:lnTo>
                  <a:lnTo>
                    <a:pt x="336" y="825"/>
                  </a:lnTo>
                  <a:lnTo>
                    <a:pt x="313" y="679"/>
                  </a:lnTo>
                  <a:lnTo>
                    <a:pt x="301" y="602"/>
                  </a:lnTo>
                  <a:lnTo>
                    <a:pt x="297" y="568"/>
                  </a:lnTo>
                  <a:lnTo>
                    <a:pt x="297" y="537"/>
                  </a:lnTo>
                  <a:lnTo>
                    <a:pt x="328" y="365"/>
                  </a:lnTo>
                  <a:lnTo>
                    <a:pt x="380" y="207"/>
                  </a:lnTo>
                  <a:lnTo>
                    <a:pt x="467" y="82"/>
                  </a:lnTo>
                  <a:lnTo>
                    <a:pt x="521" y="29"/>
                  </a:lnTo>
                  <a:lnTo>
                    <a:pt x="571" y="0"/>
                  </a:lnTo>
                  <a:lnTo>
                    <a:pt x="602" y="13"/>
                  </a:lnTo>
                  <a:lnTo>
                    <a:pt x="632" y="39"/>
                  </a:lnTo>
                  <a:lnTo>
                    <a:pt x="716" y="85"/>
                  </a:lnTo>
                  <a:lnTo>
                    <a:pt x="746" y="74"/>
                  </a:lnTo>
                  <a:lnTo>
                    <a:pt x="778" y="62"/>
                  </a:lnTo>
                  <a:lnTo>
                    <a:pt x="825" y="97"/>
                  </a:lnTo>
                  <a:lnTo>
                    <a:pt x="878" y="160"/>
                  </a:lnTo>
                  <a:lnTo>
                    <a:pt x="961" y="305"/>
                  </a:lnTo>
                  <a:lnTo>
                    <a:pt x="1008" y="468"/>
                  </a:lnTo>
                  <a:lnTo>
                    <a:pt x="1045" y="643"/>
                  </a:lnTo>
                  <a:lnTo>
                    <a:pt x="1089" y="994"/>
                  </a:lnTo>
                  <a:lnTo>
                    <a:pt x="1098" y="1270"/>
                  </a:lnTo>
                  <a:lnTo>
                    <a:pt x="1103" y="1366"/>
                  </a:lnTo>
                  <a:lnTo>
                    <a:pt x="1105" y="1421"/>
                  </a:lnTo>
                  <a:lnTo>
                    <a:pt x="1105" y="1444"/>
                  </a:lnTo>
                  <a:lnTo>
                    <a:pt x="1104" y="1467"/>
                  </a:lnTo>
                  <a:lnTo>
                    <a:pt x="1096" y="1501"/>
                  </a:lnTo>
                  <a:lnTo>
                    <a:pt x="1089" y="1538"/>
                  </a:lnTo>
                  <a:lnTo>
                    <a:pt x="1105" y="1571"/>
                  </a:lnTo>
                  <a:lnTo>
                    <a:pt x="1135" y="1606"/>
                  </a:lnTo>
                  <a:lnTo>
                    <a:pt x="1196" y="1658"/>
                  </a:lnTo>
                  <a:lnTo>
                    <a:pt x="1348" y="1785"/>
                  </a:lnTo>
                  <a:lnTo>
                    <a:pt x="1612" y="2325"/>
                  </a:lnTo>
                  <a:lnTo>
                    <a:pt x="1619" y="2437"/>
                  </a:lnTo>
                  <a:lnTo>
                    <a:pt x="1612" y="2454"/>
                  </a:lnTo>
                  <a:lnTo>
                    <a:pt x="1611" y="2487"/>
                  </a:lnTo>
                  <a:lnTo>
                    <a:pt x="1611" y="2513"/>
                  </a:lnTo>
                  <a:lnTo>
                    <a:pt x="1612" y="2552"/>
                  </a:lnTo>
                  <a:lnTo>
                    <a:pt x="1623" y="2887"/>
                  </a:lnTo>
                  <a:lnTo>
                    <a:pt x="1626" y="3034"/>
                  </a:lnTo>
                  <a:lnTo>
                    <a:pt x="1626" y="3059"/>
                  </a:lnTo>
                  <a:lnTo>
                    <a:pt x="1625" y="3079"/>
                  </a:lnTo>
                  <a:lnTo>
                    <a:pt x="1619" y="3098"/>
                  </a:lnTo>
                  <a:lnTo>
                    <a:pt x="787" y="3111"/>
                  </a:lnTo>
                  <a:lnTo>
                    <a:pt x="577" y="3111"/>
                  </a:lnTo>
                  <a:lnTo>
                    <a:pt x="476" y="3111"/>
                  </a:lnTo>
                  <a:lnTo>
                    <a:pt x="377" y="3108"/>
                  </a:lnTo>
                  <a:lnTo>
                    <a:pt x="31" y="3081"/>
                  </a:lnTo>
                  <a:close/>
                </a:path>
              </a:pathLst>
            </a:custGeom>
            <a:solidFill>
              <a:srgbClr val="C0C0C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8" name="Freeform 13"/>
            <p:cNvSpPr>
              <a:spLocks/>
            </p:cNvSpPr>
            <p:nvPr/>
          </p:nvSpPr>
          <p:spPr bwMode="auto">
            <a:xfrm>
              <a:off x="3226" y="2092"/>
              <a:ext cx="838" cy="1067"/>
            </a:xfrm>
            <a:custGeom>
              <a:avLst/>
              <a:gdLst>
                <a:gd name="T0" fmla="*/ 1 w 1675"/>
                <a:gd name="T1" fmla="*/ 0 h 3203"/>
                <a:gd name="T2" fmla="*/ 1 w 1675"/>
                <a:gd name="T3" fmla="*/ 0 h 3203"/>
                <a:gd name="T4" fmla="*/ 1 w 1675"/>
                <a:gd name="T5" fmla="*/ 0 h 3203"/>
                <a:gd name="T6" fmla="*/ 1 w 1675"/>
                <a:gd name="T7" fmla="*/ 0 h 3203"/>
                <a:gd name="T8" fmla="*/ 1 w 1675"/>
                <a:gd name="T9" fmla="*/ 0 h 3203"/>
                <a:gd name="T10" fmla="*/ 1 w 1675"/>
                <a:gd name="T11" fmla="*/ 0 h 3203"/>
                <a:gd name="T12" fmla="*/ 1 w 1675"/>
                <a:gd name="T13" fmla="*/ 0 h 3203"/>
                <a:gd name="T14" fmla="*/ 1 w 1675"/>
                <a:gd name="T15" fmla="*/ 0 h 3203"/>
                <a:gd name="T16" fmla="*/ 1 w 1675"/>
                <a:gd name="T17" fmla="*/ 0 h 3203"/>
                <a:gd name="T18" fmla="*/ 1 w 1675"/>
                <a:gd name="T19" fmla="*/ 0 h 3203"/>
                <a:gd name="T20" fmla="*/ 1 w 1675"/>
                <a:gd name="T21" fmla="*/ 0 h 3203"/>
                <a:gd name="T22" fmla="*/ 1 w 1675"/>
                <a:gd name="T23" fmla="*/ 0 h 3203"/>
                <a:gd name="T24" fmla="*/ 1 w 1675"/>
                <a:gd name="T25" fmla="*/ 0 h 3203"/>
                <a:gd name="T26" fmla="*/ 1 w 1675"/>
                <a:gd name="T27" fmla="*/ 0 h 3203"/>
                <a:gd name="T28" fmla="*/ 1 w 1675"/>
                <a:gd name="T29" fmla="*/ 0 h 3203"/>
                <a:gd name="T30" fmla="*/ 1 w 1675"/>
                <a:gd name="T31" fmla="*/ 0 h 3203"/>
                <a:gd name="T32" fmla="*/ 1 w 1675"/>
                <a:gd name="T33" fmla="*/ 0 h 3203"/>
                <a:gd name="T34" fmla="*/ 1 w 1675"/>
                <a:gd name="T35" fmla="*/ 0 h 3203"/>
                <a:gd name="T36" fmla="*/ 1 w 1675"/>
                <a:gd name="T37" fmla="*/ 0 h 3203"/>
                <a:gd name="T38" fmla="*/ 1 w 1675"/>
                <a:gd name="T39" fmla="*/ 0 h 3203"/>
                <a:gd name="T40" fmla="*/ 1 w 1675"/>
                <a:gd name="T41" fmla="*/ 0 h 3203"/>
                <a:gd name="T42" fmla="*/ 1 w 1675"/>
                <a:gd name="T43" fmla="*/ 0 h 3203"/>
                <a:gd name="T44" fmla="*/ 1 w 1675"/>
                <a:gd name="T45" fmla="*/ 0 h 3203"/>
                <a:gd name="T46" fmla="*/ 1 w 1675"/>
                <a:gd name="T47" fmla="*/ 0 h 3203"/>
                <a:gd name="T48" fmla="*/ 1 w 1675"/>
                <a:gd name="T49" fmla="*/ 0 h 3203"/>
                <a:gd name="T50" fmla="*/ 1 w 1675"/>
                <a:gd name="T51" fmla="*/ 0 h 3203"/>
                <a:gd name="T52" fmla="*/ 1 w 1675"/>
                <a:gd name="T53" fmla="*/ 0 h 3203"/>
                <a:gd name="T54" fmla="*/ 1 w 1675"/>
                <a:gd name="T55" fmla="*/ 0 h 3203"/>
                <a:gd name="T56" fmla="*/ 1 w 1675"/>
                <a:gd name="T57" fmla="*/ 0 h 3203"/>
                <a:gd name="T58" fmla="*/ 1 w 1675"/>
                <a:gd name="T59" fmla="*/ 0 h 3203"/>
                <a:gd name="T60" fmla="*/ 1 w 1675"/>
                <a:gd name="T61" fmla="*/ 0 h 3203"/>
                <a:gd name="T62" fmla="*/ 1 w 1675"/>
                <a:gd name="T63" fmla="*/ 0 h 3203"/>
                <a:gd name="T64" fmla="*/ 1 w 1675"/>
                <a:gd name="T65" fmla="*/ 0 h 3203"/>
                <a:gd name="T66" fmla="*/ 1 w 1675"/>
                <a:gd name="T67" fmla="*/ 0 h 3203"/>
                <a:gd name="T68" fmla="*/ 1 w 1675"/>
                <a:gd name="T69" fmla="*/ 0 h 3203"/>
                <a:gd name="T70" fmla="*/ 1 w 1675"/>
                <a:gd name="T71" fmla="*/ 0 h 3203"/>
                <a:gd name="T72" fmla="*/ 1 w 1675"/>
                <a:gd name="T73" fmla="*/ 0 h 3203"/>
                <a:gd name="T74" fmla="*/ 1 w 1675"/>
                <a:gd name="T75" fmla="*/ 0 h 3203"/>
                <a:gd name="T76" fmla="*/ 1 w 1675"/>
                <a:gd name="T77" fmla="*/ 0 h 3203"/>
                <a:gd name="T78" fmla="*/ 1 w 1675"/>
                <a:gd name="T79" fmla="*/ 0 h 3203"/>
                <a:gd name="T80" fmla="*/ 1 w 1675"/>
                <a:gd name="T81" fmla="*/ 0 h 3203"/>
                <a:gd name="T82" fmla="*/ 1 w 1675"/>
                <a:gd name="T83" fmla="*/ 0 h 320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75"/>
                <a:gd name="T127" fmla="*/ 0 h 3203"/>
                <a:gd name="T128" fmla="*/ 1675 w 1675"/>
                <a:gd name="T129" fmla="*/ 3203 h 320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75" h="3203">
                  <a:moveTo>
                    <a:pt x="1588" y="3157"/>
                  </a:moveTo>
                  <a:lnTo>
                    <a:pt x="1620" y="3144"/>
                  </a:lnTo>
                  <a:lnTo>
                    <a:pt x="1645" y="3104"/>
                  </a:lnTo>
                  <a:lnTo>
                    <a:pt x="1672" y="2962"/>
                  </a:lnTo>
                  <a:lnTo>
                    <a:pt x="1675" y="2870"/>
                  </a:lnTo>
                  <a:lnTo>
                    <a:pt x="1675" y="2818"/>
                  </a:lnTo>
                  <a:lnTo>
                    <a:pt x="1673" y="2762"/>
                  </a:lnTo>
                  <a:lnTo>
                    <a:pt x="1653" y="2522"/>
                  </a:lnTo>
                  <a:lnTo>
                    <a:pt x="1572" y="2036"/>
                  </a:lnTo>
                  <a:lnTo>
                    <a:pt x="1523" y="1840"/>
                  </a:lnTo>
                  <a:lnTo>
                    <a:pt x="1474" y="1701"/>
                  </a:lnTo>
                  <a:lnTo>
                    <a:pt x="1453" y="1673"/>
                  </a:lnTo>
                  <a:lnTo>
                    <a:pt x="1418" y="1651"/>
                  </a:lnTo>
                  <a:lnTo>
                    <a:pt x="1351" y="1619"/>
                  </a:lnTo>
                  <a:lnTo>
                    <a:pt x="1164" y="1505"/>
                  </a:lnTo>
                  <a:lnTo>
                    <a:pt x="1056" y="1437"/>
                  </a:lnTo>
                  <a:lnTo>
                    <a:pt x="1000" y="1394"/>
                  </a:lnTo>
                  <a:lnTo>
                    <a:pt x="960" y="1342"/>
                  </a:lnTo>
                  <a:lnTo>
                    <a:pt x="941" y="1226"/>
                  </a:lnTo>
                  <a:lnTo>
                    <a:pt x="941" y="1193"/>
                  </a:lnTo>
                  <a:lnTo>
                    <a:pt x="941" y="1158"/>
                  </a:lnTo>
                  <a:lnTo>
                    <a:pt x="951" y="1105"/>
                  </a:lnTo>
                  <a:lnTo>
                    <a:pt x="1024" y="966"/>
                  </a:lnTo>
                  <a:lnTo>
                    <a:pt x="1058" y="836"/>
                  </a:lnTo>
                  <a:lnTo>
                    <a:pt x="1080" y="703"/>
                  </a:lnTo>
                  <a:lnTo>
                    <a:pt x="1077" y="676"/>
                  </a:lnTo>
                  <a:lnTo>
                    <a:pt x="1067" y="656"/>
                  </a:lnTo>
                  <a:lnTo>
                    <a:pt x="1050" y="604"/>
                  </a:lnTo>
                  <a:lnTo>
                    <a:pt x="1050" y="526"/>
                  </a:lnTo>
                  <a:lnTo>
                    <a:pt x="1045" y="429"/>
                  </a:lnTo>
                  <a:lnTo>
                    <a:pt x="1016" y="261"/>
                  </a:lnTo>
                  <a:lnTo>
                    <a:pt x="987" y="205"/>
                  </a:lnTo>
                  <a:lnTo>
                    <a:pt x="940" y="143"/>
                  </a:lnTo>
                  <a:lnTo>
                    <a:pt x="842" y="52"/>
                  </a:lnTo>
                  <a:lnTo>
                    <a:pt x="749" y="17"/>
                  </a:lnTo>
                  <a:lnTo>
                    <a:pt x="650" y="0"/>
                  </a:lnTo>
                  <a:lnTo>
                    <a:pt x="634" y="1"/>
                  </a:lnTo>
                  <a:lnTo>
                    <a:pt x="615" y="10"/>
                  </a:lnTo>
                  <a:lnTo>
                    <a:pt x="573" y="39"/>
                  </a:lnTo>
                  <a:lnTo>
                    <a:pt x="497" y="110"/>
                  </a:lnTo>
                  <a:lnTo>
                    <a:pt x="462" y="195"/>
                  </a:lnTo>
                  <a:lnTo>
                    <a:pt x="429" y="292"/>
                  </a:lnTo>
                  <a:lnTo>
                    <a:pt x="423" y="352"/>
                  </a:lnTo>
                  <a:lnTo>
                    <a:pt x="423" y="393"/>
                  </a:lnTo>
                  <a:lnTo>
                    <a:pt x="423" y="415"/>
                  </a:lnTo>
                  <a:lnTo>
                    <a:pt x="423" y="441"/>
                  </a:lnTo>
                  <a:lnTo>
                    <a:pt x="425" y="532"/>
                  </a:lnTo>
                  <a:lnTo>
                    <a:pt x="425" y="569"/>
                  </a:lnTo>
                  <a:lnTo>
                    <a:pt x="424" y="599"/>
                  </a:lnTo>
                  <a:lnTo>
                    <a:pt x="405" y="644"/>
                  </a:lnTo>
                  <a:lnTo>
                    <a:pt x="386" y="689"/>
                  </a:lnTo>
                  <a:lnTo>
                    <a:pt x="415" y="880"/>
                  </a:lnTo>
                  <a:lnTo>
                    <a:pt x="450" y="963"/>
                  </a:lnTo>
                  <a:lnTo>
                    <a:pt x="486" y="1040"/>
                  </a:lnTo>
                  <a:lnTo>
                    <a:pt x="516" y="1193"/>
                  </a:lnTo>
                  <a:lnTo>
                    <a:pt x="530" y="1232"/>
                  </a:lnTo>
                  <a:lnTo>
                    <a:pt x="575" y="1317"/>
                  </a:lnTo>
                  <a:lnTo>
                    <a:pt x="531" y="1356"/>
                  </a:lnTo>
                  <a:lnTo>
                    <a:pt x="461" y="1397"/>
                  </a:lnTo>
                  <a:lnTo>
                    <a:pt x="431" y="1401"/>
                  </a:lnTo>
                  <a:lnTo>
                    <a:pt x="391" y="1392"/>
                  </a:lnTo>
                  <a:lnTo>
                    <a:pt x="353" y="1381"/>
                  </a:lnTo>
                  <a:lnTo>
                    <a:pt x="321" y="1378"/>
                  </a:lnTo>
                  <a:lnTo>
                    <a:pt x="282" y="1382"/>
                  </a:lnTo>
                  <a:lnTo>
                    <a:pt x="254" y="1382"/>
                  </a:lnTo>
                  <a:lnTo>
                    <a:pt x="239" y="1382"/>
                  </a:lnTo>
                  <a:lnTo>
                    <a:pt x="224" y="1381"/>
                  </a:lnTo>
                  <a:lnTo>
                    <a:pt x="165" y="1379"/>
                  </a:lnTo>
                  <a:lnTo>
                    <a:pt x="142" y="1379"/>
                  </a:lnTo>
                  <a:lnTo>
                    <a:pt x="123" y="1385"/>
                  </a:lnTo>
                  <a:lnTo>
                    <a:pt x="112" y="1417"/>
                  </a:lnTo>
                  <a:lnTo>
                    <a:pt x="107" y="1482"/>
                  </a:lnTo>
                  <a:lnTo>
                    <a:pt x="94" y="1593"/>
                  </a:lnTo>
                  <a:lnTo>
                    <a:pt x="64" y="1686"/>
                  </a:lnTo>
                  <a:lnTo>
                    <a:pt x="46" y="1789"/>
                  </a:lnTo>
                  <a:lnTo>
                    <a:pt x="3" y="2317"/>
                  </a:lnTo>
                  <a:lnTo>
                    <a:pt x="0" y="2815"/>
                  </a:lnTo>
                  <a:lnTo>
                    <a:pt x="3" y="3176"/>
                  </a:lnTo>
                  <a:lnTo>
                    <a:pt x="316" y="3199"/>
                  </a:lnTo>
                  <a:lnTo>
                    <a:pt x="493" y="3203"/>
                  </a:lnTo>
                  <a:lnTo>
                    <a:pt x="587" y="3203"/>
                  </a:lnTo>
                  <a:lnTo>
                    <a:pt x="636" y="3203"/>
                  </a:lnTo>
                  <a:lnTo>
                    <a:pt x="686" y="3203"/>
                  </a:lnTo>
                  <a:lnTo>
                    <a:pt x="1588" y="3157"/>
                  </a:lnTo>
                  <a:close/>
                </a:path>
              </a:pathLst>
            </a:custGeom>
            <a:solidFill>
              <a:srgbClr val="C0C0C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69" name="Freeform 14"/>
            <p:cNvSpPr>
              <a:spLocks/>
            </p:cNvSpPr>
            <p:nvPr/>
          </p:nvSpPr>
          <p:spPr bwMode="auto">
            <a:xfrm>
              <a:off x="1547" y="2214"/>
              <a:ext cx="811" cy="966"/>
            </a:xfrm>
            <a:custGeom>
              <a:avLst/>
              <a:gdLst>
                <a:gd name="T0" fmla="*/ 1 w 1621"/>
                <a:gd name="T1" fmla="*/ 0 h 2897"/>
                <a:gd name="T2" fmla="*/ 1 w 1621"/>
                <a:gd name="T3" fmla="*/ 0 h 2897"/>
                <a:gd name="T4" fmla="*/ 1 w 1621"/>
                <a:gd name="T5" fmla="*/ 0 h 2897"/>
                <a:gd name="T6" fmla="*/ 1 w 1621"/>
                <a:gd name="T7" fmla="*/ 0 h 2897"/>
                <a:gd name="T8" fmla="*/ 1 w 1621"/>
                <a:gd name="T9" fmla="*/ 0 h 2897"/>
                <a:gd name="T10" fmla="*/ 1 w 1621"/>
                <a:gd name="T11" fmla="*/ 0 h 2897"/>
                <a:gd name="T12" fmla="*/ 1 w 1621"/>
                <a:gd name="T13" fmla="*/ 0 h 2897"/>
                <a:gd name="T14" fmla="*/ 1 w 1621"/>
                <a:gd name="T15" fmla="*/ 0 h 2897"/>
                <a:gd name="T16" fmla="*/ 1 w 1621"/>
                <a:gd name="T17" fmla="*/ 0 h 2897"/>
                <a:gd name="T18" fmla="*/ 1 w 1621"/>
                <a:gd name="T19" fmla="*/ 0 h 2897"/>
                <a:gd name="T20" fmla="*/ 1 w 1621"/>
                <a:gd name="T21" fmla="*/ 0 h 2897"/>
                <a:gd name="T22" fmla="*/ 1 w 1621"/>
                <a:gd name="T23" fmla="*/ 0 h 2897"/>
                <a:gd name="T24" fmla="*/ 1 w 1621"/>
                <a:gd name="T25" fmla="*/ 0 h 2897"/>
                <a:gd name="T26" fmla="*/ 1 w 1621"/>
                <a:gd name="T27" fmla="*/ 0 h 2897"/>
                <a:gd name="T28" fmla="*/ 1 w 1621"/>
                <a:gd name="T29" fmla="*/ 0 h 2897"/>
                <a:gd name="T30" fmla="*/ 1 w 1621"/>
                <a:gd name="T31" fmla="*/ 0 h 2897"/>
                <a:gd name="T32" fmla="*/ 1 w 1621"/>
                <a:gd name="T33" fmla="*/ 0 h 2897"/>
                <a:gd name="T34" fmla="*/ 1 w 1621"/>
                <a:gd name="T35" fmla="*/ 0 h 2897"/>
                <a:gd name="T36" fmla="*/ 1 w 1621"/>
                <a:gd name="T37" fmla="*/ 0 h 2897"/>
                <a:gd name="T38" fmla="*/ 1 w 1621"/>
                <a:gd name="T39" fmla="*/ 0 h 2897"/>
                <a:gd name="T40" fmla="*/ 1 w 1621"/>
                <a:gd name="T41" fmla="*/ 0 h 2897"/>
                <a:gd name="T42" fmla="*/ 1 w 1621"/>
                <a:gd name="T43" fmla="*/ 0 h 2897"/>
                <a:gd name="T44" fmla="*/ 1 w 1621"/>
                <a:gd name="T45" fmla="*/ 0 h 2897"/>
                <a:gd name="T46" fmla="*/ 1 w 1621"/>
                <a:gd name="T47" fmla="*/ 0 h 2897"/>
                <a:gd name="T48" fmla="*/ 1 w 1621"/>
                <a:gd name="T49" fmla="*/ 0 h 2897"/>
                <a:gd name="T50" fmla="*/ 1 w 1621"/>
                <a:gd name="T51" fmla="*/ 0 h 2897"/>
                <a:gd name="T52" fmla="*/ 1 w 1621"/>
                <a:gd name="T53" fmla="*/ 0 h 2897"/>
                <a:gd name="T54" fmla="*/ 1 w 1621"/>
                <a:gd name="T55" fmla="*/ 0 h 2897"/>
                <a:gd name="T56" fmla="*/ 1 w 1621"/>
                <a:gd name="T57" fmla="*/ 0 h 2897"/>
                <a:gd name="T58" fmla="*/ 1 w 1621"/>
                <a:gd name="T59" fmla="*/ 0 h 2897"/>
                <a:gd name="T60" fmla="*/ 1 w 1621"/>
                <a:gd name="T61" fmla="*/ 0 h 2897"/>
                <a:gd name="T62" fmla="*/ 0 w 1621"/>
                <a:gd name="T63" fmla="*/ 0 h 2897"/>
                <a:gd name="T64" fmla="*/ 1 w 1621"/>
                <a:gd name="T65" fmla="*/ 0 h 2897"/>
                <a:gd name="T66" fmla="*/ 1 w 1621"/>
                <a:gd name="T67" fmla="*/ 0 h 2897"/>
                <a:gd name="T68" fmla="*/ 1 w 1621"/>
                <a:gd name="T69" fmla="*/ 0 h 2897"/>
                <a:gd name="T70" fmla="*/ 1 w 1621"/>
                <a:gd name="T71" fmla="*/ 0 h 28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21"/>
                <a:gd name="T109" fmla="*/ 0 h 2897"/>
                <a:gd name="T110" fmla="*/ 1621 w 1621"/>
                <a:gd name="T111" fmla="*/ 2897 h 28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21" h="2897">
                  <a:moveTo>
                    <a:pt x="1621" y="2890"/>
                  </a:moveTo>
                  <a:lnTo>
                    <a:pt x="1621" y="2770"/>
                  </a:lnTo>
                  <a:lnTo>
                    <a:pt x="1617" y="2614"/>
                  </a:lnTo>
                  <a:lnTo>
                    <a:pt x="1595" y="2246"/>
                  </a:lnTo>
                  <a:lnTo>
                    <a:pt x="1553" y="1882"/>
                  </a:lnTo>
                  <a:lnTo>
                    <a:pt x="1522" y="1733"/>
                  </a:lnTo>
                  <a:lnTo>
                    <a:pt x="1481" y="1619"/>
                  </a:lnTo>
                  <a:lnTo>
                    <a:pt x="1431" y="1539"/>
                  </a:lnTo>
                  <a:lnTo>
                    <a:pt x="1368" y="1473"/>
                  </a:lnTo>
                  <a:lnTo>
                    <a:pt x="1275" y="1440"/>
                  </a:lnTo>
                  <a:lnTo>
                    <a:pt x="1181" y="1407"/>
                  </a:lnTo>
                  <a:lnTo>
                    <a:pt x="1052" y="1342"/>
                  </a:lnTo>
                  <a:lnTo>
                    <a:pt x="981" y="1300"/>
                  </a:lnTo>
                  <a:lnTo>
                    <a:pt x="937" y="1249"/>
                  </a:lnTo>
                  <a:lnTo>
                    <a:pt x="920" y="1197"/>
                  </a:lnTo>
                  <a:lnTo>
                    <a:pt x="920" y="1171"/>
                  </a:lnTo>
                  <a:lnTo>
                    <a:pt x="929" y="1139"/>
                  </a:lnTo>
                  <a:lnTo>
                    <a:pt x="1021" y="955"/>
                  </a:lnTo>
                  <a:lnTo>
                    <a:pt x="1055" y="851"/>
                  </a:lnTo>
                  <a:lnTo>
                    <a:pt x="1078" y="738"/>
                  </a:lnTo>
                  <a:lnTo>
                    <a:pt x="1078" y="700"/>
                  </a:lnTo>
                  <a:lnTo>
                    <a:pt x="1078" y="676"/>
                  </a:lnTo>
                  <a:lnTo>
                    <a:pt x="1076" y="645"/>
                  </a:lnTo>
                  <a:lnTo>
                    <a:pt x="1067" y="505"/>
                  </a:lnTo>
                  <a:lnTo>
                    <a:pt x="1034" y="279"/>
                  </a:lnTo>
                  <a:lnTo>
                    <a:pt x="939" y="128"/>
                  </a:lnTo>
                  <a:lnTo>
                    <a:pt x="826" y="7"/>
                  </a:lnTo>
                  <a:lnTo>
                    <a:pt x="808" y="3"/>
                  </a:lnTo>
                  <a:lnTo>
                    <a:pt x="787" y="1"/>
                  </a:lnTo>
                  <a:lnTo>
                    <a:pt x="743" y="16"/>
                  </a:lnTo>
                  <a:lnTo>
                    <a:pt x="716" y="37"/>
                  </a:lnTo>
                  <a:lnTo>
                    <a:pt x="723" y="53"/>
                  </a:lnTo>
                  <a:lnTo>
                    <a:pt x="695" y="22"/>
                  </a:lnTo>
                  <a:lnTo>
                    <a:pt x="657" y="3"/>
                  </a:lnTo>
                  <a:lnTo>
                    <a:pt x="638" y="0"/>
                  </a:lnTo>
                  <a:lnTo>
                    <a:pt x="621" y="10"/>
                  </a:lnTo>
                  <a:lnTo>
                    <a:pt x="533" y="108"/>
                  </a:lnTo>
                  <a:lnTo>
                    <a:pt x="451" y="222"/>
                  </a:lnTo>
                  <a:lnTo>
                    <a:pt x="442" y="416"/>
                  </a:lnTo>
                  <a:lnTo>
                    <a:pt x="442" y="540"/>
                  </a:lnTo>
                  <a:lnTo>
                    <a:pt x="439" y="621"/>
                  </a:lnTo>
                  <a:lnTo>
                    <a:pt x="423" y="661"/>
                  </a:lnTo>
                  <a:lnTo>
                    <a:pt x="408" y="703"/>
                  </a:lnTo>
                  <a:lnTo>
                    <a:pt x="408" y="731"/>
                  </a:lnTo>
                  <a:lnTo>
                    <a:pt x="405" y="752"/>
                  </a:lnTo>
                  <a:lnTo>
                    <a:pt x="405" y="773"/>
                  </a:lnTo>
                  <a:lnTo>
                    <a:pt x="406" y="804"/>
                  </a:lnTo>
                  <a:lnTo>
                    <a:pt x="442" y="875"/>
                  </a:lnTo>
                  <a:lnTo>
                    <a:pt x="480" y="947"/>
                  </a:lnTo>
                  <a:lnTo>
                    <a:pt x="528" y="1072"/>
                  </a:lnTo>
                  <a:lnTo>
                    <a:pt x="545" y="1135"/>
                  </a:lnTo>
                  <a:lnTo>
                    <a:pt x="542" y="1164"/>
                  </a:lnTo>
                  <a:lnTo>
                    <a:pt x="544" y="1190"/>
                  </a:lnTo>
                  <a:lnTo>
                    <a:pt x="545" y="1228"/>
                  </a:lnTo>
                  <a:lnTo>
                    <a:pt x="539" y="1265"/>
                  </a:lnTo>
                  <a:lnTo>
                    <a:pt x="521" y="1293"/>
                  </a:lnTo>
                  <a:lnTo>
                    <a:pt x="414" y="1373"/>
                  </a:lnTo>
                  <a:lnTo>
                    <a:pt x="315" y="1379"/>
                  </a:lnTo>
                  <a:lnTo>
                    <a:pt x="198" y="1401"/>
                  </a:lnTo>
                  <a:lnTo>
                    <a:pt x="74" y="1493"/>
                  </a:lnTo>
                  <a:lnTo>
                    <a:pt x="41" y="1626"/>
                  </a:lnTo>
                  <a:lnTo>
                    <a:pt x="20" y="1771"/>
                  </a:lnTo>
                  <a:lnTo>
                    <a:pt x="8" y="2012"/>
                  </a:lnTo>
                  <a:lnTo>
                    <a:pt x="0" y="2260"/>
                  </a:lnTo>
                  <a:lnTo>
                    <a:pt x="10" y="2569"/>
                  </a:lnTo>
                  <a:lnTo>
                    <a:pt x="18" y="2735"/>
                  </a:lnTo>
                  <a:lnTo>
                    <a:pt x="19" y="2812"/>
                  </a:lnTo>
                  <a:lnTo>
                    <a:pt x="19" y="2847"/>
                  </a:lnTo>
                  <a:lnTo>
                    <a:pt x="20" y="2883"/>
                  </a:lnTo>
                  <a:lnTo>
                    <a:pt x="819" y="2897"/>
                  </a:lnTo>
                  <a:lnTo>
                    <a:pt x="1370" y="2897"/>
                  </a:lnTo>
                  <a:lnTo>
                    <a:pt x="1621" y="2890"/>
                  </a:lnTo>
                  <a:close/>
                </a:path>
              </a:pathLst>
            </a:custGeom>
            <a:solidFill>
              <a:srgbClr val="C0C0C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70" name="Freeform 15"/>
            <p:cNvSpPr>
              <a:spLocks/>
            </p:cNvSpPr>
            <p:nvPr/>
          </p:nvSpPr>
          <p:spPr bwMode="auto">
            <a:xfrm>
              <a:off x="2014" y="2446"/>
              <a:ext cx="784" cy="733"/>
            </a:xfrm>
            <a:custGeom>
              <a:avLst/>
              <a:gdLst>
                <a:gd name="T0" fmla="*/ 0 w 1568"/>
                <a:gd name="T1" fmla="*/ 0 h 2197"/>
                <a:gd name="T2" fmla="*/ 1 w 1568"/>
                <a:gd name="T3" fmla="*/ 0 h 2197"/>
                <a:gd name="T4" fmla="*/ 1 w 1568"/>
                <a:gd name="T5" fmla="*/ 0 h 2197"/>
                <a:gd name="T6" fmla="*/ 1 w 1568"/>
                <a:gd name="T7" fmla="*/ 0 h 2197"/>
                <a:gd name="T8" fmla="*/ 1 w 1568"/>
                <a:gd name="T9" fmla="*/ 0 h 2197"/>
                <a:gd name="T10" fmla="*/ 1 w 1568"/>
                <a:gd name="T11" fmla="*/ 0 h 2197"/>
                <a:gd name="T12" fmla="*/ 1 w 1568"/>
                <a:gd name="T13" fmla="*/ 0 h 2197"/>
                <a:gd name="T14" fmla="*/ 1 w 1568"/>
                <a:gd name="T15" fmla="*/ 0 h 2197"/>
                <a:gd name="T16" fmla="*/ 1 w 1568"/>
                <a:gd name="T17" fmla="*/ 0 h 2197"/>
                <a:gd name="T18" fmla="*/ 1 w 1568"/>
                <a:gd name="T19" fmla="*/ 0 h 2197"/>
                <a:gd name="T20" fmla="*/ 1 w 1568"/>
                <a:gd name="T21" fmla="*/ 0 h 2197"/>
                <a:gd name="T22" fmla="*/ 1 w 1568"/>
                <a:gd name="T23" fmla="*/ 0 h 2197"/>
                <a:gd name="T24" fmla="*/ 1 w 1568"/>
                <a:gd name="T25" fmla="*/ 0 h 2197"/>
                <a:gd name="T26" fmla="*/ 1 w 1568"/>
                <a:gd name="T27" fmla="*/ 0 h 2197"/>
                <a:gd name="T28" fmla="*/ 1 w 1568"/>
                <a:gd name="T29" fmla="*/ 0 h 2197"/>
                <a:gd name="T30" fmla="*/ 1 w 1568"/>
                <a:gd name="T31" fmla="*/ 0 h 2197"/>
                <a:gd name="T32" fmla="*/ 1 w 1568"/>
                <a:gd name="T33" fmla="*/ 0 h 2197"/>
                <a:gd name="T34" fmla="*/ 1 w 1568"/>
                <a:gd name="T35" fmla="*/ 0 h 2197"/>
                <a:gd name="T36" fmla="*/ 1 w 1568"/>
                <a:gd name="T37" fmla="*/ 0 h 2197"/>
                <a:gd name="T38" fmla="*/ 1 w 1568"/>
                <a:gd name="T39" fmla="*/ 0 h 2197"/>
                <a:gd name="T40" fmla="*/ 1 w 1568"/>
                <a:gd name="T41" fmla="*/ 0 h 2197"/>
                <a:gd name="T42" fmla="*/ 1 w 1568"/>
                <a:gd name="T43" fmla="*/ 0 h 2197"/>
                <a:gd name="T44" fmla="*/ 1 w 1568"/>
                <a:gd name="T45" fmla="*/ 0 h 2197"/>
                <a:gd name="T46" fmla="*/ 1 w 1568"/>
                <a:gd name="T47" fmla="*/ 0 h 2197"/>
                <a:gd name="T48" fmla="*/ 1 w 1568"/>
                <a:gd name="T49" fmla="*/ 0 h 2197"/>
                <a:gd name="T50" fmla="*/ 1 w 1568"/>
                <a:gd name="T51" fmla="*/ 0 h 2197"/>
                <a:gd name="T52" fmla="*/ 1 w 1568"/>
                <a:gd name="T53" fmla="*/ 0 h 2197"/>
                <a:gd name="T54" fmla="*/ 1 w 1568"/>
                <a:gd name="T55" fmla="*/ 0 h 2197"/>
                <a:gd name="T56" fmla="*/ 1 w 1568"/>
                <a:gd name="T57" fmla="*/ 0 h 2197"/>
                <a:gd name="T58" fmla="*/ 1 w 1568"/>
                <a:gd name="T59" fmla="*/ 0 h 2197"/>
                <a:gd name="T60" fmla="*/ 1 w 1568"/>
                <a:gd name="T61" fmla="*/ 0 h 2197"/>
                <a:gd name="T62" fmla="*/ 1 w 1568"/>
                <a:gd name="T63" fmla="*/ 0 h 2197"/>
                <a:gd name="T64" fmla="*/ 1 w 1568"/>
                <a:gd name="T65" fmla="*/ 0 h 2197"/>
                <a:gd name="T66" fmla="*/ 0 w 1568"/>
                <a:gd name="T67" fmla="*/ 0 h 219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68"/>
                <a:gd name="T103" fmla="*/ 0 h 2197"/>
                <a:gd name="T104" fmla="*/ 1568 w 1568"/>
                <a:gd name="T105" fmla="*/ 2197 h 219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68" h="2197">
                  <a:moveTo>
                    <a:pt x="0" y="2197"/>
                  </a:moveTo>
                  <a:lnTo>
                    <a:pt x="28" y="2024"/>
                  </a:lnTo>
                  <a:lnTo>
                    <a:pt x="42" y="1747"/>
                  </a:lnTo>
                  <a:lnTo>
                    <a:pt x="82" y="1641"/>
                  </a:lnTo>
                  <a:lnTo>
                    <a:pt x="168" y="1569"/>
                  </a:lnTo>
                  <a:lnTo>
                    <a:pt x="277" y="1487"/>
                  </a:lnTo>
                  <a:lnTo>
                    <a:pt x="402" y="1414"/>
                  </a:lnTo>
                  <a:lnTo>
                    <a:pt x="448" y="1306"/>
                  </a:lnTo>
                  <a:lnTo>
                    <a:pt x="454" y="1248"/>
                  </a:lnTo>
                  <a:lnTo>
                    <a:pt x="378" y="1201"/>
                  </a:lnTo>
                  <a:lnTo>
                    <a:pt x="285" y="1092"/>
                  </a:lnTo>
                  <a:lnTo>
                    <a:pt x="285" y="880"/>
                  </a:lnTo>
                  <a:lnTo>
                    <a:pt x="324" y="510"/>
                  </a:lnTo>
                  <a:lnTo>
                    <a:pt x="356" y="240"/>
                  </a:lnTo>
                  <a:lnTo>
                    <a:pt x="472" y="57"/>
                  </a:lnTo>
                  <a:lnTo>
                    <a:pt x="549" y="0"/>
                  </a:lnTo>
                  <a:lnTo>
                    <a:pt x="619" y="11"/>
                  </a:lnTo>
                  <a:lnTo>
                    <a:pt x="688" y="24"/>
                  </a:lnTo>
                  <a:lnTo>
                    <a:pt x="721" y="0"/>
                  </a:lnTo>
                  <a:lnTo>
                    <a:pt x="870" y="115"/>
                  </a:lnTo>
                  <a:lnTo>
                    <a:pt x="985" y="450"/>
                  </a:lnTo>
                  <a:lnTo>
                    <a:pt x="1063" y="747"/>
                  </a:lnTo>
                  <a:lnTo>
                    <a:pt x="1063" y="1010"/>
                  </a:lnTo>
                  <a:lnTo>
                    <a:pt x="985" y="1191"/>
                  </a:lnTo>
                  <a:lnTo>
                    <a:pt x="900" y="1261"/>
                  </a:lnTo>
                  <a:lnTo>
                    <a:pt x="932" y="1329"/>
                  </a:lnTo>
                  <a:lnTo>
                    <a:pt x="1081" y="1462"/>
                  </a:lnTo>
                  <a:lnTo>
                    <a:pt x="1266" y="1487"/>
                  </a:lnTo>
                  <a:lnTo>
                    <a:pt x="1367" y="1560"/>
                  </a:lnTo>
                  <a:lnTo>
                    <a:pt x="1445" y="1638"/>
                  </a:lnTo>
                  <a:lnTo>
                    <a:pt x="1484" y="1794"/>
                  </a:lnTo>
                  <a:lnTo>
                    <a:pt x="1531" y="1959"/>
                  </a:lnTo>
                  <a:lnTo>
                    <a:pt x="1568" y="2194"/>
                  </a:lnTo>
                  <a:lnTo>
                    <a:pt x="0" y="2197"/>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71" name="Freeform 16"/>
            <p:cNvSpPr>
              <a:spLocks/>
            </p:cNvSpPr>
            <p:nvPr/>
          </p:nvSpPr>
          <p:spPr bwMode="auto">
            <a:xfrm>
              <a:off x="2793" y="2383"/>
              <a:ext cx="827" cy="794"/>
            </a:xfrm>
            <a:custGeom>
              <a:avLst/>
              <a:gdLst>
                <a:gd name="T0" fmla="*/ 0 w 1653"/>
                <a:gd name="T1" fmla="*/ 0 h 2380"/>
                <a:gd name="T2" fmla="*/ 1 w 1653"/>
                <a:gd name="T3" fmla="*/ 0 h 2380"/>
                <a:gd name="T4" fmla="*/ 1 w 1653"/>
                <a:gd name="T5" fmla="*/ 0 h 2380"/>
                <a:gd name="T6" fmla="*/ 1 w 1653"/>
                <a:gd name="T7" fmla="*/ 0 h 2380"/>
                <a:gd name="T8" fmla="*/ 1 w 1653"/>
                <a:gd name="T9" fmla="*/ 0 h 2380"/>
                <a:gd name="T10" fmla="*/ 1 w 1653"/>
                <a:gd name="T11" fmla="*/ 0 h 2380"/>
                <a:gd name="T12" fmla="*/ 1 w 1653"/>
                <a:gd name="T13" fmla="*/ 0 h 2380"/>
                <a:gd name="T14" fmla="*/ 1 w 1653"/>
                <a:gd name="T15" fmla="*/ 0 h 2380"/>
                <a:gd name="T16" fmla="*/ 1 w 1653"/>
                <a:gd name="T17" fmla="*/ 0 h 2380"/>
                <a:gd name="T18" fmla="*/ 1 w 1653"/>
                <a:gd name="T19" fmla="*/ 0 h 2380"/>
                <a:gd name="T20" fmla="*/ 1 w 1653"/>
                <a:gd name="T21" fmla="*/ 0 h 2380"/>
                <a:gd name="T22" fmla="*/ 1 w 1653"/>
                <a:gd name="T23" fmla="*/ 0 h 2380"/>
                <a:gd name="T24" fmla="*/ 1 w 1653"/>
                <a:gd name="T25" fmla="*/ 0 h 2380"/>
                <a:gd name="T26" fmla="*/ 1 w 1653"/>
                <a:gd name="T27" fmla="*/ 0 h 2380"/>
                <a:gd name="T28" fmla="*/ 1 w 1653"/>
                <a:gd name="T29" fmla="*/ 0 h 2380"/>
                <a:gd name="T30" fmla="*/ 1 w 1653"/>
                <a:gd name="T31" fmla="*/ 0 h 2380"/>
                <a:gd name="T32" fmla="*/ 1 w 1653"/>
                <a:gd name="T33" fmla="*/ 0 h 2380"/>
                <a:gd name="T34" fmla="*/ 1 w 1653"/>
                <a:gd name="T35" fmla="*/ 0 h 2380"/>
                <a:gd name="T36" fmla="*/ 1 w 1653"/>
                <a:gd name="T37" fmla="*/ 0 h 2380"/>
                <a:gd name="T38" fmla="*/ 1 w 1653"/>
                <a:gd name="T39" fmla="*/ 0 h 2380"/>
                <a:gd name="T40" fmla="*/ 1 w 1653"/>
                <a:gd name="T41" fmla="*/ 0 h 2380"/>
                <a:gd name="T42" fmla="*/ 1 w 1653"/>
                <a:gd name="T43" fmla="*/ 0 h 2380"/>
                <a:gd name="T44" fmla="*/ 1 w 1653"/>
                <a:gd name="T45" fmla="*/ 0 h 2380"/>
                <a:gd name="T46" fmla="*/ 1 w 1653"/>
                <a:gd name="T47" fmla="*/ 0 h 2380"/>
                <a:gd name="T48" fmla="*/ 1 w 1653"/>
                <a:gd name="T49" fmla="*/ 0 h 2380"/>
                <a:gd name="T50" fmla="*/ 1 w 1653"/>
                <a:gd name="T51" fmla="*/ 0 h 2380"/>
                <a:gd name="T52" fmla="*/ 1 w 1653"/>
                <a:gd name="T53" fmla="*/ 0 h 2380"/>
                <a:gd name="T54" fmla="*/ 1 w 1653"/>
                <a:gd name="T55" fmla="*/ 0 h 2380"/>
                <a:gd name="T56" fmla="*/ 1 w 1653"/>
                <a:gd name="T57" fmla="*/ 0 h 2380"/>
                <a:gd name="T58" fmla="*/ 1 w 1653"/>
                <a:gd name="T59" fmla="*/ 0 h 2380"/>
                <a:gd name="T60" fmla="*/ 1 w 1653"/>
                <a:gd name="T61" fmla="*/ 0 h 2380"/>
                <a:gd name="T62" fmla="*/ 1 w 1653"/>
                <a:gd name="T63" fmla="*/ 0 h 2380"/>
                <a:gd name="T64" fmla="*/ 1 w 1653"/>
                <a:gd name="T65" fmla="*/ 0 h 2380"/>
                <a:gd name="T66" fmla="*/ 1 w 1653"/>
                <a:gd name="T67" fmla="*/ 0 h 2380"/>
                <a:gd name="T68" fmla="*/ 1 w 1653"/>
                <a:gd name="T69" fmla="*/ 0 h 2380"/>
                <a:gd name="T70" fmla="*/ 1 w 1653"/>
                <a:gd name="T71" fmla="*/ 0 h 2380"/>
                <a:gd name="T72" fmla="*/ 1 w 1653"/>
                <a:gd name="T73" fmla="*/ 0 h 2380"/>
                <a:gd name="T74" fmla="*/ 0 w 1653"/>
                <a:gd name="T75" fmla="*/ 0 h 23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53"/>
                <a:gd name="T115" fmla="*/ 0 h 2380"/>
                <a:gd name="T116" fmla="*/ 1653 w 1653"/>
                <a:gd name="T117" fmla="*/ 2380 h 23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53" h="2380">
                  <a:moveTo>
                    <a:pt x="0" y="2380"/>
                  </a:moveTo>
                  <a:lnTo>
                    <a:pt x="34" y="1839"/>
                  </a:lnTo>
                  <a:lnTo>
                    <a:pt x="82" y="1712"/>
                  </a:lnTo>
                  <a:lnTo>
                    <a:pt x="153" y="1528"/>
                  </a:lnTo>
                  <a:lnTo>
                    <a:pt x="237" y="1508"/>
                  </a:lnTo>
                  <a:lnTo>
                    <a:pt x="400" y="1473"/>
                  </a:lnTo>
                  <a:lnTo>
                    <a:pt x="477" y="1427"/>
                  </a:lnTo>
                  <a:lnTo>
                    <a:pt x="548" y="1365"/>
                  </a:lnTo>
                  <a:lnTo>
                    <a:pt x="572" y="1208"/>
                  </a:lnTo>
                  <a:lnTo>
                    <a:pt x="495" y="997"/>
                  </a:lnTo>
                  <a:lnTo>
                    <a:pt x="440" y="975"/>
                  </a:lnTo>
                  <a:lnTo>
                    <a:pt x="393" y="747"/>
                  </a:lnTo>
                  <a:lnTo>
                    <a:pt x="425" y="686"/>
                  </a:lnTo>
                  <a:lnTo>
                    <a:pt x="409" y="464"/>
                  </a:lnTo>
                  <a:lnTo>
                    <a:pt x="418" y="246"/>
                  </a:lnTo>
                  <a:lnTo>
                    <a:pt x="472" y="163"/>
                  </a:lnTo>
                  <a:lnTo>
                    <a:pt x="588" y="19"/>
                  </a:lnTo>
                  <a:lnTo>
                    <a:pt x="681" y="0"/>
                  </a:lnTo>
                  <a:lnTo>
                    <a:pt x="806" y="0"/>
                  </a:lnTo>
                  <a:lnTo>
                    <a:pt x="899" y="57"/>
                  </a:lnTo>
                  <a:lnTo>
                    <a:pt x="977" y="163"/>
                  </a:lnTo>
                  <a:lnTo>
                    <a:pt x="1031" y="345"/>
                  </a:lnTo>
                  <a:lnTo>
                    <a:pt x="1046" y="496"/>
                  </a:lnTo>
                  <a:lnTo>
                    <a:pt x="1047" y="631"/>
                  </a:lnTo>
                  <a:lnTo>
                    <a:pt x="1093" y="653"/>
                  </a:lnTo>
                  <a:lnTo>
                    <a:pt x="1078" y="865"/>
                  </a:lnTo>
                  <a:lnTo>
                    <a:pt x="1012" y="903"/>
                  </a:lnTo>
                  <a:lnTo>
                    <a:pt x="993" y="1030"/>
                  </a:lnTo>
                  <a:lnTo>
                    <a:pt x="968" y="1179"/>
                  </a:lnTo>
                  <a:lnTo>
                    <a:pt x="983" y="1296"/>
                  </a:lnTo>
                  <a:lnTo>
                    <a:pt x="1070" y="1368"/>
                  </a:lnTo>
                  <a:lnTo>
                    <a:pt x="1186" y="1413"/>
                  </a:lnTo>
                  <a:lnTo>
                    <a:pt x="1350" y="1447"/>
                  </a:lnTo>
                  <a:lnTo>
                    <a:pt x="1468" y="1462"/>
                  </a:lnTo>
                  <a:lnTo>
                    <a:pt x="1530" y="1579"/>
                  </a:lnTo>
                  <a:lnTo>
                    <a:pt x="1577" y="1687"/>
                  </a:lnTo>
                  <a:lnTo>
                    <a:pt x="1653" y="2353"/>
                  </a:lnTo>
                  <a:lnTo>
                    <a:pt x="0" y="2380"/>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72" name="Rectangle 17"/>
            <p:cNvSpPr>
              <a:spLocks noChangeArrowheads="1"/>
            </p:cNvSpPr>
            <p:nvPr/>
          </p:nvSpPr>
          <p:spPr bwMode="auto">
            <a:xfrm>
              <a:off x="3272" y="1322"/>
              <a:ext cx="110" cy="2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GB">
                  <a:solidFill>
                    <a:srgbClr val="6E6E6E"/>
                  </a:solidFill>
                  <a:latin typeface="Lucida Sans Unicode" charset="0"/>
                </a:rPr>
                <a:t>z</a:t>
              </a:r>
              <a:endParaRPr lang="en-GB">
                <a:latin typeface="Lucida Sans Unicode" charset="0"/>
              </a:endParaRPr>
            </a:p>
          </p:txBody>
        </p:sp>
        <p:sp>
          <p:nvSpPr>
            <p:cNvPr id="19473" name="Rectangle 18"/>
            <p:cNvSpPr>
              <a:spLocks noChangeArrowheads="1"/>
            </p:cNvSpPr>
            <p:nvPr/>
          </p:nvSpPr>
          <p:spPr bwMode="auto">
            <a:xfrm>
              <a:off x="3166" y="1365"/>
              <a:ext cx="96" cy="2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2100">
                  <a:solidFill>
                    <a:srgbClr val="6E6E6E"/>
                  </a:solidFill>
                  <a:latin typeface="Lucida Sans Unicode" charset="0"/>
                </a:rPr>
                <a:t>z</a:t>
              </a:r>
              <a:endParaRPr lang="en-US">
                <a:latin typeface="Lucida Sans Unicode" charset="0"/>
              </a:endParaRPr>
            </a:p>
          </p:txBody>
        </p:sp>
        <p:sp>
          <p:nvSpPr>
            <p:cNvPr id="19474" name="Rectangle 19"/>
            <p:cNvSpPr>
              <a:spLocks noChangeArrowheads="1"/>
            </p:cNvSpPr>
            <p:nvPr/>
          </p:nvSpPr>
          <p:spPr bwMode="auto">
            <a:xfrm>
              <a:off x="3079" y="1409"/>
              <a:ext cx="110" cy="2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a:solidFill>
                    <a:srgbClr val="6E6E6E"/>
                  </a:solidFill>
                  <a:latin typeface="Lucida Sans Unicode" charset="0"/>
                </a:rPr>
                <a:t>z</a:t>
              </a:r>
              <a:endParaRPr lang="en-US">
                <a:latin typeface="Lucida Sans Unicode" charset="0"/>
              </a:endParaRPr>
            </a:p>
          </p:txBody>
        </p:sp>
        <p:sp>
          <p:nvSpPr>
            <p:cNvPr id="19475" name="Rectangle 20"/>
            <p:cNvSpPr>
              <a:spLocks noChangeArrowheads="1"/>
            </p:cNvSpPr>
            <p:nvPr/>
          </p:nvSpPr>
          <p:spPr bwMode="auto">
            <a:xfrm>
              <a:off x="3017" y="1498"/>
              <a:ext cx="69" cy="16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500">
                  <a:solidFill>
                    <a:srgbClr val="6E6E6E"/>
                  </a:solidFill>
                  <a:latin typeface="Lucida Sans Unicode" charset="0"/>
                </a:rPr>
                <a:t>z</a:t>
              </a:r>
              <a:endParaRPr lang="en-US">
                <a:latin typeface="Lucida Sans Unicode" charset="0"/>
              </a:endParaRPr>
            </a:p>
          </p:txBody>
        </p:sp>
        <p:sp>
          <p:nvSpPr>
            <p:cNvPr id="19476" name="Rectangle 21"/>
            <p:cNvSpPr>
              <a:spLocks noChangeArrowheads="1"/>
            </p:cNvSpPr>
            <p:nvPr/>
          </p:nvSpPr>
          <p:spPr bwMode="auto">
            <a:xfrm>
              <a:off x="2961" y="1587"/>
              <a:ext cx="60" cy="14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300">
                  <a:solidFill>
                    <a:srgbClr val="6E6E6E"/>
                  </a:solidFill>
                  <a:latin typeface="Lucida Sans Unicode" charset="0"/>
                </a:rPr>
                <a:t>z</a:t>
              </a:r>
              <a:endParaRPr lang="en-US">
                <a:latin typeface="Lucida Sans Unicode" charset="0"/>
              </a:endParaRPr>
            </a:p>
          </p:txBody>
        </p:sp>
        <p:sp>
          <p:nvSpPr>
            <p:cNvPr id="19477" name="Rectangle 22"/>
            <p:cNvSpPr>
              <a:spLocks noChangeArrowheads="1"/>
            </p:cNvSpPr>
            <p:nvPr/>
          </p:nvSpPr>
          <p:spPr bwMode="auto">
            <a:xfrm>
              <a:off x="2920" y="1680"/>
              <a:ext cx="50" cy="1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1100">
                  <a:solidFill>
                    <a:srgbClr val="6E6E6E"/>
                  </a:solidFill>
                  <a:latin typeface="Lucida Sans Unicode" charset="0"/>
                </a:rPr>
                <a:t>z</a:t>
              </a:r>
              <a:endParaRPr lang="en-US">
                <a:latin typeface="Lucida Sans Unicode" charset="0"/>
              </a:endParaRPr>
            </a:p>
          </p:txBody>
        </p:sp>
        <p:sp>
          <p:nvSpPr>
            <p:cNvPr id="19478" name="Rectangle 23"/>
            <p:cNvSpPr>
              <a:spLocks noChangeArrowheads="1"/>
            </p:cNvSpPr>
            <p:nvPr/>
          </p:nvSpPr>
          <p:spPr bwMode="auto">
            <a:xfrm>
              <a:off x="2895" y="1749"/>
              <a:ext cx="41" cy="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spAutoFit/>
            </a:bodyPr>
            <a:lstStyle/>
            <a:p>
              <a:r>
                <a:rPr lang="en-US" sz="900">
                  <a:solidFill>
                    <a:srgbClr val="6E6E6E"/>
                  </a:solidFill>
                  <a:latin typeface="Lucida Sans Unicode" charset="0"/>
                </a:rPr>
                <a:t>z</a:t>
              </a:r>
              <a:endParaRPr lang="en-US">
                <a:latin typeface="Lucida Sans Unicode" charset="0"/>
              </a:endParaRPr>
            </a:p>
          </p:txBody>
        </p:sp>
        <p:sp>
          <p:nvSpPr>
            <p:cNvPr id="19479" name="Freeform 24"/>
            <p:cNvSpPr>
              <a:spLocks/>
            </p:cNvSpPr>
            <p:nvPr/>
          </p:nvSpPr>
          <p:spPr bwMode="auto">
            <a:xfrm>
              <a:off x="950" y="1735"/>
              <a:ext cx="777" cy="965"/>
            </a:xfrm>
            <a:custGeom>
              <a:avLst/>
              <a:gdLst>
                <a:gd name="T0" fmla="*/ 1 w 1554"/>
                <a:gd name="T1" fmla="*/ 0 h 2895"/>
                <a:gd name="T2" fmla="*/ 1 w 1554"/>
                <a:gd name="T3" fmla="*/ 0 h 2895"/>
                <a:gd name="T4" fmla="*/ 1 w 1554"/>
                <a:gd name="T5" fmla="*/ 0 h 2895"/>
                <a:gd name="T6" fmla="*/ 1 w 1554"/>
                <a:gd name="T7" fmla="*/ 0 h 2895"/>
                <a:gd name="T8" fmla="*/ 1 w 1554"/>
                <a:gd name="T9" fmla="*/ 0 h 2895"/>
                <a:gd name="T10" fmla="*/ 1 w 1554"/>
                <a:gd name="T11" fmla="*/ 0 h 2895"/>
                <a:gd name="T12" fmla="*/ 1 w 1554"/>
                <a:gd name="T13" fmla="*/ 0 h 2895"/>
                <a:gd name="T14" fmla="*/ 1 w 1554"/>
                <a:gd name="T15" fmla="*/ 0 h 2895"/>
                <a:gd name="T16" fmla="*/ 1 w 1554"/>
                <a:gd name="T17" fmla="*/ 0 h 2895"/>
                <a:gd name="T18" fmla="*/ 1 w 1554"/>
                <a:gd name="T19" fmla="*/ 0 h 2895"/>
                <a:gd name="T20" fmla="*/ 1 w 1554"/>
                <a:gd name="T21" fmla="*/ 0 h 2895"/>
                <a:gd name="T22" fmla="*/ 1 w 1554"/>
                <a:gd name="T23" fmla="*/ 0 h 2895"/>
                <a:gd name="T24" fmla="*/ 1 w 1554"/>
                <a:gd name="T25" fmla="*/ 0 h 2895"/>
                <a:gd name="T26" fmla="*/ 1 w 1554"/>
                <a:gd name="T27" fmla="*/ 0 h 2895"/>
                <a:gd name="T28" fmla="*/ 1 w 1554"/>
                <a:gd name="T29" fmla="*/ 0 h 2895"/>
                <a:gd name="T30" fmla="*/ 1 w 1554"/>
                <a:gd name="T31" fmla="*/ 0 h 2895"/>
                <a:gd name="T32" fmla="*/ 1 w 1554"/>
                <a:gd name="T33" fmla="*/ 0 h 2895"/>
                <a:gd name="T34" fmla="*/ 1 w 1554"/>
                <a:gd name="T35" fmla="*/ 0 h 2895"/>
                <a:gd name="T36" fmla="*/ 1 w 1554"/>
                <a:gd name="T37" fmla="*/ 0 h 2895"/>
                <a:gd name="T38" fmla="*/ 1 w 1554"/>
                <a:gd name="T39" fmla="*/ 0 h 2895"/>
                <a:gd name="T40" fmla="*/ 1 w 1554"/>
                <a:gd name="T41" fmla="*/ 0 h 2895"/>
                <a:gd name="T42" fmla="*/ 1 w 1554"/>
                <a:gd name="T43" fmla="*/ 0 h 2895"/>
                <a:gd name="T44" fmla="*/ 1 w 1554"/>
                <a:gd name="T45" fmla="*/ 0 h 2895"/>
                <a:gd name="T46" fmla="*/ 1 w 1554"/>
                <a:gd name="T47" fmla="*/ 0 h 2895"/>
                <a:gd name="T48" fmla="*/ 1 w 1554"/>
                <a:gd name="T49" fmla="*/ 0 h 2895"/>
                <a:gd name="T50" fmla="*/ 1 w 1554"/>
                <a:gd name="T51" fmla="*/ 0 h 2895"/>
                <a:gd name="T52" fmla="*/ 1 w 1554"/>
                <a:gd name="T53" fmla="*/ 0 h 2895"/>
                <a:gd name="T54" fmla="*/ 1 w 1554"/>
                <a:gd name="T55" fmla="*/ 0 h 2895"/>
                <a:gd name="T56" fmla="*/ 1 w 1554"/>
                <a:gd name="T57" fmla="*/ 0 h 2895"/>
                <a:gd name="T58" fmla="*/ 1 w 1554"/>
                <a:gd name="T59" fmla="*/ 0 h 2895"/>
                <a:gd name="T60" fmla="*/ 1 w 1554"/>
                <a:gd name="T61" fmla="*/ 0 h 2895"/>
                <a:gd name="T62" fmla="*/ 1 w 1554"/>
                <a:gd name="T63" fmla="*/ 0 h 2895"/>
                <a:gd name="T64" fmla="*/ 1 w 1554"/>
                <a:gd name="T65" fmla="*/ 0 h 2895"/>
                <a:gd name="T66" fmla="*/ 0 w 1554"/>
                <a:gd name="T67" fmla="*/ 0 h 2895"/>
                <a:gd name="T68" fmla="*/ 1 w 1554"/>
                <a:gd name="T69" fmla="*/ 0 h 2895"/>
                <a:gd name="T70" fmla="*/ 1 w 1554"/>
                <a:gd name="T71" fmla="*/ 0 h 289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54"/>
                <a:gd name="T109" fmla="*/ 0 h 2895"/>
                <a:gd name="T110" fmla="*/ 1554 w 1554"/>
                <a:gd name="T111" fmla="*/ 2895 h 289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54" h="2895">
                  <a:moveTo>
                    <a:pt x="1487" y="2887"/>
                  </a:moveTo>
                  <a:lnTo>
                    <a:pt x="1516" y="2876"/>
                  </a:lnTo>
                  <a:lnTo>
                    <a:pt x="1536" y="2838"/>
                  </a:lnTo>
                  <a:lnTo>
                    <a:pt x="1554" y="2707"/>
                  </a:lnTo>
                  <a:lnTo>
                    <a:pt x="1554" y="2665"/>
                  </a:lnTo>
                  <a:lnTo>
                    <a:pt x="1553" y="2619"/>
                  </a:lnTo>
                  <a:lnTo>
                    <a:pt x="1547" y="2519"/>
                  </a:lnTo>
                  <a:lnTo>
                    <a:pt x="1518" y="2295"/>
                  </a:lnTo>
                  <a:lnTo>
                    <a:pt x="1425" y="1842"/>
                  </a:lnTo>
                  <a:lnTo>
                    <a:pt x="1323" y="1530"/>
                  </a:lnTo>
                  <a:lnTo>
                    <a:pt x="1284" y="1492"/>
                  </a:lnTo>
                  <a:lnTo>
                    <a:pt x="1237" y="1468"/>
                  </a:lnTo>
                  <a:lnTo>
                    <a:pt x="1029" y="1374"/>
                  </a:lnTo>
                  <a:lnTo>
                    <a:pt x="977" y="1323"/>
                  </a:lnTo>
                  <a:lnTo>
                    <a:pt x="940" y="1245"/>
                  </a:lnTo>
                  <a:lnTo>
                    <a:pt x="924" y="1193"/>
                  </a:lnTo>
                  <a:lnTo>
                    <a:pt x="925" y="1170"/>
                  </a:lnTo>
                  <a:lnTo>
                    <a:pt x="934" y="1137"/>
                  </a:lnTo>
                  <a:lnTo>
                    <a:pt x="1021" y="953"/>
                  </a:lnTo>
                  <a:lnTo>
                    <a:pt x="1055" y="848"/>
                  </a:lnTo>
                  <a:lnTo>
                    <a:pt x="1072" y="786"/>
                  </a:lnTo>
                  <a:lnTo>
                    <a:pt x="1078" y="740"/>
                  </a:lnTo>
                  <a:lnTo>
                    <a:pt x="1078" y="702"/>
                  </a:lnTo>
                  <a:lnTo>
                    <a:pt x="1078" y="678"/>
                  </a:lnTo>
                  <a:lnTo>
                    <a:pt x="1077" y="647"/>
                  </a:lnTo>
                  <a:lnTo>
                    <a:pt x="1068" y="507"/>
                  </a:lnTo>
                  <a:lnTo>
                    <a:pt x="1036" y="280"/>
                  </a:lnTo>
                  <a:lnTo>
                    <a:pt x="942" y="129"/>
                  </a:lnTo>
                  <a:lnTo>
                    <a:pt x="831" y="5"/>
                  </a:lnTo>
                  <a:lnTo>
                    <a:pt x="814" y="0"/>
                  </a:lnTo>
                  <a:lnTo>
                    <a:pt x="793" y="0"/>
                  </a:lnTo>
                  <a:lnTo>
                    <a:pt x="750" y="16"/>
                  </a:lnTo>
                  <a:lnTo>
                    <a:pt x="723" y="39"/>
                  </a:lnTo>
                  <a:lnTo>
                    <a:pt x="720" y="48"/>
                  </a:lnTo>
                  <a:lnTo>
                    <a:pt x="729" y="58"/>
                  </a:lnTo>
                  <a:lnTo>
                    <a:pt x="701" y="23"/>
                  </a:lnTo>
                  <a:lnTo>
                    <a:pt x="665" y="6"/>
                  </a:lnTo>
                  <a:lnTo>
                    <a:pt x="647" y="3"/>
                  </a:lnTo>
                  <a:lnTo>
                    <a:pt x="630" y="13"/>
                  </a:lnTo>
                  <a:lnTo>
                    <a:pt x="543" y="110"/>
                  </a:lnTo>
                  <a:lnTo>
                    <a:pt x="463" y="224"/>
                  </a:lnTo>
                  <a:lnTo>
                    <a:pt x="452" y="418"/>
                  </a:lnTo>
                  <a:lnTo>
                    <a:pt x="452" y="540"/>
                  </a:lnTo>
                  <a:lnTo>
                    <a:pt x="448" y="621"/>
                  </a:lnTo>
                  <a:lnTo>
                    <a:pt x="433" y="660"/>
                  </a:lnTo>
                  <a:lnTo>
                    <a:pt x="419" y="704"/>
                  </a:lnTo>
                  <a:lnTo>
                    <a:pt x="419" y="728"/>
                  </a:lnTo>
                  <a:lnTo>
                    <a:pt x="417" y="750"/>
                  </a:lnTo>
                  <a:lnTo>
                    <a:pt x="417" y="773"/>
                  </a:lnTo>
                  <a:lnTo>
                    <a:pt x="417" y="806"/>
                  </a:lnTo>
                  <a:lnTo>
                    <a:pt x="452" y="875"/>
                  </a:lnTo>
                  <a:lnTo>
                    <a:pt x="489" y="946"/>
                  </a:lnTo>
                  <a:lnTo>
                    <a:pt x="538" y="1069"/>
                  </a:lnTo>
                  <a:lnTo>
                    <a:pt x="554" y="1133"/>
                  </a:lnTo>
                  <a:lnTo>
                    <a:pt x="550" y="1163"/>
                  </a:lnTo>
                  <a:lnTo>
                    <a:pt x="553" y="1187"/>
                  </a:lnTo>
                  <a:lnTo>
                    <a:pt x="554" y="1225"/>
                  </a:lnTo>
                  <a:lnTo>
                    <a:pt x="547" y="1260"/>
                  </a:lnTo>
                  <a:lnTo>
                    <a:pt x="531" y="1286"/>
                  </a:lnTo>
                  <a:lnTo>
                    <a:pt x="479" y="1330"/>
                  </a:lnTo>
                  <a:lnTo>
                    <a:pt x="424" y="1372"/>
                  </a:lnTo>
                  <a:lnTo>
                    <a:pt x="328" y="1375"/>
                  </a:lnTo>
                  <a:lnTo>
                    <a:pt x="212" y="1398"/>
                  </a:lnTo>
                  <a:lnTo>
                    <a:pt x="90" y="1491"/>
                  </a:lnTo>
                  <a:lnTo>
                    <a:pt x="57" y="1622"/>
                  </a:lnTo>
                  <a:lnTo>
                    <a:pt x="33" y="1764"/>
                  </a:lnTo>
                  <a:lnTo>
                    <a:pt x="5" y="2369"/>
                  </a:lnTo>
                  <a:lnTo>
                    <a:pt x="0" y="2853"/>
                  </a:lnTo>
                  <a:lnTo>
                    <a:pt x="472" y="2886"/>
                  </a:lnTo>
                  <a:lnTo>
                    <a:pt x="948" y="2895"/>
                  </a:lnTo>
                  <a:lnTo>
                    <a:pt x="1214" y="2895"/>
                  </a:lnTo>
                  <a:lnTo>
                    <a:pt x="1487" y="2887"/>
                  </a:lnTo>
                  <a:close/>
                </a:path>
              </a:pathLst>
            </a:custGeom>
            <a:solidFill>
              <a:srgbClr val="6E6E6E"/>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0" name="Freeform 25"/>
            <p:cNvSpPr>
              <a:spLocks/>
            </p:cNvSpPr>
            <p:nvPr/>
          </p:nvSpPr>
          <p:spPr bwMode="auto">
            <a:xfrm>
              <a:off x="845" y="1993"/>
              <a:ext cx="774" cy="977"/>
            </a:xfrm>
            <a:custGeom>
              <a:avLst/>
              <a:gdLst>
                <a:gd name="T0" fmla="*/ 0 w 1549"/>
                <a:gd name="T1" fmla="*/ 0 h 2933"/>
                <a:gd name="T2" fmla="*/ 0 w 1549"/>
                <a:gd name="T3" fmla="*/ 0 h 2933"/>
                <a:gd name="T4" fmla="*/ 0 w 1549"/>
                <a:gd name="T5" fmla="*/ 0 h 2933"/>
                <a:gd name="T6" fmla="*/ 0 w 1549"/>
                <a:gd name="T7" fmla="*/ 0 h 2933"/>
                <a:gd name="T8" fmla="*/ 0 w 1549"/>
                <a:gd name="T9" fmla="*/ 0 h 2933"/>
                <a:gd name="T10" fmla="*/ 0 w 1549"/>
                <a:gd name="T11" fmla="*/ 0 h 2933"/>
                <a:gd name="T12" fmla="*/ 0 w 1549"/>
                <a:gd name="T13" fmla="*/ 0 h 2933"/>
                <a:gd name="T14" fmla="*/ 0 w 1549"/>
                <a:gd name="T15" fmla="*/ 0 h 2933"/>
                <a:gd name="T16" fmla="*/ 0 w 1549"/>
                <a:gd name="T17" fmla="*/ 0 h 2933"/>
                <a:gd name="T18" fmla="*/ 0 w 1549"/>
                <a:gd name="T19" fmla="*/ 0 h 2933"/>
                <a:gd name="T20" fmla="*/ 0 w 1549"/>
                <a:gd name="T21" fmla="*/ 0 h 2933"/>
                <a:gd name="T22" fmla="*/ 0 w 1549"/>
                <a:gd name="T23" fmla="*/ 0 h 2933"/>
                <a:gd name="T24" fmla="*/ 0 w 1549"/>
                <a:gd name="T25" fmla="*/ 0 h 2933"/>
                <a:gd name="T26" fmla="*/ 0 w 1549"/>
                <a:gd name="T27" fmla="*/ 0 h 2933"/>
                <a:gd name="T28" fmla="*/ 0 w 1549"/>
                <a:gd name="T29" fmla="*/ 0 h 2933"/>
                <a:gd name="T30" fmla="*/ 0 w 1549"/>
                <a:gd name="T31" fmla="*/ 0 h 2933"/>
                <a:gd name="T32" fmla="*/ 0 w 1549"/>
                <a:gd name="T33" fmla="*/ 0 h 2933"/>
                <a:gd name="T34" fmla="*/ 0 w 1549"/>
                <a:gd name="T35" fmla="*/ 0 h 2933"/>
                <a:gd name="T36" fmla="*/ 0 w 1549"/>
                <a:gd name="T37" fmla="*/ 0 h 2933"/>
                <a:gd name="T38" fmla="*/ 0 w 1549"/>
                <a:gd name="T39" fmla="*/ 0 h 2933"/>
                <a:gd name="T40" fmla="*/ 0 w 1549"/>
                <a:gd name="T41" fmla="*/ 0 h 2933"/>
                <a:gd name="T42" fmla="*/ 0 w 1549"/>
                <a:gd name="T43" fmla="*/ 0 h 2933"/>
                <a:gd name="T44" fmla="*/ 0 w 1549"/>
                <a:gd name="T45" fmla="*/ 0 h 2933"/>
                <a:gd name="T46" fmla="*/ 0 w 1549"/>
                <a:gd name="T47" fmla="*/ 0 h 2933"/>
                <a:gd name="T48" fmla="*/ 0 w 1549"/>
                <a:gd name="T49" fmla="*/ 0 h 2933"/>
                <a:gd name="T50" fmla="*/ 0 w 1549"/>
                <a:gd name="T51" fmla="*/ 0 h 2933"/>
                <a:gd name="T52" fmla="*/ 0 w 1549"/>
                <a:gd name="T53" fmla="*/ 0 h 2933"/>
                <a:gd name="T54" fmla="*/ 0 w 1549"/>
                <a:gd name="T55" fmla="*/ 0 h 2933"/>
                <a:gd name="T56" fmla="*/ 0 w 1549"/>
                <a:gd name="T57" fmla="*/ 0 h 2933"/>
                <a:gd name="T58" fmla="*/ 0 w 1549"/>
                <a:gd name="T59" fmla="*/ 0 h 2933"/>
                <a:gd name="T60" fmla="*/ 0 w 1549"/>
                <a:gd name="T61" fmla="*/ 0 h 2933"/>
                <a:gd name="T62" fmla="*/ 0 w 1549"/>
                <a:gd name="T63" fmla="*/ 0 h 2933"/>
                <a:gd name="T64" fmla="*/ 0 w 1549"/>
                <a:gd name="T65" fmla="*/ 0 h 2933"/>
                <a:gd name="T66" fmla="*/ 0 w 1549"/>
                <a:gd name="T67" fmla="*/ 0 h 2933"/>
                <a:gd name="T68" fmla="*/ 0 w 1549"/>
                <a:gd name="T69" fmla="*/ 0 h 2933"/>
                <a:gd name="T70" fmla="*/ 0 w 1549"/>
                <a:gd name="T71" fmla="*/ 0 h 2933"/>
                <a:gd name="T72" fmla="*/ 0 w 1549"/>
                <a:gd name="T73" fmla="*/ 0 h 2933"/>
                <a:gd name="T74" fmla="*/ 0 w 1549"/>
                <a:gd name="T75" fmla="*/ 0 h 2933"/>
                <a:gd name="T76" fmla="*/ 0 w 1549"/>
                <a:gd name="T77" fmla="*/ 0 h 29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549"/>
                <a:gd name="T118" fmla="*/ 0 h 2933"/>
                <a:gd name="T119" fmla="*/ 1549 w 1549"/>
                <a:gd name="T120" fmla="*/ 2933 h 293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549" h="2933">
                  <a:moveTo>
                    <a:pt x="0" y="2641"/>
                  </a:moveTo>
                  <a:lnTo>
                    <a:pt x="38" y="1868"/>
                  </a:lnTo>
                  <a:lnTo>
                    <a:pt x="101" y="1594"/>
                  </a:lnTo>
                  <a:lnTo>
                    <a:pt x="264" y="1486"/>
                  </a:lnTo>
                  <a:lnTo>
                    <a:pt x="419" y="1464"/>
                  </a:lnTo>
                  <a:lnTo>
                    <a:pt x="552" y="1403"/>
                  </a:lnTo>
                  <a:lnTo>
                    <a:pt x="607" y="1286"/>
                  </a:lnTo>
                  <a:lnTo>
                    <a:pt x="615" y="1109"/>
                  </a:lnTo>
                  <a:lnTo>
                    <a:pt x="560" y="1011"/>
                  </a:lnTo>
                  <a:lnTo>
                    <a:pt x="560" y="954"/>
                  </a:lnTo>
                  <a:lnTo>
                    <a:pt x="513" y="882"/>
                  </a:lnTo>
                  <a:lnTo>
                    <a:pt x="475" y="725"/>
                  </a:lnTo>
                  <a:lnTo>
                    <a:pt x="481" y="701"/>
                  </a:lnTo>
                  <a:lnTo>
                    <a:pt x="443" y="583"/>
                  </a:lnTo>
                  <a:lnTo>
                    <a:pt x="481" y="340"/>
                  </a:lnTo>
                  <a:lnTo>
                    <a:pt x="570" y="226"/>
                  </a:lnTo>
                  <a:lnTo>
                    <a:pt x="667" y="69"/>
                  </a:lnTo>
                  <a:lnTo>
                    <a:pt x="864" y="0"/>
                  </a:lnTo>
                  <a:lnTo>
                    <a:pt x="1011" y="121"/>
                  </a:lnTo>
                  <a:lnTo>
                    <a:pt x="1068" y="216"/>
                  </a:lnTo>
                  <a:lnTo>
                    <a:pt x="1151" y="265"/>
                  </a:lnTo>
                  <a:lnTo>
                    <a:pt x="1151" y="371"/>
                  </a:lnTo>
                  <a:lnTo>
                    <a:pt x="1160" y="430"/>
                  </a:lnTo>
                  <a:lnTo>
                    <a:pt x="1222" y="550"/>
                  </a:lnTo>
                  <a:lnTo>
                    <a:pt x="1173" y="714"/>
                  </a:lnTo>
                  <a:lnTo>
                    <a:pt x="1183" y="836"/>
                  </a:lnTo>
                  <a:lnTo>
                    <a:pt x="1135" y="954"/>
                  </a:lnTo>
                  <a:lnTo>
                    <a:pt x="1096" y="990"/>
                  </a:lnTo>
                  <a:lnTo>
                    <a:pt x="1096" y="1048"/>
                  </a:lnTo>
                  <a:lnTo>
                    <a:pt x="1051" y="1179"/>
                  </a:lnTo>
                  <a:lnTo>
                    <a:pt x="1019" y="1286"/>
                  </a:lnTo>
                  <a:lnTo>
                    <a:pt x="1112" y="1403"/>
                  </a:lnTo>
                  <a:lnTo>
                    <a:pt x="1276" y="1523"/>
                  </a:lnTo>
                  <a:lnTo>
                    <a:pt x="1447" y="1640"/>
                  </a:lnTo>
                  <a:lnTo>
                    <a:pt x="1525" y="1786"/>
                  </a:lnTo>
                  <a:lnTo>
                    <a:pt x="1549" y="1975"/>
                  </a:lnTo>
                  <a:lnTo>
                    <a:pt x="1546" y="2250"/>
                  </a:lnTo>
                  <a:lnTo>
                    <a:pt x="1543" y="2933"/>
                  </a:lnTo>
                  <a:lnTo>
                    <a:pt x="0" y="2641"/>
                  </a:lnTo>
                  <a:close/>
                </a:path>
              </a:pathLst>
            </a:custGeom>
            <a:solidFill>
              <a:srgbClr val="808080"/>
            </a:solidFill>
            <a:ln w="1588">
              <a:solidFill>
                <a:srgbClr val="808080"/>
              </a:solidFill>
              <a:round/>
              <a:headEnd/>
              <a:tailEnd/>
            </a:ln>
          </p:spPr>
          <p:txBody>
            <a:bodyPr/>
            <a:lstStyle/>
            <a:p>
              <a:endParaRPr lang="en-GB"/>
            </a:p>
          </p:txBody>
        </p:sp>
        <p:sp>
          <p:nvSpPr>
            <p:cNvPr id="19481" name="Freeform 26"/>
            <p:cNvSpPr>
              <a:spLocks/>
            </p:cNvSpPr>
            <p:nvPr/>
          </p:nvSpPr>
          <p:spPr bwMode="auto">
            <a:xfrm>
              <a:off x="1270" y="2379"/>
              <a:ext cx="753" cy="791"/>
            </a:xfrm>
            <a:custGeom>
              <a:avLst/>
              <a:gdLst>
                <a:gd name="T0" fmla="*/ 0 w 1507"/>
                <a:gd name="T1" fmla="*/ 0 h 2372"/>
                <a:gd name="T2" fmla="*/ 0 w 1507"/>
                <a:gd name="T3" fmla="*/ 0 h 2372"/>
                <a:gd name="T4" fmla="*/ 0 w 1507"/>
                <a:gd name="T5" fmla="*/ 0 h 2372"/>
                <a:gd name="T6" fmla="*/ 0 w 1507"/>
                <a:gd name="T7" fmla="*/ 0 h 2372"/>
                <a:gd name="T8" fmla="*/ 0 w 1507"/>
                <a:gd name="T9" fmla="*/ 0 h 2372"/>
                <a:gd name="T10" fmla="*/ 0 w 1507"/>
                <a:gd name="T11" fmla="*/ 0 h 2372"/>
                <a:gd name="T12" fmla="*/ 0 w 1507"/>
                <a:gd name="T13" fmla="*/ 0 h 2372"/>
                <a:gd name="T14" fmla="*/ 0 w 1507"/>
                <a:gd name="T15" fmla="*/ 0 h 2372"/>
                <a:gd name="T16" fmla="*/ 0 w 1507"/>
                <a:gd name="T17" fmla="*/ 0 h 2372"/>
                <a:gd name="T18" fmla="*/ 0 w 1507"/>
                <a:gd name="T19" fmla="*/ 0 h 2372"/>
                <a:gd name="T20" fmla="*/ 0 w 1507"/>
                <a:gd name="T21" fmla="*/ 0 h 2372"/>
                <a:gd name="T22" fmla="*/ 0 w 1507"/>
                <a:gd name="T23" fmla="*/ 0 h 2372"/>
                <a:gd name="T24" fmla="*/ 0 w 1507"/>
                <a:gd name="T25" fmla="*/ 0 h 2372"/>
                <a:gd name="T26" fmla="*/ 0 w 1507"/>
                <a:gd name="T27" fmla="*/ 0 h 2372"/>
                <a:gd name="T28" fmla="*/ 0 w 1507"/>
                <a:gd name="T29" fmla="*/ 0 h 2372"/>
                <a:gd name="T30" fmla="*/ 0 w 1507"/>
                <a:gd name="T31" fmla="*/ 0 h 2372"/>
                <a:gd name="T32" fmla="*/ 0 w 1507"/>
                <a:gd name="T33" fmla="*/ 0 h 2372"/>
                <a:gd name="T34" fmla="*/ 0 w 1507"/>
                <a:gd name="T35" fmla="*/ 0 h 2372"/>
                <a:gd name="T36" fmla="*/ 0 w 1507"/>
                <a:gd name="T37" fmla="*/ 0 h 2372"/>
                <a:gd name="T38" fmla="*/ 0 w 1507"/>
                <a:gd name="T39" fmla="*/ 0 h 2372"/>
                <a:gd name="T40" fmla="*/ 0 w 1507"/>
                <a:gd name="T41" fmla="*/ 0 h 2372"/>
                <a:gd name="T42" fmla="*/ 0 w 1507"/>
                <a:gd name="T43" fmla="*/ 0 h 2372"/>
                <a:gd name="T44" fmla="*/ 0 w 1507"/>
                <a:gd name="T45" fmla="*/ 0 h 2372"/>
                <a:gd name="T46" fmla="*/ 0 w 1507"/>
                <a:gd name="T47" fmla="*/ 0 h 2372"/>
                <a:gd name="T48" fmla="*/ 0 w 1507"/>
                <a:gd name="T49" fmla="*/ 0 h 2372"/>
                <a:gd name="T50" fmla="*/ 0 w 1507"/>
                <a:gd name="T51" fmla="*/ 0 h 2372"/>
                <a:gd name="T52" fmla="*/ 0 w 1507"/>
                <a:gd name="T53" fmla="*/ 0 h 2372"/>
                <a:gd name="T54" fmla="*/ 0 w 1507"/>
                <a:gd name="T55" fmla="*/ 0 h 2372"/>
                <a:gd name="T56" fmla="*/ 0 w 1507"/>
                <a:gd name="T57" fmla="*/ 0 h 2372"/>
                <a:gd name="T58" fmla="*/ 0 w 1507"/>
                <a:gd name="T59" fmla="*/ 0 h 2372"/>
                <a:gd name="T60" fmla="*/ 0 w 1507"/>
                <a:gd name="T61" fmla="*/ 0 h 2372"/>
                <a:gd name="T62" fmla="*/ 0 w 1507"/>
                <a:gd name="T63" fmla="*/ 0 h 2372"/>
                <a:gd name="T64" fmla="*/ 0 w 1507"/>
                <a:gd name="T65" fmla="*/ 0 h 2372"/>
                <a:gd name="T66" fmla="*/ 0 w 1507"/>
                <a:gd name="T67" fmla="*/ 0 h 2372"/>
                <a:gd name="T68" fmla="*/ 0 w 1507"/>
                <a:gd name="T69" fmla="*/ 0 h 2372"/>
                <a:gd name="T70" fmla="*/ 0 w 1507"/>
                <a:gd name="T71" fmla="*/ 0 h 2372"/>
                <a:gd name="T72" fmla="*/ 0 w 1507"/>
                <a:gd name="T73" fmla="*/ 0 h 2372"/>
                <a:gd name="T74" fmla="*/ 0 w 1507"/>
                <a:gd name="T75" fmla="*/ 0 h 2372"/>
                <a:gd name="T76" fmla="*/ 0 w 1507"/>
                <a:gd name="T77" fmla="*/ 0 h 237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507"/>
                <a:gd name="T118" fmla="*/ 0 h 2372"/>
                <a:gd name="T119" fmla="*/ 1507 w 1507"/>
                <a:gd name="T120" fmla="*/ 2372 h 2372"/>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507" h="2372">
                  <a:moveTo>
                    <a:pt x="0" y="2366"/>
                  </a:moveTo>
                  <a:lnTo>
                    <a:pt x="40" y="1865"/>
                  </a:lnTo>
                  <a:lnTo>
                    <a:pt x="97" y="1629"/>
                  </a:lnTo>
                  <a:lnTo>
                    <a:pt x="260" y="1501"/>
                  </a:lnTo>
                  <a:lnTo>
                    <a:pt x="421" y="1460"/>
                  </a:lnTo>
                  <a:lnTo>
                    <a:pt x="555" y="1401"/>
                  </a:lnTo>
                  <a:lnTo>
                    <a:pt x="609" y="1284"/>
                  </a:lnTo>
                  <a:lnTo>
                    <a:pt x="615" y="1105"/>
                  </a:lnTo>
                  <a:lnTo>
                    <a:pt x="559" y="1046"/>
                  </a:lnTo>
                  <a:lnTo>
                    <a:pt x="513" y="968"/>
                  </a:lnTo>
                  <a:lnTo>
                    <a:pt x="501" y="919"/>
                  </a:lnTo>
                  <a:lnTo>
                    <a:pt x="475" y="724"/>
                  </a:lnTo>
                  <a:lnTo>
                    <a:pt x="479" y="725"/>
                  </a:lnTo>
                  <a:lnTo>
                    <a:pt x="443" y="579"/>
                  </a:lnTo>
                  <a:lnTo>
                    <a:pt x="484" y="340"/>
                  </a:lnTo>
                  <a:lnTo>
                    <a:pt x="569" y="224"/>
                  </a:lnTo>
                  <a:lnTo>
                    <a:pt x="668" y="70"/>
                  </a:lnTo>
                  <a:lnTo>
                    <a:pt x="864" y="0"/>
                  </a:lnTo>
                  <a:lnTo>
                    <a:pt x="1019" y="87"/>
                  </a:lnTo>
                  <a:lnTo>
                    <a:pt x="1093" y="189"/>
                  </a:lnTo>
                  <a:lnTo>
                    <a:pt x="1154" y="259"/>
                  </a:lnTo>
                  <a:lnTo>
                    <a:pt x="1166" y="358"/>
                  </a:lnTo>
                  <a:lnTo>
                    <a:pt x="1211" y="431"/>
                  </a:lnTo>
                  <a:lnTo>
                    <a:pt x="1222" y="548"/>
                  </a:lnTo>
                  <a:lnTo>
                    <a:pt x="1176" y="712"/>
                  </a:lnTo>
                  <a:lnTo>
                    <a:pt x="1184" y="832"/>
                  </a:lnTo>
                  <a:lnTo>
                    <a:pt x="1138" y="951"/>
                  </a:lnTo>
                  <a:lnTo>
                    <a:pt x="1099" y="987"/>
                  </a:lnTo>
                  <a:lnTo>
                    <a:pt x="1099" y="1043"/>
                  </a:lnTo>
                  <a:lnTo>
                    <a:pt x="1009" y="1159"/>
                  </a:lnTo>
                  <a:lnTo>
                    <a:pt x="1032" y="1372"/>
                  </a:lnTo>
                  <a:lnTo>
                    <a:pt x="1128" y="1514"/>
                  </a:lnTo>
                  <a:lnTo>
                    <a:pt x="1278" y="1582"/>
                  </a:lnTo>
                  <a:lnTo>
                    <a:pt x="1444" y="1664"/>
                  </a:lnTo>
                  <a:lnTo>
                    <a:pt x="1493" y="1784"/>
                  </a:lnTo>
                  <a:lnTo>
                    <a:pt x="1502" y="2027"/>
                  </a:lnTo>
                  <a:lnTo>
                    <a:pt x="1507" y="2206"/>
                  </a:lnTo>
                  <a:lnTo>
                    <a:pt x="1502" y="2372"/>
                  </a:lnTo>
                  <a:lnTo>
                    <a:pt x="0" y="2366"/>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2" name="Freeform 27"/>
            <p:cNvSpPr>
              <a:spLocks/>
            </p:cNvSpPr>
            <p:nvPr/>
          </p:nvSpPr>
          <p:spPr bwMode="auto">
            <a:xfrm>
              <a:off x="576" y="2383"/>
              <a:ext cx="826" cy="794"/>
            </a:xfrm>
            <a:custGeom>
              <a:avLst/>
              <a:gdLst>
                <a:gd name="T0" fmla="*/ 0 w 1653"/>
                <a:gd name="T1" fmla="*/ 0 h 2380"/>
                <a:gd name="T2" fmla="*/ 0 w 1653"/>
                <a:gd name="T3" fmla="*/ 0 h 2380"/>
                <a:gd name="T4" fmla="*/ 0 w 1653"/>
                <a:gd name="T5" fmla="*/ 0 h 2380"/>
                <a:gd name="T6" fmla="*/ 0 w 1653"/>
                <a:gd name="T7" fmla="*/ 0 h 2380"/>
                <a:gd name="T8" fmla="*/ 0 w 1653"/>
                <a:gd name="T9" fmla="*/ 0 h 2380"/>
                <a:gd name="T10" fmla="*/ 0 w 1653"/>
                <a:gd name="T11" fmla="*/ 0 h 2380"/>
                <a:gd name="T12" fmla="*/ 0 w 1653"/>
                <a:gd name="T13" fmla="*/ 0 h 2380"/>
                <a:gd name="T14" fmla="*/ 0 w 1653"/>
                <a:gd name="T15" fmla="*/ 0 h 2380"/>
                <a:gd name="T16" fmla="*/ 0 w 1653"/>
                <a:gd name="T17" fmla="*/ 0 h 2380"/>
                <a:gd name="T18" fmla="*/ 0 w 1653"/>
                <a:gd name="T19" fmla="*/ 0 h 2380"/>
                <a:gd name="T20" fmla="*/ 0 w 1653"/>
                <a:gd name="T21" fmla="*/ 0 h 2380"/>
                <a:gd name="T22" fmla="*/ 0 w 1653"/>
                <a:gd name="T23" fmla="*/ 0 h 2380"/>
                <a:gd name="T24" fmla="*/ 0 w 1653"/>
                <a:gd name="T25" fmla="*/ 0 h 2380"/>
                <a:gd name="T26" fmla="*/ 0 w 1653"/>
                <a:gd name="T27" fmla="*/ 0 h 2380"/>
                <a:gd name="T28" fmla="*/ 0 w 1653"/>
                <a:gd name="T29" fmla="*/ 0 h 2380"/>
                <a:gd name="T30" fmla="*/ 0 w 1653"/>
                <a:gd name="T31" fmla="*/ 0 h 2380"/>
                <a:gd name="T32" fmla="*/ 0 w 1653"/>
                <a:gd name="T33" fmla="*/ 0 h 2380"/>
                <a:gd name="T34" fmla="*/ 0 w 1653"/>
                <a:gd name="T35" fmla="*/ 0 h 2380"/>
                <a:gd name="T36" fmla="*/ 0 w 1653"/>
                <a:gd name="T37" fmla="*/ 0 h 2380"/>
                <a:gd name="T38" fmla="*/ 0 w 1653"/>
                <a:gd name="T39" fmla="*/ 0 h 2380"/>
                <a:gd name="T40" fmla="*/ 0 w 1653"/>
                <a:gd name="T41" fmla="*/ 0 h 2380"/>
                <a:gd name="T42" fmla="*/ 0 w 1653"/>
                <a:gd name="T43" fmla="*/ 0 h 2380"/>
                <a:gd name="T44" fmla="*/ 0 w 1653"/>
                <a:gd name="T45" fmla="*/ 0 h 2380"/>
                <a:gd name="T46" fmla="*/ 0 w 1653"/>
                <a:gd name="T47" fmla="*/ 0 h 2380"/>
                <a:gd name="T48" fmla="*/ 0 w 1653"/>
                <a:gd name="T49" fmla="*/ 0 h 2380"/>
                <a:gd name="T50" fmla="*/ 0 w 1653"/>
                <a:gd name="T51" fmla="*/ 0 h 2380"/>
                <a:gd name="T52" fmla="*/ 0 w 1653"/>
                <a:gd name="T53" fmla="*/ 0 h 2380"/>
                <a:gd name="T54" fmla="*/ 0 w 1653"/>
                <a:gd name="T55" fmla="*/ 0 h 2380"/>
                <a:gd name="T56" fmla="*/ 0 w 1653"/>
                <a:gd name="T57" fmla="*/ 0 h 2380"/>
                <a:gd name="T58" fmla="*/ 0 w 1653"/>
                <a:gd name="T59" fmla="*/ 0 h 2380"/>
                <a:gd name="T60" fmla="*/ 0 w 1653"/>
                <a:gd name="T61" fmla="*/ 0 h 2380"/>
                <a:gd name="T62" fmla="*/ 0 w 1653"/>
                <a:gd name="T63" fmla="*/ 0 h 2380"/>
                <a:gd name="T64" fmla="*/ 0 w 1653"/>
                <a:gd name="T65" fmla="*/ 0 h 2380"/>
                <a:gd name="T66" fmla="*/ 0 w 1653"/>
                <a:gd name="T67" fmla="*/ 0 h 2380"/>
                <a:gd name="T68" fmla="*/ 0 w 1653"/>
                <a:gd name="T69" fmla="*/ 0 h 2380"/>
                <a:gd name="T70" fmla="*/ 0 w 1653"/>
                <a:gd name="T71" fmla="*/ 0 h 2380"/>
                <a:gd name="T72" fmla="*/ 0 w 1653"/>
                <a:gd name="T73" fmla="*/ 0 h 2380"/>
                <a:gd name="T74" fmla="*/ 0 w 1653"/>
                <a:gd name="T75" fmla="*/ 0 h 23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53"/>
                <a:gd name="T115" fmla="*/ 0 h 2380"/>
                <a:gd name="T116" fmla="*/ 1653 w 1653"/>
                <a:gd name="T117" fmla="*/ 2380 h 23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53" h="2380">
                  <a:moveTo>
                    <a:pt x="0" y="2380"/>
                  </a:moveTo>
                  <a:lnTo>
                    <a:pt x="34" y="1839"/>
                  </a:lnTo>
                  <a:lnTo>
                    <a:pt x="82" y="1712"/>
                  </a:lnTo>
                  <a:lnTo>
                    <a:pt x="153" y="1528"/>
                  </a:lnTo>
                  <a:lnTo>
                    <a:pt x="237" y="1508"/>
                  </a:lnTo>
                  <a:lnTo>
                    <a:pt x="400" y="1473"/>
                  </a:lnTo>
                  <a:lnTo>
                    <a:pt x="478" y="1427"/>
                  </a:lnTo>
                  <a:lnTo>
                    <a:pt x="548" y="1365"/>
                  </a:lnTo>
                  <a:lnTo>
                    <a:pt x="573" y="1208"/>
                  </a:lnTo>
                  <a:lnTo>
                    <a:pt x="495" y="997"/>
                  </a:lnTo>
                  <a:lnTo>
                    <a:pt x="440" y="975"/>
                  </a:lnTo>
                  <a:lnTo>
                    <a:pt x="393" y="747"/>
                  </a:lnTo>
                  <a:lnTo>
                    <a:pt x="425" y="686"/>
                  </a:lnTo>
                  <a:lnTo>
                    <a:pt x="409" y="464"/>
                  </a:lnTo>
                  <a:lnTo>
                    <a:pt x="418" y="246"/>
                  </a:lnTo>
                  <a:lnTo>
                    <a:pt x="472" y="163"/>
                  </a:lnTo>
                  <a:lnTo>
                    <a:pt x="588" y="19"/>
                  </a:lnTo>
                  <a:lnTo>
                    <a:pt x="681" y="0"/>
                  </a:lnTo>
                  <a:lnTo>
                    <a:pt x="806" y="0"/>
                  </a:lnTo>
                  <a:lnTo>
                    <a:pt x="899" y="57"/>
                  </a:lnTo>
                  <a:lnTo>
                    <a:pt x="977" y="163"/>
                  </a:lnTo>
                  <a:lnTo>
                    <a:pt x="1032" y="345"/>
                  </a:lnTo>
                  <a:lnTo>
                    <a:pt x="1046" y="496"/>
                  </a:lnTo>
                  <a:lnTo>
                    <a:pt x="1047" y="631"/>
                  </a:lnTo>
                  <a:lnTo>
                    <a:pt x="1093" y="653"/>
                  </a:lnTo>
                  <a:lnTo>
                    <a:pt x="1079" y="865"/>
                  </a:lnTo>
                  <a:lnTo>
                    <a:pt x="1012" y="903"/>
                  </a:lnTo>
                  <a:lnTo>
                    <a:pt x="993" y="1030"/>
                  </a:lnTo>
                  <a:lnTo>
                    <a:pt x="968" y="1179"/>
                  </a:lnTo>
                  <a:lnTo>
                    <a:pt x="984" y="1296"/>
                  </a:lnTo>
                  <a:lnTo>
                    <a:pt x="1070" y="1368"/>
                  </a:lnTo>
                  <a:lnTo>
                    <a:pt x="1186" y="1413"/>
                  </a:lnTo>
                  <a:lnTo>
                    <a:pt x="1351" y="1447"/>
                  </a:lnTo>
                  <a:lnTo>
                    <a:pt x="1468" y="1462"/>
                  </a:lnTo>
                  <a:lnTo>
                    <a:pt x="1531" y="1579"/>
                  </a:lnTo>
                  <a:lnTo>
                    <a:pt x="1578" y="1687"/>
                  </a:lnTo>
                  <a:lnTo>
                    <a:pt x="1653" y="2353"/>
                  </a:lnTo>
                  <a:lnTo>
                    <a:pt x="0" y="2380"/>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3" name="Freeform 28"/>
            <p:cNvSpPr>
              <a:spLocks/>
            </p:cNvSpPr>
            <p:nvPr/>
          </p:nvSpPr>
          <p:spPr bwMode="auto">
            <a:xfrm>
              <a:off x="4013" y="2188"/>
              <a:ext cx="781" cy="992"/>
            </a:xfrm>
            <a:custGeom>
              <a:avLst/>
              <a:gdLst>
                <a:gd name="T0" fmla="*/ 1 w 1562"/>
                <a:gd name="T1" fmla="*/ 0 h 2975"/>
                <a:gd name="T2" fmla="*/ 0 w 1562"/>
                <a:gd name="T3" fmla="*/ 0 h 2975"/>
                <a:gd name="T4" fmla="*/ 1 w 1562"/>
                <a:gd name="T5" fmla="*/ 0 h 2975"/>
                <a:gd name="T6" fmla="*/ 1 w 1562"/>
                <a:gd name="T7" fmla="*/ 0 h 2975"/>
                <a:gd name="T8" fmla="*/ 1 w 1562"/>
                <a:gd name="T9" fmla="*/ 0 h 2975"/>
                <a:gd name="T10" fmla="*/ 1 w 1562"/>
                <a:gd name="T11" fmla="*/ 0 h 2975"/>
                <a:gd name="T12" fmla="*/ 1 w 1562"/>
                <a:gd name="T13" fmla="*/ 0 h 2975"/>
                <a:gd name="T14" fmla="*/ 1 w 1562"/>
                <a:gd name="T15" fmla="*/ 0 h 2975"/>
                <a:gd name="T16" fmla="*/ 1 w 1562"/>
                <a:gd name="T17" fmla="*/ 0 h 2975"/>
                <a:gd name="T18" fmla="*/ 1 w 1562"/>
                <a:gd name="T19" fmla="*/ 0 h 2975"/>
                <a:gd name="T20" fmla="*/ 1 w 1562"/>
                <a:gd name="T21" fmla="*/ 0 h 2975"/>
                <a:gd name="T22" fmla="*/ 1 w 1562"/>
                <a:gd name="T23" fmla="*/ 0 h 2975"/>
                <a:gd name="T24" fmla="*/ 1 w 1562"/>
                <a:gd name="T25" fmla="*/ 0 h 2975"/>
                <a:gd name="T26" fmla="*/ 1 w 1562"/>
                <a:gd name="T27" fmla="*/ 0 h 2975"/>
                <a:gd name="T28" fmla="*/ 1 w 1562"/>
                <a:gd name="T29" fmla="*/ 0 h 2975"/>
                <a:gd name="T30" fmla="*/ 1 w 1562"/>
                <a:gd name="T31" fmla="*/ 0 h 2975"/>
                <a:gd name="T32" fmla="*/ 1 w 1562"/>
                <a:gd name="T33" fmla="*/ 0 h 2975"/>
                <a:gd name="T34" fmla="*/ 1 w 1562"/>
                <a:gd name="T35" fmla="*/ 0 h 2975"/>
                <a:gd name="T36" fmla="*/ 1 w 1562"/>
                <a:gd name="T37" fmla="*/ 0 h 2975"/>
                <a:gd name="T38" fmla="*/ 1 w 1562"/>
                <a:gd name="T39" fmla="*/ 0 h 2975"/>
                <a:gd name="T40" fmla="*/ 1 w 1562"/>
                <a:gd name="T41" fmla="*/ 0 h 2975"/>
                <a:gd name="T42" fmla="*/ 1 w 1562"/>
                <a:gd name="T43" fmla="*/ 0 h 2975"/>
                <a:gd name="T44" fmla="*/ 1 w 1562"/>
                <a:gd name="T45" fmla="*/ 0 h 2975"/>
                <a:gd name="T46" fmla="*/ 1 w 1562"/>
                <a:gd name="T47" fmla="*/ 0 h 2975"/>
                <a:gd name="T48" fmla="*/ 1 w 1562"/>
                <a:gd name="T49" fmla="*/ 0 h 2975"/>
                <a:gd name="T50" fmla="*/ 1 w 1562"/>
                <a:gd name="T51" fmla="*/ 0 h 2975"/>
                <a:gd name="T52" fmla="*/ 1 w 1562"/>
                <a:gd name="T53" fmla="*/ 0 h 2975"/>
                <a:gd name="T54" fmla="*/ 1 w 1562"/>
                <a:gd name="T55" fmla="*/ 0 h 2975"/>
                <a:gd name="T56" fmla="*/ 1 w 1562"/>
                <a:gd name="T57" fmla="*/ 0 h 2975"/>
                <a:gd name="T58" fmla="*/ 1 w 1562"/>
                <a:gd name="T59" fmla="*/ 0 h 2975"/>
                <a:gd name="T60" fmla="*/ 1 w 1562"/>
                <a:gd name="T61" fmla="*/ 0 h 2975"/>
                <a:gd name="T62" fmla="*/ 1 w 1562"/>
                <a:gd name="T63" fmla="*/ 0 h 2975"/>
                <a:gd name="T64" fmla="*/ 1 w 1562"/>
                <a:gd name="T65" fmla="*/ 0 h 2975"/>
                <a:gd name="T66" fmla="*/ 1 w 1562"/>
                <a:gd name="T67" fmla="*/ 0 h 2975"/>
                <a:gd name="T68" fmla="*/ 1 w 1562"/>
                <a:gd name="T69" fmla="*/ 0 h 2975"/>
                <a:gd name="T70" fmla="*/ 1 w 1562"/>
                <a:gd name="T71" fmla="*/ 0 h 2975"/>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62"/>
                <a:gd name="T109" fmla="*/ 0 h 2975"/>
                <a:gd name="T110" fmla="*/ 1562 w 1562"/>
                <a:gd name="T111" fmla="*/ 2975 h 2975"/>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62" h="2975">
                  <a:moveTo>
                    <a:pt x="30" y="2946"/>
                  </a:moveTo>
                  <a:lnTo>
                    <a:pt x="17" y="2910"/>
                  </a:lnTo>
                  <a:lnTo>
                    <a:pt x="7" y="2816"/>
                  </a:lnTo>
                  <a:lnTo>
                    <a:pt x="0" y="2527"/>
                  </a:lnTo>
                  <a:lnTo>
                    <a:pt x="13" y="2049"/>
                  </a:lnTo>
                  <a:lnTo>
                    <a:pt x="30" y="1934"/>
                  </a:lnTo>
                  <a:lnTo>
                    <a:pt x="56" y="1827"/>
                  </a:lnTo>
                  <a:lnTo>
                    <a:pt x="129" y="1758"/>
                  </a:lnTo>
                  <a:lnTo>
                    <a:pt x="258" y="1658"/>
                  </a:lnTo>
                  <a:lnTo>
                    <a:pt x="464" y="1489"/>
                  </a:lnTo>
                  <a:lnTo>
                    <a:pt x="441" y="1454"/>
                  </a:lnTo>
                  <a:lnTo>
                    <a:pt x="367" y="1394"/>
                  </a:lnTo>
                  <a:lnTo>
                    <a:pt x="290" y="1329"/>
                  </a:lnTo>
                  <a:lnTo>
                    <a:pt x="253" y="1280"/>
                  </a:lnTo>
                  <a:lnTo>
                    <a:pt x="259" y="1262"/>
                  </a:lnTo>
                  <a:lnTo>
                    <a:pt x="274" y="1258"/>
                  </a:lnTo>
                  <a:lnTo>
                    <a:pt x="288" y="1255"/>
                  </a:lnTo>
                  <a:lnTo>
                    <a:pt x="294" y="1238"/>
                  </a:lnTo>
                  <a:lnTo>
                    <a:pt x="293" y="1217"/>
                  </a:lnTo>
                  <a:lnTo>
                    <a:pt x="290" y="1204"/>
                  </a:lnTo>
                  <a:lnTo>
                    <a:pt x="279" y="1196"/>
                  </a:lnTo>
                  <a:lnTo>
                    <a:pt x="273" y="1190"/>
                  </a:lnTo>
                  <a:lnTo>
                    <a:pt x="272" y="1178"/>
                  </a:lnTo>
                  <a:lnTo>
                    <a:pt x="273" y="1155"/>
                  </a:lnTo>
                  <a:lnTo>
                    <a:pt x="302" y="970"/>
                  </a:lnTo>
                  <a:lnTo>
                    <a:pt x="317" y="866"/>
                  </a:lnTo>
                  <a:lnTo>
                    <a:pt x="321" y="823"/>
                  </a:lnTo>
                  <a:lnTo>
                    <a:pt x="323" y="788"/>
                  </a:lnTo>
                  <a:lnTo>
                    <a:pt x="302" y="650"/>
                  </a:lnTo>
                  <a:lnTo>
                    <a:pt x="290" y="576"/>
                  </a:lnTo>
                  <a:lnTo>
                    <a:pt x="286" y="544"/>
                  </a:lnTo>
                  <a:lnTo>
                    <a:pt x="285" y="514"/>
                  </a:lnTo>
                  <a:lnTo>
                    <a:pt x="315" y="351"/>
                  </a:lnTo>
                  <a:lnTo>
                    <a:pt x="365" y="198"/>
                  </a:lnTo>
                  <a:lnTo>
                    <a:pt x="448" y="79"/>
                  </a:lnTo>
                  <a:lnTo>
                    <a:pt x="500" y="27"/>
                  </a:lnTo>
                  <a:lnTo>
                    <a:pt x="548" y="0"/>
                  </a:lnTo>
                  <a:lnTo>
                    <a:pt x="577" y="13"/>
                  </a:lnTo>
                  <a:lnTo>
                    <a:pt x="607" y="37"/>
                  </a:lnTo>
                  <a:lnTo>
                    <a:pt x="688" y="82"/>
                  </a:lnTo>
                  <a:lnTo>
                    <a:pt x="718" y="71"/>
                  </a:lnTo>
                  <a:lnTo>
                    <a:pt x="746" y="61"/>
                  </a:lnTo>
                  <a:lnTo>
                    <a:pt x="791" y="92"/>
                  </a:lnTo>
                  <a:lnTo>
                    <a:pt x="843" y="154"/>
                  </a:lnTo>
                  <a:lnTo>
                    <a:pt x="923" y="292"/>
                  </a:lnTo>
                  <a:lnTo>
                    <a:pt x="969" y="448"/>
                  </a:lnTo>
                  <a:lnTo>
                    <a:pt x="1004" y="615"/>
                  </a:lnTo>
                  <a:lnTo>
                    <a:pt x="1047" y="950"/>
                  </a:lnTo>
                  <a:lnTo>
                    <a:pt x="1055" y="1215"/>
                  </a:lnTo>
                  <a:lnTo>
                    <a:pt x="1059" y="1307"/>
                  </a:lnTo>
                  <a:lnTo>
                    <a:pt x="1061" y="1358"/>
                  </a:lnTo>
                  <a:lnTo>
                    <a:pt x="1061" y="1381"/>
                  </a:lnTo>
                  <a:lnTo>
                    <a:pt x="1060" y="1404"/>
                  </a:lnTo>
                  <a:lnTo>
                    <a:pt x="1053" y="1434"/>
                  </a:lnTo>
                  <a:lnTo>
                    <a:pt x="1047" y="1472"/>
                  </a:lnTo>
                  <a:lnTo>
                    <a:pt x="1091" y="1537"/>
                  </a:lnTo>
                  <a:lnTo>
                    <a:pt x="1149" y="1586"/>
                  </a:lnTo>
                  <a:lnTo>
                    <a:pt x="1295" y="1707"/>
                  </a:lnTo>
                  <a:lnTo>
                    <a:pt x="1549" y="2224"/>
                  </a:lnTo>
                  <a:lnTo>
                    <a:pt x="1556" y="2331"/>
                  </a:lnTo>
                  <a:lnTo>
                    <a:pt x="1550" y="2347"/>
                  </a:lnTo>
                  <a:lnTo>
                    <a:pt x="1549" y="2379"/>
                  </a:lnTo>
                  <a:lnTo>
                    <a:pt x="1549" y="2405"/>
                  </a:lnTo>
                  <a:lnTo>
                    <a:pt x="1549" y="2441"/>
                  </a:lnTo>
                  <a:lnTo>
                    <a:pt x="1559" y="2761"/>
                  </a:lnTo>
                  <a:lnTo>
                    <a:pt x="1562" y="2901"/>
                  </a:lnTo>
                  <a:lnTo>
                    <a:pt x="1562" y="2926"/>
                  </a:lnTo>
                  <a:lnTo>
                    <a:pt x="1561" y="2945"/>
                  </a:lnTo>
                  <a:lnTo>
                    <a:pt x="1555" y="2962"/>
                  </a:lnTo>
                  <a:lnTo>
                    <a:pt x="756" y="2975"/>
                  </a:lnTo>
                  <a:lnTo>
                    <a:pt x="362" y="2971"/>
                  </a:lnTo>
                  <a:lnTo>
                    <a:pt x="30" y="2946"/>
                  </a:lnTo>
                  <a:close/>
                </a:path>
              </a:pathLst>
            </a:custGeom>
            <a:solidFill>
              <a:srgbClr val="C0C0C0"/>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4" name="Freeform 29"/>
            <p:cNvSpPr>
              <a:spLocks/>
            </p:cNvSpPr>
            <p:nvPr/>
          </p:nvSpPr>
          <p:spPr bwMode="auto">
            <a:xfrm>
              <a:off x="4455" y="2384"/>
              <a:ext cx="826" cy="793"/>
            </a:xfrm>
            <a:custGeom>
              <a:avLst/>
              <a:gdLst>
                <a:gd name="T0" fmla="*/ 0 w 1654"/>
                <a:gd name="T1" fmla="*/ 0 h 2380"/>
                <a:gd name="T2" fmla="*/ 0 w 1654"/>
                <a:gd name="T3" fmla="*/ 0 h 2380"/>
                <a:gd name="T4" fmla="*/ 0 w 1654"/>
                <a:gd name="T5" fmla="*/ 0 h 2380"/>
                <a:gd name="T6" fmla="*/ 0 w 1654"/>
                <a:gd name="T7" fmla="*/ 0 h 2380"/>
                <a:gd name="T8" fmla="*/ 0 w 1654"/>
                <a:gd name="T9" fmla="*/ 0 h 2380"/>
                <a:gd name="T10" fmla="*/ 0 w 1654"/>
                <a:gd name="T11" fmla="*/ 0 h 2380"/>
                <a:gd name="T12" fmla="*/ 0 w 1654"/>
                <a:gd name="T13" fmla="*/ 0 h 2380"/>
                <a:gd name="T14" fmla="*/ 0 w 1654"/>
                <a:gd name="T15" fmla="*/ 0 h 2380"/>
                <a:gd name="T16" fmla="*/ 0 w 1654"/>
                <a:gd name="T17" fmla="*/ 0 h 2380"/>
                <a:gd name="T18" fmla="*/ 0 w 1654"/>
                <a:gd name="T19" fmla="*/ 0 h 2380"/>
                <a:gd name="T20" fmla="*/ 0 w 1654"/>
                <a:gd name="T21" fmla="*/ 0 h 2380"/>
                <a:gd name="T22" fmla="*/ 0 w 1654"/>
                <a:gd name="T23" fmla="*/ 0 h 2380"/>
                <a:gd name="T24" fmla="*/ 0 w 1654"/>
                <a:gd name="T25" fmla="*/ 0 h 2380"/>
                <a:gd name="T26" fmla="*/ 0 w 1654"/>
                <a:gd name="T27" fmla="*/ 0 h 2380"/>
                <a:gd name="T28" fmla="*/ 0 w 1654"/>
                <a:gd name="T29" fmla="*/ 0 h 2380"/>
                <a:gd name="T30" fmla="*/ 0 w 1654"/>
                <a:gd name="T31" fmla="*/ 0 h 2380"/>
                <a:gd name="T32" fmla="*/ 0 w 1654"/>
                <a:gd name="T33" fmla="*/ 0 h 2380"/>
                <a:gd name="T34" fmla="*/ 0 w 1654"/>
                <a:gd name="T35" fmla="*/ 0 h 2380"/>
                <a:gd name="T36" fmla="*/ 0 w 1654"/>
                <a:gd name="T37" fmla="*/ 0 h 2380"/>
                <a:gd name="T38" fmla="*/ 0 w 1654"/>
                <a:gd name="T39" fmla="*/ 0 h 2380"/>
                <a:gd name="T40" fmla="*/ 0 w 1654"/>
                <a:gd name="T41" fmla="*/ 0 h 2380"/>
                <a:gd name="T42" fmla="*/ 0 w 1654"/>
                <a:gd name="T43" fmla="*/ 0 h 2380"/>
                <a:gd name="T44" fmla="*/ 0 w 1654"/>
                <a:gd name="T45" fmla="*/ 0 h 2380"/>
                <a:gd name="T46" fmla="*/ 0 w 1654"/>
                <a:gd name="T47" fmla="*/ 0 h 2380"/>
                <a:gd name="T48" fmla="*/ 0 w 1654"/>
                <a:gd name="T49" fmla="*/ 0 h 2380"/>
                <a:gd name="T50" fmla="*/ 0 w 1654"/>
                <a:gd name="T51" fmla="*/ 0 h 2380"/>
                <a:gd name="T52" fmla="*/ 0 w 1654"/>
                <a:gd name="T53" fmla="*/ 0 h 2380"/>
                <a:gd name="T54" fmla="*/ 0 w 1654"/>
                <a:gd name="T55" fmla="*/ 0 h 2380"/>
                <a:gd name="T56" fmla="*/ 0 w 1654"/>
                <a:gd name="T57" fmla="*/ 0 h 2380"/>
                <a:gd name="T58" fmla="*/ 0 w 1654"/>
                <a:gd name="T59" fmla="*/ 0 h 2380"/>
                <a:gd name="T60" fmla="*/ 0 w 1654"/>
                <a:gd name="T61" fmla="*/ 0 h 2380"/>
                <a:gd name="T62" fmla="*/ 0 w 1654"/>
                <a:gd name="T63" fmla="*/ 0 h 2380"/>
                <a:gd name="T64" fmla="*/ 0 w 1654"/>
                <a:gd name="T65" fmla="*/ 0 h 2380"/>
                <a:gd name="T66" fmla="*/ 0 w 1654"/>
                <a:gd name="T67" fmla="*/ 0 h 2380"/>
                <a:gd name="T68" fmla="*/ 0 w 1654"/>
                <a:gd name="T69" fmla="*/ 0 h 2380"/>
                <a:gd name="T70" fmla="*/ 0 w 1654"/>
                <a:gd name="T71" fmla="*/ 0 h 2380"/>
                <a:gd name="T72" fmla="*/ 0 w 1654"/>
                <a:gd name="T73" fmla="*/ 0 h 2380"/>
                <a:gd name="T74" fmla="*/ 0 w 1654"/>
                <a:gd name="T75" fmla="*/ 0 h 238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654"/>
                <a:gd name="T115" fmla="*/ 0 h 2380"/>
                <a:gd name="T116" fmla="*/ 1654 w 1654"/>
                <a:gd name="T117" fmla="*/ 2380 h 238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654" h="2380">
                  <a:moveTo>
                    <a:pt x="0" y="2380"/>
                  </a:moveTo>
                  <a:lnTo>
                    <a:pt x="34" y="1838"/>
                  </a:lnTo>
                  <a:lnTo>
                    <a:pt x="82" y="1711"/>
                  </a:lnTo>
                  <a:lnTo>
                    <a:pt x="154" y="1528"/>
                  </a:lnTo>
                  <a:lnTo>
                    <a:pt x="238" y="1508"/>
                  </a:lnTo>
                  <a:lnTo>
                    <a:pt x="400" y="1473"/>
                  </a:lnTo>
                  <a:lnTo>
                    <a:pt x="478" y="1427"/>
                  </a:lnTo>
                  <a:lnTo>
                    <a:pt x="548" y="1365"/>
                  </a:lnTo>
                  <a:lnTo>
                    <a:pt x="573" y="1207"/>
                  </a:lnTo>
                  <a:lnTo>
                    <a:pt x="495" y="996"/>
                  </a:lnTo>
                  <a:lnTo>
                    <a:pt x="440" y="975"/>
                  </a:lnTo>
                  <a:lnTo>
                    <a:pt x="393" y="746"/>
                  </a:lnTo>
                  <a:lnTo>
                    <a:pt x="426" y="686"/>
                  </a:lnTo>
                  <a:lnTo>
                    <a:pt x="409" y="463"/>
                  </a:lnTo>
                  <a:lnTo>
                    <a:pt x="419" y="245"/>
                  </a:lnTo>
                  <a:lnTo>
                    <a:pt x="473" y="163"/>
                  </a:lnTo>
                  <a:lnTo>
                    <a:pt x="588" y="18"/>
                  </a:lnTo>
                  <a:lnTo>
                    <a:pt x="681" y="0"/>
                  </a:lnTo>
                  <a:lnTo>
                    <a:pt x="806" y="0"/>
                  </a:lnTo>
                  <a:lnTo>
                    <a:pt x="899" y="56"/>
                  </a:lnTo>
                  <a:lnTo>
                    <a:pt x="978" y="163"/>
                  </a:lnTo>
                  <a:lnTo>
                    <a:pt x="1032" y="345"/>
                  </a:lnTo>
                  <a:lnTo>
                    <a:pt x="1046" y="495"/>
                  </a:lnTo>
                  <a:lnTo>
                    <a:pt x="1047" y="631"/>
                  </a:lnTo>
                  <a:lnTo>
                    <a:pt x="1093" y="653"/>
                  </a:lnTo>
                  <a:lnTo>
                    <a:pt x="1079" y="865"/>
                  </a:lnTo>
                  <a:lnTo>
                    <a:pt x="1013" y="902"/>
                  </a:lnTo>
                  <a:lnTo>
                    <a:pt x="993" y="1029"/>
                  </a:lnTo>
                  <a:lnTo>
                    <a:pt x="969" y="1178"/>
                  </a:lnTo>
                  <a:lnTo>
                    <a:pt x="984" y="1295"/>
                  </a:lnTo>
                  <a:lnTo>
                    <a:pt x="1071" y="1367"/>
                  </a:lnTo>
                  <a:lnTo>
                    <a:pt x="1186" y="1412"/>
                  </a:lnTo>
                  <a:lnTo>
                    <a:pt x="1351" y="1447"/>
                  </a:lnTo>
                  <a:lnTo>
                    <a:pt x="1469" y="1461"/>
                  </a:lnTo>
                  <a:lnTo>
                    <a:pt x="1531" y="1578"/>
                  </a:lnTo>
                  <a:lnTo>
                    <a:pt x="1578" y="1687"/>
                  </a:lnTo>
                  <a:lnTo>
                    <a:pt x="1654" y="2352"/>
                  </a:lnTo>
                  <a:lnTo>
                    <a:pt x="0" y="2380"/>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5" name="Freeform 30"/>
            <p:cNvSpPr>
              <a:spLocks/>
            </p:cNvSpPr>
            <p:nvPr/>
          </p:nvSpPr>
          <p:spPr bwMode="auto">
            <a:xfrm>
              <a:off x="3609" y="2463"/>
              <a:ext cx="849" cy="708"/>
            </a:xfrm>
            <a:custGeom>
              <a:avLst/>
              <a:gdLst>
                <a:gd name="T0" fmla="*/ 0 w 1697"/>
                <a:gd name="T1" fmla="*/ 0 h 2123"/>
                <a:gd name="T2" fmla="*/ 1 w 1697"/>
                <a:gd name="T3" fmla="*/ 0 h 2123"/>
                <a:gd name="T4" fmla="*/ 1 w 1697"/>
                <a:gd name="T5" fmla="*/ 0 h 2123"/>
                <a:gd name="T6" fmla="*/ 1 w 1697"/>
                <a:gd name="T7" fmla="*/ 0 h 2123"/>
                <a:gd name="T8" fmla="*/ 1 w 1697"/>
                <a:gd name="T9" fmla="*/ 0 h 2123"/>
                <a:gd name="T10" fmla="*/ 1 w 1697"/>
                <a:gd name="T11" fmla="*/ 0 h 2123"/>
                <a:gd name="T12" fmla="*/ 1 w 1697"/>
                <a:gd name="T13" fmla="*/ 0 h 2123"/>
                <a:gd name="T14" fmla="*/ 1 w 1697"/>
                <a:gd name="T15" fmla="*/ 0 h 2123"/>
                <a:gd name="T16" fmla="*/ 1 w 1697"/>
                <a:gd name="T17" fmla="*/ 0 h 2123"/>
                <a:gd name="T18" fmla="*/ 1 w 1697"/>
                <a:gd name="T19" fmla="*/ 0 h 2123"/>
                <a:gd name="T20" fmla="*/ 1 w 1697"/>
                <a:gd name="T21" fmla="*/ 0 h 2123"/>
                <a:gd name="T22" fmla="*/ 1 w 1697"/>
                <a:gd name="T23" fmla="*/ 0 h 2123"/>
                <a:gd name="T24" fmla="*/ 1 w 1697"/>
                <a:gd name="T25" fmla="*/ 0 h 2123"/>
                <a:gd name="T26" fmla="*/ 1 w 1697"/>
                <a:gd name="T27" fmla="*/ 0 h 2123"/>
                <a:gd name="T28" fmla="*/ 1 w 1697"/>
                <a:gd name="T29" fmla="*/ 0 h 2123"/>
                <a:gd name="T30" fmla="*/ 1 w 1697"/>
                <a:gd name="T31" fmla="*/ 0 h 2123"/>
                <a:gd name="T32" fmla="*/ 1 w 1697"/>
                <a:gd name="T33" fmla="*/ 0 h 2123"/>
                <a:gd name="T34" fmla="*/ 1 w 1697"/>
                <a:gd name="T35" fmla="*/ 0 h 2123"/>
                <a:gd name="T36" fmla="*/ 1 w 1697"/>
                <a:gd name="T37" fmla="*/ 0 h 2123"/>
                <a:gd name="T38" fmla="*/ 1 w 1697"/>
                <a:gd name="T39" fmla="*/ 0 h 2123"/>
                <a:gd name="T40" fmla="*/ 1 w 1697"/>
                <a:gd name="T41" fmla="*/ 0 h 2123"/>
                <a:gd name="T42" fmla="*/ 1 w 1697"/>
                <a:gd name="T43" fmla="*/ 0 h 2123"/>
                <a:gd name="T44" fmla="*/ 1 w 1697"/>
                <a:gd name="T45" fmla="*/ 0 h 2123"/>
                <a:gd name="T46" fmla="*/ 1 w 1697"/>
                <a:gd name="T47" fmla="*/ 0 h 2123"/>
                <a:gd name="T48" fmla="*/ 1 w 1697"/>
                <a:gd name="T49" fmla="*/ 0 h 2123"/>
                <a:gd name="T50" fmla="*/ 1 w 1697"/>
                <a:gd name="T51" fmla="*/ 0 h 2123"/>
                <a:gd name="T52" fmla="*/ 1 w 1697"/>
                <a:gd name="T53" fmla="*/ 0 h 2123"/>
                <a:gd name="T54" fmla="*/ 1 w 1697"/>
                <a:gd name="T55" fmla="*/ 0 h 2123"/>
                <a:gd name="T56" fmla="*/ 1 w 1697"/>
                <a:gd name="T57" fmla="*/ 0 h 2123"/>
                <a:gd name="T58" fmla="*/ 1 w 1697"/>
                <a:gd name="T59" fmla="*/ 0 h 2123"/>
                <a:gd name="T60" fmla="*/ 1 w 1697"/>
                <a:gd name="T61" fmla="*/ 0 h 2123"/>
                <a:gd name="T62" fmla="*/ 1 w 1697"/>
                <a:gd name="T63" fmla="*/ 0 h 2123"/>
                <a:gd name="T64" fmla="*/ 1 w 1697"/>
                <a:gd name="T65" fmla="*/ 0 h 2123"/>
                <a:gd name="T66" fmla="*/ 1 w 1697"/>
                <a:gd name="T67" fmla="*/ 0 h 2123"/>
                <a:gd name="T68" fmla="*/ 1 w 1697"/>
                <a:gd name="T69" fmla="*/ 0 h 2123"/>
                <a:gd name="T70" fmla="*/ 1 w 1697"/>
                <a:gd name="T71" fmla="*/ 0 h 2123"/>
                <a:gd name="T72" fmla="*/ 1 w 1697"/>
                <a:gd name="T73" fmla="*/ 0 h 2123"/>
                <a:gd name="T74" fmla="*/ 1 w 1697"/>
                <a:gd name="T75" fmla="*/ 0 h 2123"/>
                <a:gd name="T76" fmla="*/ 0 w 1697"/>
                <a:gd name="T77" fmla="*/ 0 h 212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697"/>
                <a:gd name="T118" fmla="*/ 0 h 2123"/>
                <a:gd name="T119" fmla="*/ 1697 w 1697"/>
                <a:gd name="T120" fmla="*/ 2123 h 212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697" h="2123">
                  <a:moveTo>
                    <a:pt x="0" y="2119"/>
                  </a:moveTo>
                  <a:lnTo>
                    <a:pt x="45" y="1670"/>
                  </a:lnTo>
                  <a:lnTo>
                    <a:pt x="108" y="1459"/>
                  </a:lnTo>
                  <a:lnTo>
                    <a:pt x="292" y="1343"/>
                  </a:lnTo>
                  <a:lnTo>
                    <a:pt x="473" y="1307"/>
                  </a:lnTo>
                  <a:lnTo>
                    <a:pt x="624" y="1255"/>
                  </a:lnTo>
                  <a:lnTo>
                    <a:pt x="685" y="1150"/>
                  </a:lnTo>
                  <a:lnTo>
                    <a:pt x="692" y="989"/>
                  </a:lnTo>
                  <a:lnTo>
                    <a:pt x="628" y="936"/>
                  </a:lnTo>
                  <a:lnTo>
                    <a:pt x="577" y="867"/>
                  </a:lnTo>
                  <a:lnTo>
                    <a:pt x="564" y="823"/>
                  </a:lnTo>
                  <a:lnTo>
                    <a:pt x="534" y="649"/>
                  </a:lnTo>
                  <a:lnTo>
                    <a:pt x="538" y="650"/>
                  </a:lnTo>
                  <a:lnTo>
                    <a:pt x="498" y="519"/>
                  </a:lnTo>
                  <a:lnTo>
                    <a:pt x="544" y="305"/>
                  </a:lnTo>
                  <a:lnTo>
                    <a:pt x="640" y="201"/>
                  </a:lnTo>
                  <a:lnTo>
                    <a:pt x="752" y="62"/>
                  </a:lnTo>
                  <a:lnTo>
                    <a:pt x="973" y="0"/>
                  </a:lnTo>
                  <a:lnTo>
                    <a:pt x="1147" y="78"/>
                  </a:lnTo>
                  <a:lnTo>
                    <a:pt x="1230" y="169"/>
                  </a:lnTo>
                  <a:lnTo>
                    <a:pt x="1299" y="231"/>
                  </a:lnTo>
                  <a:lnTo>
                    <a:pt x="1312" y="321"/>
                  </a:lnTo>
                  <a:lnTo>
                    <a:pt x="1363" y="386"/>
                  </a:lnTo>
                  <a:lnTo>
                    <a:pt x="1376" y="490"/>
                  </a:lnTo>
                  <a:lnTo>
                    <a:pt x="1323" y="638"/>
                  </a:lnTo>
                  <a:lnTo>
                    <a:pt x="1333" y="745"/>
                  </a:lnTo>
                  <a:lnTo>
                    <a:pt x="1282" y="851"/>
                  </a:lnTo>
                  <a:lnTo>
                    <a:pt x="1238" y="884"/>
                  </a:lnTo>
                  <a:lnTo>
                    <a:pt x="1238" y="934"/>
                  </a:lnTo>
                  <a:lnTo>
                    <a:pt x="1136" y="1037"/>
                  </a:lnTo>
                  <a:lnTo>
                    <a:pt x="1162" y="1229"/>
                  </a:lnTo>
                  <a:lnTo>
                    <a:pt x="1269" y="1355"/>
                  </a:lnTo>
                  <a:lnTo>
                    <a:pt x="1439" y="1415"/>
                  </a:lnTo>
                  <a:lnTo>
                    <a:pt x="1625" y="1491"/>
                  </a:lnTo>
                  <a:lnTo>
                    <a:pt x="1680" y="1597"/>
                  </a:lnTo>
                  <a:lnTo>
                    <a:pt x="1692" y="1814"/>
                  </a:lnTo>
                  <a:lnTo>
                    <a:pt x="1697" y="1974"/>
                  </a:lnTo>
                  <a:lnTo>
                    <a:pt x="1692" y="2123"/>
                  </a:lnTo>
                  <a:lnTo>
                    <a:pt x="0" y="2119"/>
                  </a:lnTo>
                  <a:close/>
                </a:path>
              </a:pathLst>
            </a:custGeom>
            <a:solidFill>
              <a:srgbClr val="DCDCDC"/>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GB"/>
            </a:p>
          </p:txBody>
        </p:sp>
        <p:sp>
          <p:nvSpPr>
            <p:cNvPr id="19486" name="Text Box 31"/>
            <p:cNvSpPr txBox="1">
              <a:spLocks noChangeArrowheads="1"/>
            </p:cNvSpPr>
            <p:nvPr/>
          </p:nvSpPr>
          <p:spPr bwMode="auto">
            <a:xfrm>
              <a:off x="573" y="3013"/>
              <a:ext cx="4699" cy="377"/>
            </a:xfrm>
            <a:prstGeom prst="rect">
              <a:avLst/>
            </a:prstGeom>
            <a:solidFill>
              <a:srgbClr val="DADCEC"/>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171450" indent="-17145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ctr" eaLnBrk="1" hangingPunct="1">
                <a:spcBef>
                  <a:spcPct val="50000"/>
                </a:spcBef>
                <a:buClr>
                  <a:schemeClr val="accent1"/>
                </a:buClr>
                <a:buFont typeface="Wingdings" charset="0"/>
                <a:buNone/>
              </a:pPr>
              <a:r>
                <a:rPr lang="en-US" sz="2800" dirty="0">
                  <a:solidFill>
                    <a:srgbClr val="000000"/>
                  </a:solidFill>
                  <a:latin typeface="Amaze" charset="0"/>
                </a:rPr>
                <a:t>Questions?</a:t>
              </a:r>
            </a:p>
          </p:txBody>
        </p:sp>
      </p:grpSp>
      <p:sp>
        <p:nvSpPr>
          <p:cNvPr id="2" name="Title 1">
            <a:extLst>
              <a:ext uri="{FF2B5EF4-FFF2-40B4-BE49-F238E27FC236}">
                <a16:creationId xmlns:a16="http://schemas.microsoft.com/office/drawing/2014/main" id="{219D6B32-8FF4-9440-B360-46E85F008C49}"/>
              </a:ext>
            </a:extLst>
          </p:cNvPr>
          <p:cNvSpPr>
            <a:spLocks noGrp="1"/>
          </p:cNvSpPr>
          <p:nvPr>
            <p:ph type="title"/>
          </p:nvPr>
        </p:nvSpPr>
        <p:spPr/>
        <p:txBody>
          <a:bodyPr/>
          <a:lstStyle/>
          <a:p>
            <a:r>
              <a:rPr lang="en-US" dirty="0"/>
              <a:t>Open forum</a:t>
            </a:r>
          </a:p>
        </p:txBody>
      </p:sp>
      <p:sp>
        <p:nvSpPr>
          <p:cNvPr id="33" name="Slide Number Placeholder 3">
            <a:extLst>
              <a:ext uri="{FF2B5EF4-FFF2-40B4-BE49-F238E27FC236}">
                <a16:creationId xmlns:a16="http://schemas.microsoft.com/office/drawing/2014/main" id="{3DE438FE-9500-EC4F-B5FA-3C5A4A9A4823}"/>
              </a:ext>
            </a:extLst>
          </p:cNvPr>
          <p:cNvSpPr>
            <a:spLocks noGrp="1"/>
          </p:cNvSpPr>
          <p:nvPr>
            <p:ph type="sldNum" idx="12"/>
          </p:nvPr>
        </p:nvSpPr>
        <p:spPr>
          <a:xfrm>
            <a:off x="8556782" y="4956626"/>
            <a:ext cx="548699" cy="180170"/>
          </a:xfrm>
        </p:spPr>
        <p:txBody>
          <a:body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66</a:t>
            </a:fld>
            <a:endParaRPr lang="en-US" sz="1000"/>
          </a:p>
        </p:txBody>
      </p:sp>
    </p:spTree>
    <p:extLst>
      <p:ext uri="{BB962C8B-B14F-4D97-AF65-F5344CB8AC3E}">
        <p14:creationId xmlns:p14="http://schemas.microsoft.com/office/powerpoint/2010/main" val="351296637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t>Links</a:t>
            </a:r>
            <a:endParaRPr lang="en-GB" dirty="0"/>
          </a:p>
        </p:txBody>
      </p:sp>
      <p:sp>
        <p:nvSpPr>
          <p:cNvPr id="4" name="Text Placeholder 3"/>
          <p:cNvSpPr>
            <a:spLocks noGrp="1"/>
          </p:cNvSpPr>
          <p:nvPr>
            <p:ph idx="1"/>
          </p:nvPr>
        </p:nvSpPr>
        <p:spPr>
          <a:xfrm>
            <a:off x="359200" y="853372"/>
            <a:ext cx="8473100" cy="3715503"/>
          </a:xfrm>
        </p:spPr>
        <p:txBody>
          <a:bodyPr/>
          <a:lstStyle/>
          <a:p>
            <a:pPr>
              <a:spcAft>
                <a:spcPts val="1400"/>
              </a:spcAft>
            </a:pPr>
            <a:r>
              <a:rPr lang="en-GB" dirty="0"/>
              <a:t>Press Releases and Podcast</a:t>
            </a:r>
          </a:p>
          <a:p>
            <a:pPr>
              <a:spcAft>
                <a:spcPts val="1400"/>
              </a:spcAft>
            </a:pPr>
            <a:endParaRPr lang="en-GB" dirty="0"/>
          </a:p>
          <a:p>
            <a:pPr>
              <a:spcAft>
                <a:spcPts val="1400"/>
              </a:spcAft>
            </a:pPr>
            <a:endParaRPr lang="en-GB" dirty="0"/>
          </a:p>
          <a:p>
            <a:pPr>
              <a:spcAft>
                <a:spcPts val="1400"/>
              </a:spcAft>
            </a:pPr>
            <a:endParaRPr lang="en-GB" dirty="0"/>
          </a:p>
          <a:p>
            <a:pPr>
              <a:spcAft>
                <a:spcPts val="1400"/>
              </a:spcAft>
            </a:pPr>
            <a:endParaRPr lang="en-GB" dirty="0"/>
          </a:p>
          <a:p>
            <a:r>
              <a:rPr lang="en-GB" dirty="0"/>
              <a:t>Open source repositories</a:t>
            </a:r>
          </a:p>
        </p:txBody>
      </p:sp>
      <p:sp>
        <p:nvSpPr>
          <p:cNvPr id="3" name="Slide Number Placeholder 2"/>
          <p:cNvSpPr>
            <a:spLocks noGrp="1"/>
          </p:cNvSpPr>
          <p:nvPr>
            <p:ph type="sldNum" idx="12"/>
          </p:nvPr>
        </p:nvSpPr>
        <p:spPr>
          <a:xfrm>
            <a:off x="8556782" y="5447513"/>
            <a:ext cx="548699" cy="180170"/>
          </a:xfrm>
        </p:spPr>
        <p:txBody>
          <a:bodyPr/>
          <a:lstStyle/>
          <a:p>
            <a:pPr lvl="0"/>
            <a:fld id="{00000000-1234-1234-1234-123412341234}" type="slidenum">
              <a:rPr lang="en-US" smtClean="0">
                <a:sym typeface="Arial"/>
              </a:rPr>
              <a:pPr lvl="0"/>
              <a:t>67</a:t>
            </a:fld>
            <a:endParaRPr lang="en-US" dirty="0">
              <a:sym typeface="Arial"/>
            </a:endParaRPr>
          </a:p>
        </p:txBody>
      </p:sp>
      <p:sp>
        <p:nvSpPr>
          <p:cNvPr id="5" name="Rectangle 4"/>
          <p:cNvSpPr/>
          <p:nvPr/>
        </p:nvSpPr>
        <p:spPr>
          <a:xfrm>
            <a:off x="508404" y="3741969"/>
            <a:ext cx="5968131" cy="523220"/>
          </a:xfrm>
          <a:prstGeom prst="rect">
            <a:avLst/>
          </a:prstGeom>
        </p:spPr>
        <p:txBody>
          <a:bodyPr wrap="square">
            <a:spAutoFit/>
          </a:bodyPr>
          <a:lstStyle/>
          <a:p>
            <a:pPr marL="742950" lvl="1" indent="-285750">
              <a:buClr>
                <a:schemeClr val="accent1"/>
              </a:buClr>
              <a:buFont typeface="Arial"/>
              <a:buChar char="•"/>
            </a:pPr>
            <a:r>
              <a:rPr lang="en-GB" dirty="0">
                <a:hlinkClick r:id="rId2"/>
              </a:rPr>
              <a:t>https://github.com/odpi/data-governance</a:t>
            </a:r>
            <a:endParaRPr lang="en-GB" dirty="0"/>
          </a:p>
          <a:p>
            <a:pPr marL="742950" lvl="1" indent="-285750">
              <a:buClr>
                <a:schemeClr val="accent1"/>
              </a:buClr>
              <a:buFont typeface="Arial"/>
              <a:buChar char="•"/>
            </a:pPr>
            <a:r>
              <a:rPr lang="en-GB" dirty="0">
                <a:hlinkClick r:id="rId3"/>
              </a:rPr>
              <a:t>https://github.com/odpi/egeria</a:t>
            </a:r>
            <a:endParaRPr lang="en-GB" dirty="0"/>
          </a:p>
        </p:txBody>
      </p:sp>
      <p:sp>
        <p:nvSpPr>
          <p:cNvPr id="8" name="Rectangle 7">
            <a:extLst>
              <a:ext uri="{FF2B5EF4-FFF2-40B4-BE49-F238E27FC236}">
                <a16:creationId xmlns:a16="http://schemas.microsoft.com/office/drawing/2014/main" id="{45FB58CA-501D-7C49-AE88-850CBDA8B4BA}"/>
              </a:ext>
            </a:extLst>
          </p:cNvPr>
          <p:cNvSpPr/>
          <p:nvPr/>
        </p:nvSpPr>
        <p:spPr>
          <a:xfrm>
            <a:off x="508404" y="1302517"/>
            <a:ext cx="8395654" cy="2462213"/>
          </a:xfrm>
          <a:prstGeom prst="rect">
            <a:avLst/>
          </a:prstGeom>
        </p:spPr>
        <p:txBody>
          <a:bodyPr wrap="square">
            <a:spAutoFit/>
          </a:bodyPr>
          <a:lstStyle/>
          <a:p>
            <a:pPr marL="742950" lvl="1" indent="-285750">
              <a:buClr>
                <a:schemeClr val="accent1"/>
              </a:buClr>
              <a:buFont typeface="Arial"/>
              <a:buChar char="•"/>
            </a:pPr>
            <a:r>
              <a:rPr lang="en-GB" dirty="0">
                <a:hlinkClick r:id="rId4"/>
              </a:rPr>
              <a:t>https://www.linuxfoundation.org/press-release/2018/08/odpi-announces-egeria-for-open-sharing-exchange-and-governance-of-metadata/</a:t>
            </a:r>
          </a:p>
          <a:p>
            <a:pPr marL="742950" lvl="1" indent="-285750">
              <a:buClr>
                <a:schemeClr val="accent1"/>
              </a:buClr>
              <a:buFont typeface="Arial"/>
              <a:buChar char="•"/>
            </a:pPr>
            <a:r>
              <a:rPr lang="en-GB" dirty="0">
                <a:hlinkClick r:id="rId4"/>
              </a:rPr>
              <a:t>https://www.linuxfoundation.org/press-release/2019/02/odpi-announces-new-egeria-conformance-program-to-advance-open-metadata-exchange-between-vendor-tools/</a:t>
            </a:r>
          </a:p>
          <a:p>
            <a:pPr marL="742950" lvl="1" indent="-285750">
              <a:buClr>
                <a:schemeClr val="accent1"/>
              </a:buClr>
              <a:buFont typeface="Arial"/>
              <a:buChar char="•"/>
            </a:pPr>
            <a:r>
              <a:rPr lang="en-GB" dirty="0">
                <a:hlinkClick r:id="rId5"/>
              </a:rPr>
              <a:t>https://roaringelephant.org/2018/09/25/episode-107-open-metadata-and-governance-masterclass-with-mandy-chessell-part-1/</a:t>
            </a:r>
            <a:endParaRPr lang="en-GB" dirty="0"/>
          </a:p>
          <a:p>
            <a:pPr marL="742950" lvl="1" indent="-285750">
              <a:buClr>
                <a:schemeClr val="accent1"/>
              </a:buClr>
              <a:buFont typeface="Arial"/>
              <a:buChar char="•"/>
            </a:pPr>
            <a:r>
              <a:rPr lang="en-GB" dirty="0">
                <a:hlinkClick r:id="" action="ppaction://noaction"/>
              </a:rPr>
              <a:t>https://roaringelephant.org/2018/10/09/episode-109-open-metadata-and-governance-</a:t>
            </a:r>
          </a:p>
          <a:p>
            <a:pPr marL="742950" lvl="1" indent="-285750">
              <a:buClr>
                <a:schemeClr val="accent1"/>
              </a:buClr>
              <a:buFont typeface="Arial"/>
              <a:buChar char="•"/>
            </a:pPr>
            <a:r>
              <a:rPr lang="en-GB" dirty="0">
                <a:hlinkClick r:id="" action="ppaction://noaction"/>
              </a:rPr>
              <a:t>masterclass-with-mandy-chessell-part-2/</a:t>
            </a:r>
            <a:endParaRPr lang="en-GB" dirty="0"/>
          </a:p>
          <a:p>
            <a:pPr marL="742950" lvl="1" indent="-285750">
              <a:buClr>
                <a:schemeClr val="accent1"/>
              </a:buClr>
              <a:buFont typeface="Arial"/>
              <a:buChar char="•"/>
            </a:pPr>
            <a:r>
              <a:rPr lang="en-GB" dirty="0">
                <a:hlinkClick r:id="rId6"/>
              </a:rPr>
              <a:t>https://youtu.be/ryd3KFWT1mc</a:t>
            </a:r>
            <a:endParaRPr lang="en-GB" dirty="0"/>
          </a:p>
          <a:p>
            <a:pPr marL="742950" lvl="1" indent="-285750">
              <a:buClr>
                <a:schemeClr val="accent1"/>
              </a:buClr>
              <a:buFont typeface="Arial"/>
              <a:buChar char="•"/>
            </a:pPr>
            <a:endParaRPr lang="en-GB" dirty="0"/>
          </a:p>
          <a:p>
            <a:pPr marL="742950" lvl="1" indent="-285750">
              <a:buClr>
                <a:schemeClr val="accent1"/>
              </a:buClr>
              <a:buFont typeface="Arial"/>
              <a:buChar char="•"/>
            </a:pPr>
            <a:endParaRPr lang="en-GB" dirty="0"/>
          </a:p>
        </p:txBody>
      </p:sp>
      <p:sp>
        <p:nvSpPr>
          <p:cNvPr id="9" name="Slide Number Placeholder 3">
            <a:extLst>
              <a:ext uri="{FF2B5EF4-FFF2-40B4-BE49-F238E27FC236}">
                <a16:creationId xmlns:a16="http://schemas.microsoft.com/office/drawing/2014/main" id="{FE968A6B-30EB-774A-95A1-1C75FE2CD488}"/>
              </a:ext>
            </a:extLst>
          </p:cNvPr>
          <p:cNvSpPr txBox="1">
            <a:spLocks/>
          </p:cNvSpPr>
          <p:nvPr/>
        </p:nvSpPr>
        <p:spPr>
          <a:xfrm>
            <a:off x="8556782" y="4956626"/>
            <a:ext cx="548699" cy="180170"/>
          </a:xfrm>
          <a:prstGeom prst="rect">
            <a:avLst/>
          </a:prstGeom>
          <a:noFill/>
          <a:ln>
            <a:noFill/>
          </a:ln>
        </p:spPr>
        <p:txBody>
          <a:bodyPr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chemeClr val="accent6">
                    <a:lumMod val="50000"/>
                  </a:schemeClr>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67</a:t>
            </a:fld>
            <a:endParaRPr lang="en-US" sz="1000"/>
          </a:p>
        </p:txBody>
      </p:sp>
    </p:spTree>
    <p:extLst>
      <p:ext uri="{BB962C8B-B14F-4D97-AF65-F5344CB8AC3E}">
        <p14:creationId xmlns:p14="http://schemas.microsoft.com/office/powerpoint/2010/main" val="496480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3074" name="Picture 2" descr="C:\Users\Tayyab\Desktop\gwallacelf\17.jpg"/>
          <p:cNvPicPr>
            <a:picLocks noChangeAspect="1" noChangeArrowheads="1"/>
          </p:cNvPicPr>
          <p:nvPr/>
        </p:nvPicPr>
        <p:blipFill rotWithShape="1">
          <a:blip r:embed="rId3"/>
          <a:srcRect b="32570"/>
          <a:stretch/>
        </p:blipFill>
        <p:spPr bwMode="auto">
          <a:xfrm>
            <a:off x="1502585" y="1148217"/>
            <a:ext cx="6193615" cy="2026058"/>
          </a:xfrm>
          <a:prstGeom prst="rect">
            <a:avLst/>
          </a:prstGeom>
          <a:noFill/>
        </p:spPr>
      </p:pic>
      <p:sp>
        <p:nvSpPr>
          <p:cNvPr id="3" name="Slide Number Placeholder 3">
            <a:extLst>
              <a:ext uri="{FF2B5EF4-FFF2-40B4-BE49-F238E27FC236}">
                <a16:creationId xmlns:a16="http://schemas.microsoft.com/office/drawing/2014/main" id="{8D6CEE50-B89E-4F4A-AB9D-B0EA6D5A2982}"/>
              </a:ext>
            </a:extLst>
          </p:cNvPr>
          <p:cNvSpPr txBox="1">
            <a:spLocks/>
          </p:cNvSpPr>
          <p:nvPr/>
        </p:nvSpPr>
        <p:spPr>
          <a:xfrm>
            <a:off x="8556782" y="4956626"/>
            <a:ext cx="548699" cy="18017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buClr>
                <a:srgbClr val="434343"/>
              </a:buClr>
              <a:buSzPct val="25000"/>
              <a:buFont typeface="Arial"/>
              <a:buNone/>
            </a:pPr>
            <a:fld id="{00000000-1234-1234-1234-123412341234}" type="slidenum">
              <a:rPr lang="en-US" sz="1000" smtClean="0"/>
              <a:pPr>
                <a:buClr>
                  <a:srgbClr val="434343"/>
                </a:buClr>
                <a:buSzPct val="25000"/>
                <a:buFont typeface="Arial"/>
                <a:buNone/>
              </a:pPr>
              <a:t>68</a:t>
            </a:fld>
            <a:endParaRPr lang="en-US" sz="1000"/>
          </a:p>
        </p:txBody>
      </p:sp>
    </p:spTree>
    <p:extLst>
      <p:ext uri="{BB962C8B-B14F-4D97-AF65-F5344CB8AC3E}">
        <p14:creationId xmlns:p14="http://schemas.microsoft.com/office/powerpoint/2010/main" val="2616549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GB" dirty="0">
                <a:latin typeface="Arial" charset="0"/>
                <a:ea typeface="ヒラギノ角ゴ ProN W6" charset="0"/>
                <a:cs typeface="ヒラギノ角ゴ ProN W6" charset="0"/>
              </a:rPr>
              <a:t>What is metadata?</a:t>
            </a:r>
          </a:p>
        </p:txBody>
      </p:sp>
      <p:pic>
        <p:nvPicPr>
          <p:cNvPr id="15362" name="Picture 2" descr="Screen Shot 2016-09-14 at 12.15.01.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40086" y="988236"/>
            <a:ext cx="6091238" cy="3586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5363" name="Slide Number Placeholder 1"/>
          <p:cNvSpPr txBox="1">
            <a:spLocks/>
          </p:cNvSpPr>
          <p:nvPr/>
        </p:nvSpPr>
        <p:spPr bwMode="auto">
          <a:xfrm>
            <a:off x="3524250" y="4767264"/>
            <a:ext cx="2133600" cy="27384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34290" tIns="17145" rIns="34290" bIns="17145" anchor="ctr"/>
          <a:lstStyle>
            <a:lvl1pPr>
              <a:defRPr sz="11200">
                <a:solidFill>
                  <a:srgbClr val="000000"/>
                </a:solidFill>
                <a:latin typeface="Gill Sans" charset="0"/>
                <a:ea typeface="ヒラギノ角ゴ ProN W3" charset="0"/>
                <a:cs typeface="ヒラギノ角ゴ ProN W3" charset="0"/>
                <a:sym typeface="Gill Sans" charset="0"/>
              </a:defRPr>
            </a:lvl1pPr>
            <a:lvl2pPr marL="742950" indent="-285750">
              <a:defRPr sz="11200">
                <a:solidFill>
                  <a:srgbClr val="000000"/>
                </a:solidFill>
                <a:latin typeface="Gill Sans" charset="0"/>
                <a:ea typeface="ヒラギノ角ゴ ProN W3" charset="0"/>
                <a:cs typeface="ヒラギノ角ゴ ProN W3" charset="0"/>
                <a:sym typeface="Gill Sans" charset="0"/>
              </a:defRPr>
            </a:lvl2pPr>
            <a:lvl3pPr marL="1143000" indent="-228600">
              <a:defRPr sz="11200">
                <a:solidFill>
                  <a:srgbClr val="000000"/>
                </a:solidFill>
                <a:latin typeface="Gill Sans" charset="0"/>
                <a:ea typeface="ヒラギノ角ゴ ProN W3" charset="0"/>
                <a:cs typeface="ヒラギノ角ゴ ProN W3" charset="0"/>
                <a:sym typeface="Gill Sans" charset="0"/>
              </a:defRPr>
            </a:lvl3pPr>
            <a:lvl4pPr marL="1600200" indent="-228600">
              <a:defRPr sz="11200">
                <a:solidFill>
                  <a:srgbClr val="000000"/>
                </a:solidFill>
                <a:latin typeface="Gill Sans" charset="0"/>
                <a:ea typeface="ヒラギノ角ゴ ProN W3" charset="0"/>
                <a:cs typeface="ヒラギノ角ゴ ProN W3" charset="0"/>
                <a:sym typeface="Gill Sans" charset="0"/>
              </a:defRPr>
            </a:lvl4pPr>
            <a:lvl5pPr marL="2057400" indent="-228600">
              <a:defRPr sz="11200">
                <a:solidFill>
                  <a:srgbClr val="000000"/>
                </a:solidFill>
                <a:latin typeface="Gill Sans" charset="0"/>
                <a:ea typeface="ヒラギノ角ゴ ProN W3" charset="0"/>
                <a:cs typeface="ヒラギノ角ゴ ProN W3" charset="0"/>
                <a:sym typeface="Gill Sans" charset="0"/>
              </a:defRPr>
            </a:lvl5pPr>
            <a:lvl6pPr marL="2514600" indent="-228600" eaLnBrk="0" fontAlgn="base" hangingPunct="0">
              <a:spcBef>
                <a:spcPct val="0"/>
              </a:spcBef>
              <a:spcAft>
                <a:spcPct val="0"/>
              </a:spcAft>
              <a:defRPr sz="11200">
                <a:solidFill>
                  <a:srgbClr val="000000"/>
                </a:solidFill>
                <a:latin typeface="Gill Sans" charset="0"/>
                <a:ea typeface="ヒラギノ角ゴ ProN W3" charset="0"/>
                <a:cs typeface="ヒラギノ角ゴ ProN W3" charset="0"/>
                <a:sym typeface="Gill Sans" charset="0"/>
              </a:defRPr>
            </a:lvl6pPr>
            <a:lvl7pPr marL="2971800" indent="-228600" eaLnBrk="0" fontAlgn="base" hangingPunct="0">
              <a:spcBef>
                <a:spcPct val="0"/>
              </a:spcBef>
              <a:spcAft>
                <a:spcPct val="0"/>
              </a:spcAft>
              <a:defRPr sz="11200">
                <a:solidFill>
                  <a:srgbClr val="000000"/>
                </a:solidFill>
                <a:latin typeface="Gill Sans" charset="0"/>
                <a:ea typeface="ヒラギノ角ゴ ProN W3" charset="0"/>
                <a:cs typeface="ヒラギノ角ゴ ProN W3" charset="0"/>
                <a:sym typeface="Gill Sans" charset="0"/>
              </a:defRPr>
            </a:lvl7pPr>
            <a:lvl8pPr marL="3429000" indent="-228600" eaLnBrk="0" fontAlgn="base" hangingPunct="0">
              <a:spcBef>
                <a:spcPct val="0"/>
              </a:spcBef>
              <a:spcAft>
                <a:spcPct val="0"/>
              </a:spcAft>
              <a:defRPr sz="11200">
                <a:solidFill>
                  <a:srgbClr val="000000"/>
                </a:solidFill>
                <a:latin typeface="Gill Sans" charset="0"/>
                <a:ea typeface="ヒラギノ角ゴ ProN W3" charset="0"/>
                <a:cs typeface="ヒラギノ角ゴ ProN W3" charset="0"/>
                <a:sym typeface="Gill Sans" charset="0"/>
              </a:defRPr>
            </a:lvl8pPr>
            <a:lvl9pPr marL="3886200" indent="-228600" eaLnBrk="0" fontAlgn="base" hangingPunct="0">
              <a:spcBef>
                <a:spcPct val="0"/>
              </a:spcBef>
              <a:spcAft>
                <a:spcPct val="0"/>
              </a:spcAft>
              <a:defRPr sz="11200">
                <a:solidFill>
                  <a:srgbClr val="000000"/>
                </a:solidFill>
                <a:latin typeface="Gill Sans" charset="0"/>
                <a:ea typeface="ヒラギノ角ゴ ProN W3" charset="0"/>
                <a:cs typeface="ヒラギノ角ゴ ProN W3" charset="0"/>
                <a:sym typeface="Gill Sans" charset="0"/>
              </a:defRPr>
            </a:lvl9pPr>
          </a:lstStyle>
          <a:p>
            <a:pPr algn="ctr"/>
            <a:fld id="{479058D9-7EE2-9B4C-9A02-CEF6DD9911A7}" type="slidenum">
              <a:rPr lang="en-GB" sz="1400">
                <a:solidFill>
                  <a:schemeClr val="bg1"/>
                </a:solidFill>
              </a:rPr>
              <a:pPr algn="ctr"/>
              <a:t>69</a:t>
            </a:fld>
            <a:endParaRPr lang="en-GB" sz="1400">
              <a:solidFill>
                <a:schemeClr val="bg1"/>
              </a:solidFill>
            </a:endParaRPr>
          </a:p>
        </p:txBody>
      </p:sp>
    </p:spTree>
    <p:extLst>
      <p:ext uri="{BB962C8B-B14F-4D97-AF65-F5344CB8AC3E}">
        <p14:creationId xmlns:p14="http://schemas.microsoft.com/office/powerpoint/2010/main" val="3294293804"/>
      </p:ext>
    </p:extLst>
  </p:cSld>
  <p:clrMapOvr>
    <a:masterClrMapping/>
  </p:clrMapOvr>
</p:sld>
</file>

<file path=ppt/theme/theme1.xml><?xml version="1.0" encoding="utf-8"?>
<a:theme xmlns:a="http://schemas.openxmlformats.org/drawingml/2006/main" name="1_simple-light-2">
  <a:themeElements>
    <a:clrScheme name="Hyperledger">
      <a:dk1>
        <a:srgbClr val="FFFFFF"/>
      </a:dk1>
      <a:lt1>
        <a:srgbClr val="595959"/>
      </a:lt1>
      <a:dk2>
        <a:srgbClr val="FFFFFF"/>
      </a:dk2>
      <a:lt2>
        <a:srgbClr val="595959"/>
      </a:lt2>
      <a:accent1>
        <a:srgbClr val="00B0F0"/>
      </a:accent1>
      <a:accent2>
        <a:srgbClr val="595959"/>
      </a:accent2>
      <a:accent3>
        <a:srgbClr val="00B0F0"/>
      </a:accent3>
      <a:accent4>
        <a:srgbClr val="595959"/>
      </a:accent4>
      <a:accent5>
        <a:srgbClr val="00B0F0"/>
      </a:accent5>
      <a:accent6>
        <a:srgbClr val="595959"/>
      </a:accent6>
      <a:hlink>
        <a:srgbClr val="00B0F0"/>
      </a:hlink>
      <a:folHlink>
        <a:srgbClr val="00B0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CDE"/>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smtClean="0">
            <a:ln w="0"/>
            <a:solidFill>
              <a:schemeClr val="accent6">
                <a:lumMod val="50000"/>
              </a:schemeClr>
            </a:solidFill>
            <a:effectLst>
              <a:outerShdw blurRad="38100" dist="19050" dir="2700000" algn="tl" rotWithShape="0">
                <a:schemeClr val="dk1">
                  <a:alpha val="40000"/>
                </a:schemeClr>
              </a:outerShdw>
            </a:effectLs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45634</TotalTime>
  <Words>3113</Words>
  <Application>Microsoft Macintosh PowerPoint</Application>
  <PresentationFormat>On-screen Show (16:9)</PresentationFormat>
  <Paragraphs>597</Paragraphs>
  <Slides>69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MS PGothic</vt:lpstr>
      <vt:lpstr>Amaze</vt:lpstr>
      <vt:lpstr>Arial</vt:lpstr>
      <vt:lpstr>Calibri</vt:lpstr>
      <vt:lpstr>Helvetica</vt:lpstr>
      <vt:lpstr>Lucida Sans Unicode</vt:lpstr>
      <vt:lpstr>Wingdings</vt:lpstr>
      <vt:lpstr>Zapf Dingbats</vt:lpstr>
      <vt:lpstr>1_simple-light-2</vt:lpstr>
      <vt:lpstr>Governance Examples and Practices</vt:lpstr>
      <vt:lpstr>Introduction</vt:lpstr>
      <vt:lpstr>Coco Pharmaceuticals persona</vt:lpstr>
      <vt:lpstr>Coco Pharmaceuticals persona</vt:lpstr>
      <vt:lpstr>Data Strategy</vt:lpstr>
      <vt:lpstr>Data Strategy</vt:lpstr>
      <vt:lpstr>Data Strategy Framework (example)</vt:lpstr>
      <vt:lpstr>Structure of a governance program</vt:lpstr>
      <vt:lpstr>Governance program components</vt:lpstr>
      <vt:lpstr>Three interlocking lifecycles of governance</vt:lpstr>
      <vt:lpstr>Three interlocking lifecycles of data/information governance</vt:lpstr>
      <vt:lpstr>Governance Program Office</vt:lpstr>
      <vt:lpstr>Governance Program Office Activity Types</vt:lpstr>
      <vt:lpstr>Multi-faceted Governance</vt:lpstr>
      <vt:lpstr>Digital Service Lifecycle</vt:lpstr>
      <vt:lpstr>Governance in the enterprise</vt:lpstr>
      <vt:lpstr>Designing Governance</vt:lpstr>
      <vt:lpstr>Example: Supporting the Use of Authoritative Sources</vt:lpstr>
      <vt:lpstr>Setting Up a Governance Program</vt:lpstr>
      <vt:lpstr>Critical Success Factors</vt:lpstr>
      <vt:lpstr>Key roles and responsibilities</vt:lpstr>
      <vt:lpstr>Personas verses Roles</vt:lpstr>
      <vt:lpstr>Scope of responsibilities</vt:lpstr>
      <vt:lpstr>Education and Practice</vt:lpstr>
      <vt:lpstr>Governance Definitions</vt:lpstr>
      <vt:lpstr>Governance Policies</vt:lpstr>
      <vt:lpstr>Establishing Governance Principles As the CDO, Jules first establishes the top-level governance policies.  These are called the governance principles since they underpin all other governance decisions. </vt:lpstr>
      <vt:lpstr>Approaches</vt:lpstr>
      <vt:lpstr>Organizations expect information governance will deliver …</vt:lpstr>
      <vt:lpstr>Policy support inside the Governance Catalogue</vt:lpstr>
      <vt:lpstr>Classification Schemes</vt:lpstr>
      <vt:lpstr>Implementing Policies – through rules and classifications</vt:lpstr>
      <vt:lpstr>Architectural Sketch of Operational Governance Ecosystem</vt:lpstr>
      <vt:lpstr>Governance Rules Defined for each classification for each situation</vt:lpstr>
      <vt:lpstr>Monitoring Policies and Auditing </vt:lpstr>
      <vt:lpstr>Setting up and monitoring policies - summary</vt:lpstr>
      <vt:lpstr>Information Supply Chain Design</vt:lpstr>
      <vt:lpstr>Analysis of an information supply chain</vt:lpstr>
      <vt:lpstr>The Custodian Ownership Model</vt:lpstr>
      <vt:lpstr>Information Supply Chain</vt:lpstr>
      <vt:lpstr>Glossary Terms</vt:lpstr>
      <vt:lpstr>Lineage</vt:lpstr>
      <vt:lpstr>Maturity Model</vt:lpstr>
      <vt:lpstr>Governance maturity seen in terms of Value and Scope</vt:lpstr>
      <vt:lpstr>Building governance maturity is a gradual process</vt:lpstr>
      <vt:lpstr>Implementing Data Awareness</vt:lpstr>
      <vt:lpstr>Implementing Governance Awareness</vt:lpstr>
      <vt:lpstr>Implementing Embedded Governance</vt:lpstr>
      <vt:lpstr>Implementing Business Driven Governance</vt:lpstr>
      <vt:lpstr>Implementing Data Citizenship</vt:lpstr>
      <vt:lpstr>Observations from the maturity model</vt:lpstr>
      <vt:lpstr>Using Egeria … </vt:lpstr>
      <vt:lpstr>Data Models and Metadata</vt:lpstr>
      <vt:lpstr>Scope of metadata for a governance program</vt:lpstr>
      <vt:lpstr>Data flows</vt:lpstr>
      <vt:lpstr>Continuum of information transformation</vt:lpstr>
      <vt:lpstr>Models for APIs</vt:lpstr>
      <vt:lpstr>Models for analytics and databases</vt:lpstr>
      <vt:lpstr>Integrating technologies</vt:lpstr>
      <vt:lpstr>Many views of the same concept</vt:lpstr>
      <vt:lpstr>Outline process for common data definitions</vt:lpstr>
      <vt:lpstr>Communication is at the heart of good governance</vt:lpstr>
      <vt:lpstr>ODPi Egeria</vt:lpstr>
      <vt:lpstr>Realizing open metadata and governance</vt:lpstr>
      <vt:lpstr>Egeria Conformance Program - its an “imitation game”</vt:lpstr>
      <vt:lpstr>Open forum</vt:lpstr>
      <vt:lpstr>Links</vt:lpstr>
      <vt:lpstr>PowerPoint Presentation</vt:lpstr>
      <vt:lpstr>What is metadata?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2017 Overview</dc:title>
  <dc:subject/>
  <dc:creator>Greg Wallace</dc:creator>
  <cp:keywords/>
  <dc:description/>
  <cp:lastModifiedBy>Mandy Chessell Chessell</cp:lastModifiedBy>
  <cp:revision>738</cp:revision>
  <cp:lastPrinted>2019-02-08T18:53:05Z</cp:lastPrinted>
  <dcterms:modified xsi:type="dcterms:W3CDTF">2026-06-03T07:56:28Z</dcterms:modified>
  <cp:category/>
</cp:coreProperties>
</file>