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60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83"/>
    <p:restoredTop sz="94743"/>
  </p:normalViewPr>
  <p:slideViewPr>
    <p:cSldViewPr snapToGrid="0" snapToObjects="1">
      <p:cViewPr varScale="1">
        <p:scale>
          <a:sx n="139" d="100"/>
          <a:sy n="139" d="100"/>
        </p:scale>
        <p:origin x="16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F0536-DA8B-894D-AFEA-E2492933403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6DB6DB-EBFB-BD44-A6ED-F43E2390E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43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DB6DB-EBFB-BD44-A6ED-F43E2390E7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861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Although these roles are all data steward perspectives, they are interested in different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DB6DB-EBFB-BD44-A6ED-F43E2390E79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553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35F65-8A5B-1C46-8E1C-F38DC1CB1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9217F0C-1499-D34C-B338-6AAD7910AEFA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C94EC-0746-824A-907C-9278EECF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B0E6B-77E5-E14B-97BF-D27DA0948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7A36B0-D2DA-594B-B9CA-F0561FC09A8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487471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FDE84-E854-F448-8D3A-B1B7FF5D0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D54E15C-AA8B-C84F-ADCE-B8659259DDFE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C9BAA-EA9D-A54D-AE2A-0AB2F92D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EAF0F-5EE9-CB45-B3CC-7BFCCCBF6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A7F6BF5-91D5-3D4F-9378-B5B8887F845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95495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E53EE-2170-C140-BB63-EDF982951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CB8BAED-4C8C-874B-8B26-85296A225761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D48A3-FC80-F64E-BFE0-3A306CA27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638A02-FFF1-924E-8611-201B72180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1564CA-31BC-9D44-8D2E-441FE816AD8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450778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97C9B2F-A669-9C44-9351-C07A2DC71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9E18B40-279E-6B4F-9B15-A1F6CCEED569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E07176A-2095-544F-AECA-2CDD155A5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A7EB20C-E8E5-3547-A1A9-397200CF0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01835C8-A505-4148-9957-206793D874B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36070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2D757F5C-CCE2-DB46-9C1A-522FF2900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FF0BB30-3337-0E44-84A5-ABB1B17647D7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240AC5E-2205-7840-9126-771B01FD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C44DC1C-911F-F046-A16D-D24CAE47E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9BB879A-1C1A-7A4E-8CD7-37B712DEEC5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634055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CF63078-151B-DD49-8D68-8912B7C04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9BB6973-70EA-BF4D-8734-CB391DBD9548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6272B79-889F-9045-B07A-A02A29FD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5A23969-49DD-8440-AB79-A74E6878E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F24776B-B8FD-8D4F-80F3-DFA28244374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7968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3BF2DAD6-961E-704A-9F7D-C3056559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0FC08A7-9DAA-B44D-B151-707B7096711A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1CA0FB3-E47C-F64C-9FC1-567F31283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E4BE1CB-7229-6142-B0EB-84CB81C1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DE68FF4-C8D7-A748-AB29-85501CFB881D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59437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1033A190-9E93-B74B-A495-E0C2FDD29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71A1F3E-3287-F541-B142-5BA07BC97452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5571684-5449-6D40-85B3-7B5650148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49AB72-E0DF-7E48-A198-9DE2710BA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8327346-B5A2-3847-94BC-F2246E11A6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215883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B4F1C25-C54E-5547-9528-2786AAA79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11104D6-4EC2-9242-8AFB-86172B34B1E5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E38EE20-6D92-734A-9B75-8D829607C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F6271D-B381-E842-9A81-73BEA07E8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3F2452-6A69-1844-8B50-61F7CF6C47B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66570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27133-C034-5F41-B0EE-56E31B8A1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95EE900-37C9-7244-82C7-D8B08300F957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81D00-F86A-5D48-B20E-004F1A112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340EA-A30D-1F41-93F2-A8D0B27D8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87818EA-21A3-3C44-B031-7B2B8CDCD00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393812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BD4CD-D82D-C14F-B4B9-E5C6CC649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C9DE768-F51F-D244-B668-7ADEEADCD336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545A7-890C-0F43-8ABF-53CED0C88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EB04B-00A2-2C41-9190-E8AEFCA6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2AF1393-4A7F-4644-A529-66A7DAFEABC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857283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9D9B4296-BB43-5E47-9983-4D091AA751B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DC2E873A-4E19-DC41-9A2E-8E21F227EE1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A4486-FC35-FF42-86F5-706B0B4924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fld id="{157E2DB0-FA62-0543-81F6-A97EFFFC5B7B}" type="datetimeFigureOut">
              <a:rPr lang="en-US" altLang="en-US"/>
              <a:pPr/>
              <a:t>5/19/26</a:t>
            </a:fld>
            <a:endParaRPr lang="en-GB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B7F0B-B82F-2743-A703-63DDC93F4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D3B58-81EF-D74D-A5DA-D92F93E869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4C008AF7-4A12-DC4E-81ED-3FFC9AD7A5B4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MS PGothic" panose="020B0600070205080204" pitchFamily="34" charset="-128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anose="020B0600070205080204" pitchFamily="34" charset="-128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anose="020B0600070205080204" pitchFamily="34" charset="-128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anose="020B0600070205080204" pitchFamily="34" charset="-128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MS PGothic" panose="020B0600070205080204" pitchFamily="34" charset="-128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B1D2702-8082-E141-91B1-DEE61D212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188" y="66675"/>
            <a:ext cx="8088312" cy="6484938"/>
          </a:xfrm>
          <a:prstGeom prst="rect">
            <a:avLst/>
          </a:prstGeom>
          <a:solidFill>
            <a:schemeClr val="bg1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GB">
              <a:solidFill>
                <a:schemeClr val="lt1"/>
              </a:solidFill>
              <a:latin typeface="+mn-lt"/>
              <a:ea typeface="+mn-ea"/>
            </a:endParaRPr>
          </a:p>
        </p:txBody>
      </p:sp>
      <p:grpSp>
        <p:nvGrpSpPr>
          <p:cNvPr id="13314" name="Group 1">
            <a:extLst>
              <a:ext uri="{FF2B5EF4-FFF2-40B4-BE49-F238E27FC236}">
                <a16:creationId xmlns:a16="http://schemas.microsoft.com/office/drawing/2014/main" id="{59430B13-F90B-784B-8280-A82191EDA3C5}"/>
              </a:ext>
            </a:extLst>
          </p:cNvPr>
          <p:cNvGrpSpPr>
            <a:grpSpLocks/>
          </p:cNvGrpSpPr>
          <p:nvPr/>
        </p:nvGrpSpPr>
        <p:grpSpPr bwMode="auto">
          <a:xfrm>
            <a:off x="6712668" y="5085046"/>
            <a:ext cx="576262" cy="868363"/>
            <a:chOff x="5838291" y="2040336"/>
            <a:chExt cx="576382" cy="869463"/>
          </a:xfrm>
          <a:solidFill>
            <a:schemeClr val="accent5"/>
          </a:solidFill>
        </p:grpSpPr>
        <p:sp>
          <p:nvSpPr>
            <p:cNvPr id="22" name="Delay 21">
              <a:extLst>
                <a:ext uri="{FF2B5EF4-FFF2-40B4-BE49-F238E27FC236}">
                  <a16:creationId xmlns:a16="http://schemas.microsoft.com/office/drawing/2014/main" id="{D22ADC3D-7B7C-354D-B1C2-BA255FDAECA5}"/>
                </a:ext>
              </a:extLst>
            </p:cNvPr>
            <p:cNvSpPr/>
            <p:nvPr/>
          </p:nvSpPr>
          <p:spPr>
            <a:xfrm rot="16200000">
              <a:off x="5828520" y="2323646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9E37E9F-FD1A-1A41-A04E-B2965093AB5C}"/>
                </a:ext>
              </a:extLst>
            </p:cNvPr>
            <p:cNvSpPr/>
            <p:nvPr/>
          </p:nvSpPr>
          <p:spPr>
            <a:xfrm>
              <a:off x="5926209" y="2040336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3315" name="Group 3">
            <a:extLst>
              <a:ext uri="{FF2B5EF4-FFF2-40B4-BE49-F238E27FC236}">
                <a16:creationId xmlns:a16="http://schemas.microsoft.com/office/drawing/2014/main" id="{8F57ECA4-BE9B-D84B-BEBA-78B2AF60C914}"/>
              </a:ext>
            </a:extLst>
          </p:cNvPr>
          <p:cNvGrpSpPr>
            <a:grpSpLocks/>
          </p:cNvGrpSpPr>
          <p:nvPr/>
        </p:nvGrpSpPr>
        <p:grpSpPr bwMode="auto">
          <a:xfrm>
            <a:off x="5830888" y="377825"/>
            <a:ext cx="576262" cy="868363"/>
            <a:chOff x="5830565" y="310795"/>
            <a:chExt cx="576382" cy="869463"/>
          </a:xfrm>
          <a:solidFill>
            <a:schemeClr val="accent1">
              <a:lumMod val="75000"/>
            </a:schemeClr>
          </a:solidFill>
        </p:grpSpPr>
        <p:sp>
          <p:nvSpPr>
            <p:cNvPr id="24" name="Delay 23">
              <a:extLst>
                <a:ext uri="{FF2B5EF4-FFF2-40B4-BE49-F238E27FC236}">
                  <a16:creationId xmlns:a16="http://schemas.microsoft.com/office/drawing/2014/main" id="{02BD0800-C1C5-C441-9B70-4EFFDE882FC0}"/>
                </a:ext>
              </a:extLst>
            </p:cNvPr>
            <p:cNvSpPr/>
            <p:nvPr/>
          </p:nvSpPr>
          <p:spPr>
            <a:xfrm rot="16200000">
              <a:off x="5820794" y="594105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F1FF1A6-966E-0E4E-8A8C-FDB9E64376EB}"/>
                </a:ext>
              </a:extLst>
            </p:cNvPr>
            <p:cNvSpPr/>
            <p:nvPr/>
          </p:nvSpPr>
          <p:spPr>
            <a:xfrm>
              <a:off x="5918483" y="310795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16" name="TextBox 25">
            <a:extLst>
              <a:ext uri="{FF2B5EF4-FFF2-40B4-BE49-F238E27FC236}">
                <a16:creationId xmlns:a16="http://schemas.microsoft.com/office/drawing/2014/main" id="{81EFCF69-1496-F948-9549-D5A5A4555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6455" y="5928009"/>
            <a:ext cx="928688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Data Steward</a:t>
            </a:r>
          </a:p>
        </p:txBody>
      </p:sp>
      <p:sp>
        <p:nvSpPr>
          <p:cNvPr id="13317" name="TextBox 26">
            <a:extLst>
              <a:ext uri="{FF2B5EF4-FFF2-40B4-BE49-F238E27FC236}">
                <a16:creationId xmlns:a16="http://schemas.microsoft.com/office/drawing/2014/main" id="{22C3B588-259F-A44C-9230-6A4304E57B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4675" y="1216025"/>
            <a:ext cx="92868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Asset</a:t>
            </a:r>
          </a:p>
          <a:p>
            <a:pPr algn="ctr" eaLnBrk="1" hangingPunct="1"/>
            <a:r>
              <a:rPr lang="en-GB" altLang="en-US" sz="1400"/>
              <a:t>Owner</a:t>
            </a:r>
          </a:p>
        </p:txBody>
      </p:sp>
      <p:sp>
        <p:nvSpPr>
          <p:cNvPr id="13318" name="TextBox 28">
            <a:extLst>
              <a:ext uri="{FF2B5EF4-FFF2-40B4-BE49-F238E27FC236}">
                <a16:creationId xmlns:a16="http://schemas.microsoft.com/office/drawing/2014/main" id="{46A0B5C5-E3D1-DC4A-83A4-ADB019D9FA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931" y="2674938"/>
            <a:ext cx="119856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System Administrator</a:t>
            </a:r>
          </a:p>
        </p:txBody>
      </p:sp>
      <p:grpSp>
        <p:nvGrpSpPr>
          <p:cNvPr id="13319" name="Group 29">
            <a:extLst>
              <a:ext uri="{FF2B5EF4-FFF2-40B4-BE49-F238E27FC236}">
                <a16:creationId xmlns:a16="http://schemas.microsoft.com/office/drawing/2014/main" id="{12BE3FAA-979E-B34A-A4BF-C1B8F050B09C}"/>
              </a:ext>
            </a:extLst>
          </p:cNvPr>
          <p:cNvGrpSpPr>
            <a:grpSpLocks/>
          </p:cNvGrpSpPr>
          <p:nvPr/>
        </p:nvGrpSpPr>
        <p:grpSpPr bwMode="auto">
          <a:xfrm>
            <a:off x="4968081" y="1831975"/>
            <a:ext cx="576262" cy="869950"/>
            <a:chOff x="1380644" y="3135782"/>
            <a:chExt cx="576382" cy="869463"/>
          </a:xfrm>
        </p:grpSpPr>
        <p:sp>
          <p:nvSpPr>
            <p:cNvPr id="31" name="Delay 30">
              <a:extLst>
                <a:ext uri="{FF2B5EF4-FFF2-40B4-BE49-F238E27FC236}">
                  <a16:creationId xmlns:a16="http://schemas.microsoft.com/office/drawing/2014/main" id="{DE492C3C-987A-E44F-A2CD-EFA4B77CC99B}"/>
                </a:ext>
              </a:extLst>
            </p:cNvPr>
            <p:cNvSpPr/>
            <p:nvPr/>
          </p:nvSpPr>
          <p:spPr>
            <a:xfrm rot="16200000">
              <a:off x="1370873" y="3419092"/>
              <a:ext cx="595924" cy="576382"/>
            </a:xfrm>
            <a:prstGeom prst="flowChartDelay">
              <a:avLst/>
            </a:prstGeom>
            <a:solidFill>
              <a:schemeClr val="accent6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01330547-86FF-4041-8C68-A7AD003CE77B}"/>
                </a:ext>
              </a:extLst>
            </p:cNvPr>
            <p:cNvSpPr/>
            <p:nvPr/>
          </p:nvSpPr>
          <p:spPr>
            <a:xfrm>
              <a:off x="1468562" y="3135782"/>
              <a:ext cx="390770" cy="39077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3320" name="Group 91">
            <a:extLst>
              <a:ext uri="{FF2B5EF4-FFF2-40B4-BE49-F238E27FC236}">
                <a16:creationId xmlns:a16="http://schemas.microsoft.com/office/drawing/2014/main" id="{A119E4FF-FCB0-9649-90A9-AA5055C02330}"/>
              </a:ext>
            </a:extLst>
          </p:cNvPr>
          <p:cNvGrpSpPr>
            <a:grpSpLocks/>
          </p:cNvGrpSpPr>
          <p:nvPr/>
        </p:nvGrpSpPr>
        <p:grpSpPr bwMode="auto">
          <a:xfrm>
            <a:off x="4995656" y="356525"/>
            <a:ext cx="576262" cy="868363"/>
            <a:chOff x="907292" y="401049"/>
            <a:chExt cx="576382" cy="869463"/>
          </a:xfrm>
          <a:solidFill>
            <a:schemeClr val="tx2">
              <a:lumMod val="75000"/>
            </a:schemeClr>
          </a:solidFill>
        </p:grpSpPr>
        <p:sp>
          <p:nvSpPr>
            <p:cNvPr id="33" name="Delay 32">
              <a:extLst>
                <a:ext uri="{FF2B5EF4-FFF2-40B4-BE49-F238E27FC236}">
                  <a16:creationId xmlns:a16="http://schemas.microsoft.com/office/drawing/2014/main" id="{E9095010-9E1A-234B-B49D-8F3B8223581E}"/>
                </a:ext>
              </a:extLst>
            </p:cNvPr>
            <p:cNvSpPr/>
            <p:nvPr/>
          </p:nvSpPr>
          <p:spPr>
            <a:xfrm rot="16200000">
              <a:off x="897521" y="684359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7E57A55-CD7B-C647-B71C-B4DD87CE9FDF}"/>
                </a:ext>
              </a:extLst>
            </p:cNvPr>
            <p:cNvSpPr/>
            <p:nvPr/>
          </p:nvSpPr>
          <p:spPr>
            <a:xfrm>
              <a:off x="995210" y="401049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21" name="TextBox 34">
            <a:extLst>
              <a:ext uri="{FF2B5EF4-FFF2-40B4-BE49-F238E27FC236}">
                <a16:creationId xmlns:a16="http://schemas.microsoft.com/office/drawing/2014/main" id="{0A512D5A-0A7D-964C-98DA-ECA3C78D24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218" y="1194725"/>
            <a:ext cx="125095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Data</a:t>
            </a:r>
          </a:p>
          <a:p>
            <a:pPr algn="ctr" eaLnBrk="1" hangingPunct="1"/>
            <a:r>
              <a:rPr lang="en-GB" altLang="en-US" sz="1400"/>
              <a:t>Officer</a:t>
            </a:r>
          </a:p>
        </p:txBody>
      </p:sp>
      <p:sp>
        <p:nvSpPr>
          <p:cNvPr id="13322" name="TextBox 38">
            <a:extLst>
              <a:ext uri="{FF2B5EF4-FFF2-40B4-BE49-F238E27FC236}">
                <a16:creationId xmlns:a16="http://schemas.microsoft.com/office/drawing/2014/main" id="{21B34314-5329-C946-8ECF-582E41208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3370" y="5964258"/>
            <a:ext cx="9271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Data Subject</a:t>
            </a:r>
          </a:p>
        </p:txBody>
      </p:sp>
      <p:grpSp>
        <p:nvGrpSpPr>
          <p:cNvPr id="13323" name="Group 94">
            <a:extLst>
              <a:ext uri="{FF2B5EF4-FFF2-40B4-BE49-F238E27FC236}">
                <a16:creationId xmlns:a16="http://schemas.microsoft.com/office/drawing/2014/main" id="{C5F3E1CA-4711-D64E-89E5-0AC6BDF94C82}"/>
              </a:ext>
            </a:extLst>
          </p:cNvPr>
          <p:cNvGrpSpPr>
            <a:grpSpLocks/>
          </p:cNvGrpSpPr>
          <p:nvPr/>
        </p:nvGrpSpPr>
        <p:grpSpPr bwMode="auto">
          <a:xfrm>
            <a:off x="2529583" y="5076845"/>
            <a:ext cx="576262" cy="868363"/>
            <a:chOff x="1913157" y="1904431"/>
            <a:chExt cx="576382" cy="869463"/>
          </a:xfrm>
        </p:grpSpPr>
        <p:sp>
          <p:nvSpPr>
            <p:cNvPr id="40" name="Delay 39">
              <a:extLst>
                <a:ext uri="{FF2B5EF4-FFF2-40B4-BE49-F238E27FC236}">
                  <a16:creationId xmlns:a16="http://schemas.microsoft.com/office/drawing/2014/main" id="{48EE7C8D-2386-DB44-B29F-43C2B780F8E2}"/>
                </a:ext>
              </a:extLst>
            </p:cNvPr>
            <p:cNvSpPr/>
            <p:nvPr/>
          </p:nvSpPr>
          <p:spPr>
            <a:xfrm rot="16200000">
              <a:off x="1903386" y="2187741"/>
              <a:ext cx="595924" cy="576382"/>
            </a:xfrm>
            <a:prstGeom prst="flowChartDelay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4B5EF03-7AC4-884A-B1D5-56587FA8CF6E}"/>
                </a:ext>
              </a:extLst>
            </p:cNvPr>
            <p:cNvSpPr/>
            <p:nvPr/>
          </p:nvSpPr>
          <p:spPr>
            <a:xfrm>
              <a:off x="2001075" y="1904431"/>
              <a:ext cx="390770" cy="39077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3324" name="Group 4">
            <a:extLst>
              <a:ext uri="{FF2B5EF4-FFF2-40B4-BE49-F238E27FC236}">
                <a16:creationId xmlns:a16="http://schemas.microsoft.com/office/drawing/2014/main" id="{93D612B3-FB26-B744-9F51-5B6E7737249B}"/>
              </a:ext>
            </a:extLst>
          </p:cNvPr>
          <p:cNvGrpSpPr>
            <a:grpSpLocks/>
          </p:cNvGrpSpPr>
          <p:nvPr/>
        </p:nvGrpSpPr>
        <p:grpSpPr bwMode="auto">
          <a:xfrm>
            <a:off x="5065765" y="5104727"/>
            <a:ext cx="576262" cy="868363"/>
            <a:chOff x="6953415" y="2012005"/>
            <a:chExt cx="576382" cy="869463"/>
          </a:xfrm>
        </p:grpSpPr>
        <p:sp>
          <p:nvSpPr>
            <p:cNvPr id="42" name="Delay 41">
              <a:extLst>
                <a:ext uri="{FF2B5EF4-FFF2-40B4-BE49-F238E27FC236}">
                  <a16:creationId xmlns:a16="http://schemas.microsoft.com/office/drawing/2014/main" id="{2FF08855-3EC6-4F4E-A876-2649515BF30B}"/>
                </a:ext>
              </a:extLst>
            </p:cNvPr>
            <p:cNvSpPr/>
            <p:nvPr/>
          </p:nvSpPr>
          <p:spPr>
            <a:xfrm rot="16200000">
              <a:off x="6943644" y="2295315"/>
              <a:ext cx="595924" cy="576382"/>
            </a:xfrm>
            <a:prstGeom prst="flowChartDelay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AB5D4AA-92C0-FB4B-92AB-9890CBEF88DA}"/>
                </a:ext>
              </a:extLst>
            </p:cNvPr>
            <p:cNvSpPr/>
            <p:nvPr/>
          </p:nvSpPr>
          <p:spPr>
            <a:xfrm>
              <a:off x="7041333" y="2012005"/>
              <a:ext cx="390770" cy="39077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25" name="TextBox 43">
            <a:extLst>
              <a:ext uri="{FF2B5EF4-FFF2-40B4-BE49-F238E27FC236}">
                <a16:creationId xmlns:a16="http://schemas.microsoft.com/office/drawing/2014/main" id="{0BA760A2-A8A6-684D-A311-216B7E3B6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1140" y="5947690"/>
            <a:ext cx="927100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Data Custodian</a:t>
            </a:r>
          </a:p>
        </p:txBody>
      </p:sp>
      <p:grpSp>
        <p:nvGrpSpPr>
          <p:cNvPr id="13326" name="Group 2">
            <a:extLst>
              <a:ext uri="{FF2B5EF4-FFF2-40B4-BE49-F238E27FC236}">
                <a16:creationId xmlns:a16="http://schemas.microsoft.com/office/drawing/2014/main" id="{11A0673C-2100-CD43-9471-4F355B0FBB6E}"/>
              </a:ext>
            </a:extLst>
          </p:cNvPr>
          <p:cNvGrpSpPr>
            <a:grpSpLocks/>
          </p:cNvGrpSpPr>
          <p:nvPr/>
        </p:nvGrpSpPr>
        <p:grpSpPr bwMode="auto">
          <a:xfrm>
            <a:off x="6667545" y="341386"/>
            <a:ext cx="576262" cy="868363"/>
            <a:chOff x="6891596" y="321166"/>
            <a:chExt cx="576382" cy="869463"/>
          </a:xfrm>
          <a:solidFill>
            <a:schemeClr val="accent1"/>
          </a:solidFill>
        </p:grpSpPr>
        <p:sp>
          <p:nvSpPr>
            <p:cNvPr id="45" name="Delay 44">
              <a:extLst>
                <a:ext uri="{FF2B5EF4-FFF2-40B4-BE49-F238E27FC236}">
                  <a16:creationId xmlns:a16="http://schemas.microsoft.com/office/drawing/2014/main" id="{06769F77-008D-624F-89DA-E97842323609}"/>
                </a:ext>
              </a:extLst>
            </p:cNvPr>
            <p:cNvSpPr/>
            <p:nvPr/>
          </p:nvSpPr>
          <p:spPr>
            <a:xfrm rot="16200000">
              <a:off x="6881825" y="604476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6A96FCD-274E-104D-8826-4290C79B3AF0}"/>
                </a:ext>
              </a:extLst>
            </p:cNvPr>
            <p:cNvSpPr/>
            <p:nvPr/>
          </p:nvSpPr>
          <p:spPr>
            <a:xfrm>
              <a:off x="6979514" y="321166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27" name="TextBox 46">
            <a:extLst>
              <a:ext uri="{FF2B5EF4-FFF2-40B4-BE49-F238E27FC236}">
                <a16:creationId xmlns:a16="http://schemas.microsoft.com/office/drawing/2014/main" id="{7F0ACA31-77C6-D04D-8F5A-34C614AFE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6290" y="1226883"/>
            <a:ext cx="9271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Product Manager</a:t>
            </a:r>
          </a:p>
        </p:txBody>
      </p:sp>
      <p:sp>
        <p:nvSpPr>
          <p:cNvPr id="13328" name="TextBox 47">
            <a:extLst>
              <a:ext uri="{FF2B5EF4-FFF2-40B4-BE49-F238E27FC236}">
                <a16:creationId xmlns:a16="http://schemas.microsoft.com/office/drawing/2014/main" id="{A1C4ACCE-E51D-C949-8BC1-45E9F3206D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065" y="1236650"/>
            <a:ext cx="9271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Executive</a:t>
            </a:r>
          </a:p>
        </p:txBody>
      </p:sp>
      <p:grpSp>
        <p:nvGrpSpPr>
          <p:cNvPr id="13329" name="Group 95">
            <a:extLst>
              <a:ext uri="{FF2B5EF4-FFF2-40B4-BE49-F238E27FC236}">
                <a16:creationId xmlns:a16="http://schemas.microsoft.com/office/drawing/2014/main" id="{3ED49D2B-0323-554C-A491-977B6D1DD616}"/>
              </a:ext>
            </a:extLst>
          </p:cNvPr>
          <p:cNvGrpSpPr>
            <a:grpSpLocks/>
          </p:cNvGrpSpPr>
          <p:nvPr/>
        </p:nvGrpSpPr>
        <p:grpSpPr bwMode="auto">
          <a:xfrm>
            <a:off x="890277" y="396863"/>
            <a:ext cx="576263" cy="869950"/>
            <a:chOff x="2933629" y="443584"/>
            <a:chExt cx="576382" cy="869463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0C71B4D8-640A-144D-9C93-699250128875}"/>
                </a:ext>
              </a:extLst>
            </p:cNvPr>
            <p:cNvSpPr/>
            <p:nvPr/>
          </p:nvSpPr>
          <p:spPr>
            <a:xfrm rot="16200000">
              <a:off x="2923858" y="726894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2562736-FFD5-5A48-8904-A0E77F376D6B}"/>
                </a:ext>
              </a:extLst>
            </p:cNvPr>
            <p:cNvSpPr/>
            <p:nvPr/>
          </p:nvSpPr>
          <p:spPr>
            <a:xfrm>
              <a:off x="3021547" y="443584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30" name="TextBox 50">
            <a:extLst>
              <a:ext uri="{FF2B5EF4-FFF2-40B4-BE49-F238E27FC236}">
                <a16:creationId xmlns:a16="http://schemas.microsoft.com/office/drawing/2014/main" id="{CE487060-78A7-5A4D-B11F-71001A4AF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994" y="2714600"/>
            <a:ext cx="9271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Regulator</a:t>
            </a:r>
          </a:p>
        </p:txBody>
      </p:sp>
      <p:grpSp>
        <p:nvGrpSpPr>
          <p:cNvPr id="13331" name="Group 16">
            <a:extLst>
              <a:ext uri="{FF2B5EF4-FFF2-40B4-BE49-F238E27FC236}">
                <a16:creationId xmlns:a16="http://schemas.microsoft.com/office/drawing/2014/main" id="{82858CE5-E569-1445-91D3-2DC2183BF692}"/>
              </a:ext>
            </a:extLst>
          </p:cNvPr>
          <p:cNvGrpSpPr>
            <a:grpSpLocks/>
          </p:cNvGrpSpPr>
          <p:nvPr/>
        </p:nvGrpSpPr>
        <p:grpSpPr bwMode="auto">
          <a:xfrm>
            <a:off x="888207" y="1876400"/>
            <a:ext cx="576262" cy="868363"/>
            <a:chOff x="1913157" y="392179"/>
            <a:chExt cx="576382" cy="869463"/>
          </a:xfrm>
          <a:solidFill>
            <a:schemeClr val="accent6">
              <a:lumMod val="50000"/>
            </a:schemeClr>
          </a:solidFill>
        </p:grpSpPr>
        <p:sp>
          <p:nvSpPr>
            <p:cNvPr id="52" name="Delay 51">
              <a:extLst>
                <a:ext uri="{FF2B5EF4-FFF2-40B4-BE49-F238E27FC236}">
                  <a16:creationId xmlns:a16="http://schemas.microsoft.com/office/drawing/2014/main" id="{BEC96045-78DE-8C4E-92EC-0A650516073A}"/>
                </a:ext>
              </a:extLst>
            </p:cNvPr>
            <p:cNvSpPr/>
            <p:nvPr/>
          </p:nvSpPr>
          <p:spPr>
            <a:xfrm rot="16200000">
              <a:off x="1903386" y="675489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52D51D9-827C-EF4B-8447-A51D20354074}"/>
                </a:ext>
              </a:extLst>
            </p:cNvPr>
            <p:cNvSpPr/>
            <p:nvPr/>
          </p:nvSpPr>
          <p:spPr>
            <a:xfrm>
              <a:off x="2001075" y="392179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32" name="TextBox 53">
            <a:extLst>
              <a:ext uri="{FF2B5EF4-FFF2-40B4-BE49-F238E27FC236}">
                <a16:creationId xmlns:a16="http://schemas.microsoft.com/office/drawing/2014/main" id="{D342B623-7FAE-5645-A869-BB3AEFEC5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0713" y="5953409"/>
            <a:ext cx="927100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Privacy Officer</a:t>
            </a:r>
          </a:p>
        </p:txBody>
      </p:sp>
      <p:grpSp>
        <p:nvGrpSpPr>
          <p:cNvPr id="13333" name="Group 16">
            <a:extLst>
              <a:ext uri="{FF2B5EF4-FFF2-40B4-BE49-F238E27FC236}">
                <a16:creationId xmlns:a16="http://schemas.microsoft.com/office/drawing/2014/main" id="{270ABF65-9BA1-C44C-9888-AAE70EE4BB71}"/>
              </a:ext>
            </a:extLst>
          </p:cNvPr>
          <p:cNvGrpSpPr>
            <a:grpSpLocks/>
          </p:cNvGrpSpPr>
          <p:nvPr/>
        </p:nvGrpSpPr>
        <p:grpSpPr bwMode="auto">
          <a:xfrm>
            <a:off x="786926" y="5065996"/>
            <a:ext cx="576262" cy="869950"/>
            <a:chOff x="941631" y="1923105"/>
            <a:chExt cx="576382" cy="869463"/>
          </a:xfrm>
          <a:solidFill>
            <a:schemeClr val="accent4">
              <a:lumMod val="50000"/>
            </a:schemeClr>
          </a:solidFill>
        </p:grpSpPr>
        <p:sp>
          <p:nvSpPr>
            <p:cNvPr id="55" name="Delay 54">
              <a:extLst>
                <a:ext uri="{FF2B5EF4-FFF2-40B4-BE49-F238E27FC236}">
                  <a16:creationId xmlns:a16="http://schemas.microsoft.com/office/drawing/2014/main" id="{FA617C2A-01A1-CB40-B1BE-306C36BAAF3C}"/>
                </a:ext>
              </a:extLst>
            </p:cNvPr>
            <p:cNvSpPr/>
            <p:nvPr/>
          </p:nvSpPr>
          <p:spPr>
            <a:xfrm rot="16200000">
              <a:off x="931860" y="2206415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97E06B7-1FDB-D940-ACB3-30B5FB58F2BE}"/>
                </a:ext>
              </a:extLst>
            </p:cNvPr>
            <p:cNvSpPr/>
            <p:nvPr/>
          </p:nvSpPr>
          <p:spPr>
            <a:xfrm>
              <a:off x="1029549" y="1923105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3334" name="Group 12">
            <a:extLst>
              <a:ext uri="{FF2B5EF4-FFF2-40B4-BE49-F238E27FC236}">
                <a16:creationId xmlns:a16="http://schemas.microsoft.com/office/drawing/2014/main" id="{105B9A59-9A6D-C44A-A205-609707BD7EC3}"/>
              </a:ext>
            </a:extLst>
          </p:cNvPr>
          <p:cNvGrpSpPr>
            <a:grpSpLocks/>
          </p:cNvGrpSpPr>
          <p:nvPr/>
        </p:nvGrpSpPr>
        <p:grpSpPr bwMode="auto">
          <a:xfrm>
            <a:off x="2987217" y="1829444"/>
            <a:ext cx="576263" cy="868363"/>
            <a:chOff x="2924902" y="1896953"/>
            <a:chExt cx="576382" cy="869463"/>
          </a:xfrm>
        </p:grpSpPr>
        <p:sp>
          <p:nvSpPr>
            <p:cNvPr id="57" name="Delay 56">
              <a:extLst>
                <a:ext uri="{FF2B5EF4-FFF2-40B4-BE49-F238E27FC236}">
                  <a16:creationId xmlns:a16="http://schemas.microsoft.com/office/drawing/2014/main" id="{0943E35B-D314-F942-9A9D-6D976F5B56E4}"/>
                </a:ext>
              </a:extLst>
            </p:cNvPr>
            <p:cNvSpPr/>
            <p:nvPr/>
          </p:nvSpPr>
          <p:spPr>
            <a:xfrm rot="16200000">
              <a:off x="2915131" y="2180263"/>
              <a:ext cx="595924" cy="576382"/>
            </a:xfrm>
            <a:prstGeom prst="flowChartDelay">
              <a:avLst/>
            </a:prstGeom>
            <a:solidFill>
              <a:srgbClr val="FFFF00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FF7FCB5F-4436-0F42-8382-B49FE0D8172C}"/>
                </a:ext>
              </a:extLst>
            </p:cNvPr>
            <p:cNvSpPr/>
            <p:nvPr/>
          </p:nvSpPr>
          <p:spPr>
            <a:xfrm>
              <a:off x="3012820" y="1896953"/>
              <a:ext cx="390770" cy="39077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35" name="TextBox 58">
            <a:extLst>
              <a:ext uri="{FF2B5EF4-FFF2-40B4-BE49-F238E27FC236}">
                <a16:creationId xmlns:a16="http://schemas.microsoft.com/office/drawing/2014/main" id="{C858CDA6-2D8E-C342-9D78-5A7D0EED18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2684523"/>
            <a:ext cx="9271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Security</a:t>
            </a:r>
          </a:p>
          <a:p>
            <a:pPr algn="ctr" eaLnBrk="1" hangingPunct="1"/>
            <a:r>
              <a:rPr lang="en-GB" altLang="en-US" sz="1400" dirty="0"/>
              <a:t>Officer</a:t>
            </a:r>
          </a:p>
        </p:txBody>
      </p:sp>
      <p:grpSp>
        <p:nvGrpSpPr>
          <p:cNvPr id="13336" name="Group 10">
            <a:extLst>
              <a:ext uri="{FF2B5EF4-FFF2-40B4-BE49-F238E27FC236}">
                <a16:creationId xmlns:a16="http://schemas.microsoft.com/office/drawing/2014/main" id="{0BF9D595-3F5D-1D4D-AF2B-D733663F8D5D}"/>
              </a:ext>
            </a:extLst>
          </p:cNvPr>
          <p:cNvGrpSpPr>
            <a:grpSpLocks/>
          </p:cNvGrpSpPr>
          <p:nvPr/>
        </p:nvGrpSpPr>
        <p:grpSpPr bwMode="auto">
          <a:xfrm>
            <a:off x="5784851" y="3469889"/>
            <a:ext cx="576262" cy="869950"/>
            <a:chOff x="5784054" y="3823895"/>
            <a:chExt cx="576382" cy="869463"/>
          </a:xfrm>
          <a:solidFill>
            <a:schemeClr val="accent3"/>
          </a:solidFill>
        </p:grpSpPr>
        <p:sp>
          <p:nvSpPr>
            <p:cNvPr id="60" name="Delay 59">
              <a:extLst>
                <a:ext uri="{FF2B5EF4-FFF2-40B4-BE49-F238E27FC236}">
                  <a16:creationId xmlns:a16="http://schemas.microsoft.com/office/drawing/2014/main" id="{7D4A04C4-9DB5-F347-87B2-ABC040C1AFA5}"/>
                </a:ext>
              </a:extLst>
            </p:cNvPr>
            <p:cNvSpPr/>
            <p:nvPr/>
          </p:nvSpPr>
          <p:spPr>
            <a:xfrm rot="16200000">
              <a:off x="5774283" y="4107205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F508C7CD-39EE-6F4A-BBE5-FAE7EC69A326}"/>
                </a:ext>
              </a:extLst>
            </p:cNvPr>
            <p:cNvSpPr/>
            <p:nvPr/>
          </p:nvSpPr>
          <p:spPr>
            <a:xfrm>
              <a:off x="5871972" y="3823895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37" name="TextBox 61">
            <a:extLst>
              <a:ext uri="{FF2B5EF4-FFF2-40B4-BE49-F238E27FC236}">
                <a16:creationId xmlns:a16="http://schemas.microsoft.com/office/drawing/2014/main" id="{9333E856-4E2B-464C-A636-409FF29730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1970" y="4349364"/>
            <a:ext cx="84202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Project</a:t>
            </a:r>
          </a:p>
          <a:p>
            <a:pPr algn="ctr" eaLnBrk="1" hangingPunct="1"/>
            <a:r>
              <a:rPr lang="en-GB" altLang="en-US" sz="1400" dirty="0"/>
              <a:t>Manager</a:t>
            </a:r>
          </a:p>
        </p:txBody>
      </p:sp>
      <p:sp>
        <p:nvSpPr>
          <p:cNvPr id="13338" name="TextBox 62">
            <a:extLst>
              <a:ext uri="{FF2B5EF4-FFF2-40B4-BE49-F238E27FC236}">
                <a16:creationId xmlns:a16="http://schemas.microsoft.com/office/drawing/2014/main" id="{B9AF88F3-9E6A-E143-B9E7-A20E411BFA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6934" y="1236649"/>
            <a:ext cx="9286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Finance</a:t>
            </a:r>
          </a:p>
        </p:txBody>
      </p:sp>
      <p:grpSp>
        <p:nvGrpSpPr>
          <p:cNvPr id="13339" name="Group 15">
            <a:extLst>
              <a:ext uri="{FF2B5EF4-FFF2-40B4-BE49-F238E27FC236}">
                <a16:creationId xmlns:a16="http://schemas.microsoft.com/office/drawing/2014/main" id="{3C4E98B4-2CD1-8E4A-A475-5BB884F0EB81}"/>
              </a:ext>
            </a:extLst>
          </p:cNvPr>
          <p:cNvGrpSpPr>
            <a:grpSpLocks/>
          </p:cNvGrpSpPr>
          <p:nvPr/>
        </p:nvGrpSpPr>
        <p:grpSpPr bwMode="auto">
          <a:xfrm>
            <a:off x="2921000" y="326362"/>
            <a:ext cx="576262" cy="868363"/>
            <a:chOff x="4029999" y="424910"/>
            <a:chExt cx="576382" cy="869463"/>
          </a:xfrm>
          <a:solidFill>
            <a:schemeClr val="bg1">
              <a:lumMod val="65000"/>
            </a:schemeClr>
          </a:solidFill>
        </p:grpSpPr>
        <p:sp>
          <p:nvSpPr>
            <p:cNvPr id="64" name="Delay 63">
              <a:extLst>
                <a:ext uri="{FF2B5EF4-FFF2-40B4-BE49-F238E27FC236}">
                  <a16:creationId xmlns:a16="http://schemas.microsoft.com/office/drawing/2014/main" id="{0EE01A9C-AF54-9242-ABA9-ECE2562AE67D}"/>
                </a:ext>
              </a:extLst>
            </p:cNvPr>
            <p:cNvSpPr/>
            <p:nvPr/>
          </p:nvSpPr>
          <p:spPr>
            <a:xfrm rot="16200000">
              <a:off x="4020228" y="708220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0B173780-4CC6-5249-8122-5D3C93BBD348}"/>
                </a:ext>
              </a:extLst>
            </p:cNvPr>
            <p:cNvSpPr/>
            <p:nvPr/>
          </p:nvSpPr>
          <p:spPr>
            <a:xfrm>
              <a:off x="4117917" y="424910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3340" name="Group 6">
            <a:extLst>
              <a:ext uri="{FF2B5EF4-FFF2-40B4-BE49-F238E27FC236}">
                <a16:creationId xmlns:a16="http://schemas.microsoft.com/office/drawing/2014/main" id="{33FD6761-2449-6247-8D9E-C9290EFAE058}"/>
              </a:ext>
            </a:extLst>
          </p:cNvPr>
          <p:cNvGrpSpPr>
            <a:grpSpLocks/>
          </p:cNvGrpSpPr>
          <p:nvPr/>
        </p:nvGrpSpPr>
        <p:grpSpPr bwMode="auto">
          <a:xfrm>
            <a:off x="6674145" y="3391574"/>
            <a:ext cx="576262" cy="869950"/>
            <a:chOff x="7143912" y="3853254"/>
            <a:chExt cx="576382" cy="869463"/>
          </a:xfrm>
        </p:grpSpPr>
        <p:sp>
          <p:nvSpPr>
            <p:cNvPr id="66" name="Delay 65">
              <a:extLst>
                <a:ext uri="{FF2B5EF4-FFF2-40B4-BE49-F238E27FC236}">
                  <a16:creationId xmlns:a16="http://schemas.microsoft.com/office/drawing/2014/main" id="{FBA1F063-0801-E642-9B9E-104F0D225424}"/>
                </a:ext>
              </a:extLst>
            </p:cNvPr>
            <p:cNvSpPr/>
            <p:nvPr/>
          </p:nvSpPr>
          <p:spPr>
            <a:xfrm rot="16200000">
              <a:off x="7134141" y="4136564"/>
              <a:ext cx="595924" cy="576382"/>
            </a:xfrm>
            <a:prstGeom prst="flowChartDelay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32554E-F35E-8646-BC77-2751FF89A909}"/>
                </a:ext>
              </a:extLst>
            </p:cNvPr>
            <p:cNvSpPr/>
            <p:nvPr/>
          </p:nvSpPr>
          <p:spPr>
            <a:xfrm>
              <a:off x="7231830" y="3853254"/>
              <a:ext cx="390770" cy="390770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41" name="TextBox 67">
            <a:extLst>
              <a:ext uri="{FF2B5EF4-FFF2-40B4-BE49-F238E27FC236}">
                <a16:creationId xmlns:a16="http://schemas.microsoft.com/office/drawing/2014/main" id="{39BF3358-5E4E-C24F-8E43-05D804652C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3752" y="4271049"/>
            <a:ext cx="93705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Software</a:t>
            </a:r>
          </a:p>
          <a:p>
            <a:pPr algn="ctr" eaLnBrk="1" hangingPunct="1"/>
            <a:r>
              <a:rPr lang="en-GB" altLang="en-US" sz="1400" dirty="0"/>
              <a:t>Developer</a:t>
            </a:r>
          </a:p>
        </p:txBody>
      </p:sp>
      <p:grpSp>
        <p:nvGrpSpPr>
          <p:cNvPr id="13342" name="Group 11">
            <a:extLst>
              <a:ext uri="{FF2B5EF4-FFF2-40B4-BE49-F238E27FC236}">
                <a16:creationId xmlns:a16="http://schemas.microsoft.com/office/drawing/2014/main" id="{59B88C13-AD17-D543-BC2E-B72366CC9C58}"/>
              </a:ext>
            </a:extLst>
          </p:cNvPr>
          <p:cNvGrpSpPr>
            <a:grpSpLocks/>
          </p:cNvGrpSpPr>
          <p:nvPr/>
        </p:nvGrpSpPr>
        <p:grpSpPr bwMode="auto">
          <a:xfrm>
            <a:off x="2786933" y="3554020"/>
            <a:ext cx="576262" cy="869950"/>
            <a:chOff x="885370" y="3374561"/>
            <a:chExt cx="576382" cy="869463"/>
          </a:xfrm>
        </p:grpSpPr>
        <p:sp>
          <p:nvSpPr>
            <p:cNvPr id="69" name="Delay 68">
              <a:extLst>
                <a:ext uri="{FF2B5EF4-FFF2-40B4-BE49-F238E27FC236}">
                  <a16:creationId xmlns:a16="http://schemas.microsoft.com/office/drawing/2014/main" id="{C4132D4E-A71A-3444-8E86-CA465BD4D38C}"/>
                </a:ext>
              </a:extLst>
            </p:cNvPr>
            <p:cNvSpPr/>
            <p:nvPr/>
          </p:nvSpPr>
          <p:spPr>
            <a:xfrm rot="16200000">
              <a:off x="875599" y="3657871"/>
              <a:ext cx="595924" cy="576382"/>
            </a:xfrm>
            <a:prstGeom prst="flowChartDelay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183BFFA4-14D3-8449-B7CA-D3C0B35C45C0}"/>
                </a:ext>
              </a:extLst>
            </p:cNvPr>
            <p:cNvSpPr/>
            <p:nvPr/>
          </p:nvSpPr>
          <p:spPr>
            <a:xfrm>
              <a:off x="973288" y="3374561"/>
              <a:ext cx="390770" cy="39077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43" name="TextBox 70">
            <a:extLst>
              <a:ext uri="{FF2B5EF4-FFF2-40B4-BE49-F238E27FC236}">
                <a16:creationId xmlns:a16="http://schemas.microsoft.com/office/drawing/2014/main" id="{32696978-3B85-1343-9B54-E0869C633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9295" y="4433495"/>
            <a:ext cx="8699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Advocate</a:t>
            </a:r>
          </a:p>
        </p:txBody>
      </p:sp>
      <p:grpSp>
        <p:nvGrpSpPr>
          <p:cNvPr id="13344" name="Group 96">
            <a:extLst>
              <a:ext uri="{FF2B5EF4-FFF2-40B4-BE49-F238E27FC236}">
                <a16:creationId xmlns:a16="http://schemas.microsoft.com/office/drawing/2014/main" id="{3CE7E365-7AD7-0F46-A749-BB7F1BCB5765}"/>
              </a:ext>
            </a:extLst>
          </p:cNvPr>
          <p:cNvGrpSpPr>
            <a:grpSpLocks/>
          </p:cNvGrpSpPr>
          <p:nvPr/>
        </p:nvGrpSpPr>
        <p:grpSpPr bwMode="auto">
          <a:xfrm>
            <a:off x="841511" y="3554020"/>
            <a:ext cx="576262" cy="869950"/>
            <a:chOff x="3012820" y="3348044"/>
            <a:chExt cx="576382" cy="869463"/>
          </a:xfrm>
        </p:grpSpPr>
        <p:sp>
          <p:nvSpPr>
            <p:cNvPr id="75" name="Delay 74">
              <a:extLst>
                <a:ext uri="{FF2B5EF4-FFF2-40B4-BE49-F238E27FC236}">
                  <a16:creationId xmlns:a16="http://schemas.microsoft.com/office/drawing/2014/main" id="{A94A3DAE-3543-384B-8CD3-C517CA68E52D}"/>
                </a:ext>
              </a:extLst>
            </p:cNvPr>
            <p:cNvSpPr/>
            <p:nvPr/>
          </p:nvSpPr>
          <p:spPr>
            <a:xfrm rot="16200000">
              <a:off x="3003049" y="3631354"/>
              <a:ext cx="595924" cy="576382"/>
            </a:xfrm>
            <a:prstGeom prst="flowChartDelay">
              <a:avLst/>
            </a:prstGeom>
            <a:solidFill>
              <a:srgbClr val="FF9999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A9D8A55F-035D-4142-B0B7-2A4F3021A32A}"/>
                </a:ext>
              </a:extLst>
            </p:cNvPr>
            <p:cNvSpPr/>
            <p:nvPr/>
          </p:nvSpPr>
          <p:spPr>
            <a:xfrm>
              <a:off x="3100738" y="3348044"/>
              <a:ext cx="390770" cy="390770"/>
            </a:xfrm>
            <a:prstGeom prst="ellipse">
              <a:avLst/>
            </a:prstGeom>
            <a:solidFill>
              <a:srgbClr val="FF9999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45" name="TextBox 76">
            <a:extLst>
              <a:ext uri="{FF2B5EF4-FFF2-40B4-BE49-F238E27FC236}">
                <a16:creationId xmlns:a16="http://schemas.microsoft.com/office/drawing/2014/main" id="{B276A214-70FA-A344-AEE2-68E5EA7F27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8899" y="4465235"/>
            <a:ext cx="9286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Customer</a:t>
            </a:r>
          </a:p>
        </p:txBody>
      </p:sp>
      <p:sp>
        <p:nvSpPr>
          <p:cNvPr id="13346" name="TextBox 77">
            <a:extLst>
              <a:ext uri="{FF2B5EF4-FFF2-40B4-BE49-F238E27FC236}">
                <a16:creationId xmlns:a16="http://schemas.microsoft.com/office/drawing/2014/main" id="{5C792649-2672-C942-A5C4-3A5B8283BC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8100" y="2674938"/>
            <a:ext cx="92868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Incident</a:t>
            </a:r>
          </a:p>
          <a:p>
            <a:pPr algn="ctr" eaLnBrk="1" hangingPunct="1"/>
            <a:r>
              <a:rPr lang="en-GB" altLang="en-US" sz="1400" dirty="0"/>
              <a:t>Owner</a:t>
            </a:r>
          </a:p>
        </p:txBody>
      </p:sp>
      <p:grpSp>
        <p:nvGrpSpPr>
          <p:cNvPr id="13347" name="Group 13">
            <a:extLst>
              <a:ext uri="{FF2B5EF4-FFF2-40B4-BE49-F238E27FC236}">
                <a16:creationId xmlns:a16="http://schemas.microsoft.com/office/drawing/2014/main" id="{9E990F58-6B4B-CA48-8312-D139842360C8}"/>
              </a:ext>
            </a:extLst>
          </p:cNvPr>
          <p:cNvGrpSpPr>
            <a:grpSpLocks/>
          </p:cNvGrpSpPr>
          <p:nvPr/>
        </p:nvGrpSpPr>
        <p:grpSpPr bwMode="auto">
          <a:xfrm>
            <a:off x="4024313" y="1831975"/>
            <a:ext cx="576262" cy="868363"/>
            <a:chOff x="4029999" y="1831274"/>
            <a:chExt cx="576382" cy="869463"/>
          </a:xfrm>
        </p:grpSpPr>
        <p:sp>
          <p:nvSpPr>
            <p:cNvPr id="79" name="Delay 78">
              <a:extLst>
                <a:ext uri="{FF2B5EF4-FFF2-40B4-BE49-F238E27FC236}">
                  <a16:creationId xmlns:a16="http://schemas.microsoft.com/office/drawing/2014/main" id="{E6730BE1-2FB4-994A-BE10-A869D82F6B97}"/>
                </a:ext>
              </a:extLst>
            </p:cNvPr>
            <p:cNvSpPr/>
            <p:nvPr/>
          </p:nvSpPr>
          <p:spPr>
            <a:xfrm rot="16200000">
              <a:off x="4020228" y="2114584"/>
              <a:ext cx="595924" cy="576382"/>
            </a:xfrm>
            <a:prstGeom prst="flowChartDelay">
              <a:avLst/>
            </a:prstGeom>
            <a:solidFill>
              <a:srgbClr val="FF0000"/>
            </a:solidFill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C1F502A7-9042-384C-93B7-27F52E68EEB0}"/>
                </a:ext>
              </a:extLst>
            </p:cNvPr>
            <p:cNvSpPr/>
            <p:nvPr/>
          </p:nvSpPr>
          <p:spPr>
            <a:xfrm>
              <a:off x="4117917" y="1831274"/>
              <a:ext cx="390770" cy="39077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3348" name="Group 97">
            <a:extLst>
              <a:ext uri="{FF2B5EF4-FFF2-40B4-BE49-F238E27FC236}">
                <a16:creationId xmlns:a16="http://schemas.microsoft.com/office/drawing/2014/main" id="{1F50E598-7538-B94F-BCF7-F45CC5E323A8}"/>
              </a:ext>
            </a:extLst>
          </p:cNvPr>
          <p:cNvGrpSpPr>
            <a:grpSpLocks/>
          </p:cNvGrpSpPr>
          <p:nvPr/>
        </p:nvGrpSpPr>
        <p:grpSpPr bwMode="auto">
          <a:xfrm>
            <a:off x="1881323" y="3554020"/>
            <a:ext cx="576263" cy="869950"/>
            <a:chOff x="4038796" y="3348044"/>
            <a:chExt cx="576382" cy="869463"/>
          </a:xfrm>
        </p:grpSpPr>
        <p:sp>
          <p:nvSpPr>
            <p:cNvPr id="81" name="Delay 80">
              <a:extLst>
                <a:ext uri="{FF2B5EF4-FFF2-40B4-BE49-F238E27FC236}">
                  <a16:creationId xmlns:a16="http://schemas.microsoft.com/office/drawing/2014/main" id="{02B02BCE-C17D-3F42-A901-97E2F16F0E38}"/>
                </a:ext>
              </a:extLst>
            </p:cNvPr>
            <p:cNvSpPr/>
            <p:nvPr/>
          </p:nvSpPr>
          <p:spPr>
            <a:xfrm rot="16200000">
              <a:off x="4029025" y="3631354"/>
              <a:ext cx="595924" cy="576382"/>
            </a:xfrm>
            <a:prstGeom prst="flowChartDelay">
              <a:avLst/>
            </a:prstGeom>
            <a:solidFill>
              <a:srgbClr val="CC0066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C46B5548-4AA8-A240-91AC-2BA257A7A4F7}"/>
                </a:ext>
              </a:extLst>
            </p:cNvPr>
            <p:cNvSpPr/>
            <p:nvPr/>
          </p:nvSpPr>
          <p:spPr>
            <a:xfrm>
              <a:off x="4126714" y="3348044"/>
              <a:ext cx="390770" cy="390770"/>
            </a:xfrm>
            <a:prstGeom prst="ellipse">
              <a:avLst/>
            </a:prstGeom>
            <a:solidFill>
              <a:srgbClr val="CC0066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49" name="TextBox 82">
            <a:extLst>
              <a:ext uri="{FF2B5EF4-FFF2-40B4-BE49-F238E27FC236}">
                <a16:creationId xmlns:a16="http://schemas.microsoft.com/office/drawing/2014/main" id="{361AACA1-5584-3145-ADA9-918350C0C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637" y="4465234"/>
            <a:ext cx="7858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Supplier</a:t>
            </a:r>
          </a:p>
        </p:txBody>
      </p:sp>
      <p:grpSp>
        <p:nvGrpSpPr>
          <p:cNvPr id="13350" name="Group 7">
            <a:extLst>
              <a:ext uri="{FF2B5EF4-FFF2-40B4-BE49-F238E27FC236}">
                <a16:creationId xmlns:a16="http://schemas.microsoft.com/office/drawing/2014/main" id="{8D78E75A-1D10-FF41-A253-6F2A22FCC434}"/>
              </a:ext>
            </a:extLst>
          </p:cNvPr>
          <p:cNvGrpSpPr>
            <a:grpSpLocks/>
          </p:cNvGrpSpPr>
          <p:nvPr/>
        </p:nvGrpSpPr>
        <p:grpSpPr bwMode="auto">
          <a:xfrm>
            <a:off x="3885195" y="3584880"/>
            <a:ext cx="576262" cy="868363"/>
            <a:chOff x="7169668" y="5222759"/>
            <a:chExt cx="576382" cy="869463"/>
          </a:xfrm>
          <a:solidFill>
            <a:schemeClr val="accent3">
              <a:lumMod val="50000"/>
            </a:schemeClr>
          </a:solidFill>
        </p:grpSpPr>
        <p:sp>
          <p:nvSpPr>
            <p:cNvPr id="84" name="Delay 83">
              <a:extLst>
                <a:ext uri="{FF2B5EF4-FFF2-40B4-BE49-F238E27FC236}">
                  <a16:creationId xmlns:a16="http://schemas.microsoft.com/office/drawing/2014/main" id="{3C45CAA4-B324-334E-8B0D-945F9A33AB74}"/>
                </a:ext>
              </a:extLst>
            </p:cNvPr>
            <p:cNvSpPr/>
            <p:nvPr/>
          </p:nvSpPr>
          <p:spPr>
            <a:xfrm rot="16200000">
              <a:off x="7159897" y="5506069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645BB9E3-0470-FF47-BA93-3847CD862ABC}"/>
                </a:ext>
              </a:extLst>
            </p:cNvPr>
            <p:cNvSpPr/>
            <p:nvPr/>
          </p:nvSpPr>
          <p:spPr>
            <a:xfrm>
              <a:off x="7257586" y="5222759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351" name="TextBox 85">
            <a:extLst>
              <a:ext uri="{FF2B5EF4-FFF2-40B4-BE49-F238E27FC236}">
                <a16:creationId xmlns:a16="http://schemas.microsoft.com/office/drawing/2014/main" id="{E01BAF5D-0318-B742-91F1-40F55844A4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2945" y="4472293"/>
            <a:ext cx="102076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Solution</a:t>
            </a:r>
          </a:p>
          <a:p>
            <a:pPr algn="ctr" eaLnBrk="1" hangingPunct="1"/>
            <a:r>
              <a:rPr lang="en-GB" altLang="en-US" sz="1400" dirty="0"/>
              <a:t>Architect</a:t>
            </a:r>
          </a:p>
        </p:txBody>
      </p:sp>
      <p:sp>
        <p:nvSpPr>
          <p:cNvPr id="83" name="TextBox 53">
            <a:extLst>
              <a:ext uri="{FF2B5EF4-FFF2-40B4-BE49-F238E27FC236}">
                <a16:creationId xmlns:a16="http://schemas.microsoft.com/office/drawing/2014/main" id="{7B341687-0CBF-7A43-A6C1-6CFE6E467F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4193" y="5964913"/>
            <a:ext cx="119697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Subject Area Owner</a:t>
            </a:r>
          </a:p>
        </p:txBody>
      </p:sp>
      <p:grpSp>
        <p:nvGrpSpPr>
          <p:cNvPr id="86" name="Group 16">
            <a:extLst>
              <a:ext uri="{FF2B5EF4-FFF2-40B4-BE49-F238E27FC236}">
                <a16:creationId xmlns:a16="http://schemas.microsoft.com/office/drawing/2014/main" id="{DB09C345-51A4-C349-9C58-C92D56E9C0B4}"/>
              </a:ext>
            </a:extLst>
          </p:cNvPr>
          <p:cNvGrpSpPr>
            <a:grpSpLocks/>
          </p:cNvGrpSpPr>
          <p:nvPr/>
        </p:nvGrpSpPr>
        <p:grpSpPr bwMode="auto">
          <a:xfrm>
            <a:off x="1661199" y="5077500"/>
            <a:ext cx="576262" cy="869950"/>
            <a:chOff x="941631" y="1923105"/>
            <a:chExt cx="576382" cy="869463"/>
          </a:xfrm>
          <a:solidFill>
            <a:schemeClr val="accent4"/>
          </a:solidFill>
        </p:grpSpPr>
        <p:sp>
          <p:nvSpPr>
            <p:cNvPr id="87" name="Delay 86">
              <a:extLst>
                <a:ext uri="{FF2B5EF4-FFF2-40B4-BE49-F238E27FC236}">
                  <a16:creationId xmlns:a16="http://schemas.microsoft.com/office/drawing/2014/main" id="{FC2E8043-C6A6-C247-A601-9072599387F1}"/>
                </a:ext>
              </a:extLst>
            </p:cNvPr>
            <p:cNvSpPr/>
            <p:nvPr/>
          </p:nvSpPr>
          <p:spPr>
            <a:xfrm rot="16200000">
              <a:off x="931860" y="2206415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DA117DA5-1AB0-DD44-83B1-B683A3F6202F}"/>
                </a:ext>
              </a:extLst>
            </p:cNvPr>
            <p:cNvSpPr/>
            <p:nvPr/>
          </p:nvSpPr>
          <p:spPr>
            <a:xfrm>
              <a:off x="1029549" y="1923105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2" name="Group 7">
            <a:extLst>
              <a:ext uri="{FF2B5EF4-FFF2-40B4-BE49-F238E27FC236}">
                <a16:creationId xmlns:a16="http://schemas.microsoft.com/office/drawing/2014/main" id="{636AAC39-9CEB-773C-2D86-72DC66B7610A}"/>
              </a:ext>
            </a:extLst>
          </p:cNvPr>
          <p:cNvGrpSpPr>
            <a:grpSpLocks/>
          </p:cNvGrpSpPr>
          <p:nvPr/>
        </p:nvGrpSpPr>
        <p:grpSpPr bwMode="auto">
          <a:xfrm>
            <a:off x="7527586" y="3424678"/>
            <a:ext cx="576262" cy="868363"/>
            <a:chOff x="7169668" y="5222759"/>
            <a:chExt cx="576382" cy="869463"/>
          </a:xfrm>
          <a:solidFill>
            <a:schemeClr val="accent3">
              <a:lumMod val="40000"/>
              <a:lumOff val="60000"/>
            </a:schemeClr>
          </a:solidFill>
        </p:grpSpPr>
        <p:sp>
          <p:nvSpPr>
            <p:cNvPr id="3" name="Delay 2">
              <a:extLst>
                <a:ext uri="{FF2B5EF4-FFF2-40B4-BE49-F238E27FC236}">
                  <a16:creationId xmlns:a16="http://schemas.microsoft.com/office/drawing/2014/main" id="{78235AA0-D748-C8C4-A50F-BDAB26123020}"/>
                </a:ext>
              </a:extLst>
            </p:cNvPr>
            <p:cNvSpPr/>
            <p:nvPr/>
          </p:nvSpPr>
          <p:spPr>
            <a:xfrm rot="16200000">
              <a:off x="7159897" y="5506069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6B0082A-B3B0-7F14-B3C1-B5E54EEA87E4}"/>
                </a:ext>
              </a:extLst>
            </p:cNvPr>
            <p:cNvSpPr/>
            <p:nvPr/>
          </p:nvSpPr>
          <p:spPr>
            <a:xfrm>
              <a:off x="7257586" y="5222759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5" name="TextBox 85">
            <a:extLst>
              <a:ext uri="{FF2B5EF4-FFF2-40B4-BE49-F238E27FC236}">
                <a16:creationId xmlns:a16="http://schemas.microsoft.com/office/drawing/2014/main" id="{173A6416-18E4-ADBD-5F19-9F5C7518AD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5336" y="4312091"/>
            <a:ext cx="102076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Business</a:t>
            </a:r>
          </a:p>
          <a:p>
            <a:pPr algn="ctr" eaLnBrk="1" hangingPunct="1"/>
            <a:r>
              <a:rPr lang="en-GB" altLang="en-US" sz="1400" dirty="0"/>
              <a:t>Analyst</a:t>
            </a:r>
          </a:p>
        </p:txBody>
      </p:sp>
      <p:grpSp>
        <p:nvGrpSpPr>
          <p:cNvPr id="6" name="Group 12">
            <a:extLst>
              <a:ext uri="{FF2B5EF4-FFF2-40B4-BE49-F238E27FC236}">
                <a16:creationId xmlns:a16="http://schemas.microsoft.com/office/drawing/2014/main" id="{92B5FE2F-5EE9-BCDB-38CD-14689B749BB4}"/>
              </a:ext>
            </a:extLst>
          </p:cNvPr>
          <p:cNvGrpSpPr>
            <a:grpSpLocks/>
          </p:cNvGrpSpPr>
          <p:nvPr/>
        </p:nvGrpSpPr>
        <p:grpSpPr bwMode="auto">
          <a:xfrm>
            <a:off x="1991143" y="1842276"/>
            <a:ext cx="576263" cy="868363"/>
            <a:chOff x="2924902" y="1896953"/>
            <a:chExt cx="576382" cy="869463"/>
          </a:xfrm>
          <a:solidFill>
            <a:srgbClr val="FFC000"/>
          </a:solidFill>
        </p:grpSpPr>
        <p:sp>
          <p:nvSpPr>
            <p:cNvPr id="7" name="Delay 6">
              <a:extLst>
                <a:ext uri="{FF2B5EF4-FFF2-40B4-BE49-F238E27FC236}">
                  <a16:creationId xmlns:a16="http://schemas.microsoft.com/office/drawing/2014/main" id="{F02735FD-0DCB-39C2-3366-5F72AB50321D}"/>
                </a:ext>
              </a:extLst>
            </p:cNvPr>
            <p:cNvSpPr/>
            <p:nvPr/>
          </p:nvSpPr>
          <p:spPr>
            <a:xfrm rot="16200000">
              <a:off x="2915131" y="2180263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B40A6A5-B81F-39F4-5F6E-78FD0447D9DA}"/>
                </a:ext>
              </a:extLst>
            </p:cNvPr>
            <p:cNvSpPr/>
            <p:nvPr/>
          </p:nvSpPr>
          <p:spPr>
            <a:xfrm>
              <a:off x="3012820" y="1896953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9" name="TextBox 58">
            <a:extLst>
              <a:ext uri="{FF2B5EF4-FFF2-40B4-BE49-F238E27FC236}">
                <a16:creationId xmlns:a16="http://schemas.microsoft.com/office/drawing/2014/main" id="{53BBA4C4-701C-7045-1C04-6CB4661A1A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6144" y="2697163"/>
            <a:ext cx="10878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Governance</a:t>
            </a:r>
          </a:p>
          <a:p>
            <a:pPr algn="ctr" eaLnBrk="1" hangingPunct="1"/>
            <a:r>
              <a:rPr lang="en-GB" altLang="en-US" sz="1400" dirty="0"/>
              <a:t>Officer</a:t>
            </a:r>
          </a:p>
        </p:txBody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5F4502D7-3DEF-0705-C5BC-8408945EDE0F}"/>
              </a:ext>
            </a:extLst>
          </p:cNvPr>
          <p:cNvGrpSpPr>
            <a:grpSpLocks/>
          </p:cNvGrpSpPr>
          <p:nvPr/>
        </p:nvGrpSpPr>
        <p:grpSpPr bwMode="auto">
          <a:xfrm>
            <a:off x="4900908" y="3525451"/>
            <a:ext cx="576262" cy="869950"/>
            <a:chOff x="5784054" y="3823895"/>
            <a:chExt cx="576382" cy="869463"/>
          </a:xfrm>
          <a:solidFill>
            <a:schemeClr val="accent3">
              <a:lumMod val="75000"/>
            </a:schemeClr>
          </a:solidFill>
        </p:grpSpPr>
        <p:sp>
          <p:nvSpPr>
            <p:cNvPr id="11" name="Delay 10">
              <a:extLst>
                <a:ext uri="{FF2B5EF4-FFF2-40B4-BE49-F238E27FC236}">
                  <a16:creationId xmlns:a16="http://schemas.microsoft.com/office/drawing/2014/main" id="{F54A5DF7-BDD5-72A1-D389-2C5F2A9F9330}"/>
                </a:ext>
              </a:extLst>
            </p:cNvPr>
            <p:cNvSpPr/>
            <p:nvPr/>
          </p:nvSpPr>
          <p:spPr>
            <a:xfrm rot="16200000">
              <a:off x="5774283" y="4107205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E695379-F71F-EDA3-A0D6-A9E3D6CC31D1}"/>
                </a:ext>
              </a:extLst>
            </p:cNvPr>
            <p:cNvSpPr/>
            <p:nvPr/>
          </p:nvSpPr>
          <p:spPr>
            <a:xfrm>
              <a:off x="5871972" y="3823895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3" name="TextBox 61">
            <a:extLst>
              <a:ext uri="{FF2B5EF4-FFF2-40B4-BE49-F238E27FC236}">
                <a16:creationId xmlns:a16="http://schemas.microsoft.com/office/drawing/2014/main" id="{8770CC10-A76C-3468-664B-714D91F31C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7408" y="4404926"/>
            <a:ext cx="70326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Project</a:t>
            </a:r>
          </a:p>
          <a:p>
            <a:pPr algn="ctr" eaLnBrk="1" hangingPunct="1"/>
            <a:r>
              <a:rPr lang="en-GB" altLang="en-US" sz="1400" dirty="0"/>
              <a:t>Lead</a:t>
            </a:r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C0BCAE6B-88C3-FB9E-156B-1F6BB3F0FDE6}"/>
              </a:ext>
            </a:extLst>
          </p:cNvPr>
          <p:cNvGrpSpPr>
            <a:grpSpLocks/>
          </p:cNvGrpSpPr>
          <p:nvPr/>
        </p:nvGrpSpPr>
        <p:grpSpPr bwMode="auto">
          <a:xfrm>
            <a:off x="7573623" y="5097894"/>
            <a:ext cx="576262" cy="868363"/>
            <a:chOff x="6953415" y="2012005"/>
            <a:chExt cx="576382" cy="869463"/>
          </a:xfrm>
          <a:solidFill>
            <a:schemeClr val="accent5">
              <a:lumMod val="75000"/>
            </a:schemeClr>
          </a:solidFill>
        </p:grpSpPr>
        <p:sp>
          <p:nvSpPr>
            <p:cNvPr id="15" name="Delay 14">
              <a:extLst>
                <a:ext uri="{FF2B5EF4-FFF2-40B4-BE49-F238E27FC236}">
                  <a16:creationId xmlns:a16="http://schemas.microsoft.com/office/drawing/2014/main" id="{749AEF1E-6DCC-D985-8600-7EAE70C53085}"/>
                </a:ext>
              </a:extLst>
            </p:cNvPr>
            <p:cNvSpPr/>
            <p:nvPr/>
          </p:nvSpPr>
          <p:spPr>
            <a:xfrm rot="16200000">
              <a:off x="6943644" y="2295315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112A83F-4EA5-3571-2BA7-2E8DB081F1E5}"/>
                </a:ext>
              </a:extLst>
            </p:cNvPr>
            <p:cNvSpPr/>
            <p:nvPr/>
          </p:nvSpPr>
          <p:spPr>
            <a:xfrm>
              <a:off x="7041333" y="2012005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17" name="TextBox 43">
            <a:extLst>
              <a:ext uri="{FF2B5EF4-FFF2-40B4-BE49-F238E27FC236}">
                <a16:creationId xmlns:a16="http://schemas.microsoft.com/office/drawing/2014/main" id="{6557E96B-D3A4-396B-750A-74E5E9E4C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98998" y="5940857"/>
            <a:ext cx="9271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Data Engineer</a:t>
            </a:r>
          </a:p>
        </p:txBody>
      </p:sp>
      <p:grpSp>
        <p:nvGrpSpPr>
          <p:cNvPr id="19" name="Group 4">
            <a:extLst>
              <a:ext uri="{FF2B5EF4-FFF2-40B4-BE49-F238E27FC236}">
                <a16:creationId xmlns:a16="http://schemas.microsoft.com/office/drawing/2014/main" id="{D2A25F4A-11D9-C641-1CAE-A878AE0ACC6B}"/>
              </a:ext>
            </a:extLst>
          </p:cNvPr>
          <p:cNvGrpSpPr>
            <a:grpSpLocks/>
          </p:cNvGrpSpPr>
          <p:nvPr/>
        </p:nvGrpSpPr>
        <p:grpSpPr bwMode="auto">
          <a:xfrm>
            <a:off x="5898621" y="1790573"/>
            <a:ext cx="576262" cy="868363"/>
            <a:chOff x="6953415" y="2012005"/>
            <a:chExt cx="576382" cy="869463"/>
          </a:xfrm>
          <a:solidFill>
            <a:schemeClr val="accent6">
              <a:lumMod val="75000"/>
            </a:schemeClr>
          </a:solidFill>
        </p:grpSpPr>
        <p:sp>
          <p:nvSpPr>
            <p:cNvPr id="20" name="Delay 19">
              <a:extLst>
                <a:ext uri="{FF2B5EF4-FFF2-40B4-BE49-F238E27FC236}">
                  <a16:creationId xmlns:a16="http://schemas.microsoft.com/office/drawing/2014/main" id="{E35BBE95-345B-CD01-D0F5-55630E684712}"/>
                </a:ext>
              </a:extLst>
            </p:cNvPr>
            <p:cNvSpPr/>
            <p:nvPr/>
          </p:nvSpPr>
          <p:spPr>
            <a:xfrm rot="16200000">
              <a:off x="6943644" y="2295315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FAB397D9-3B13-AF3A-D801-19336D3A6F0D}"/>
                </a:ext>
              </a:extLst>
            </p:cNvPr>
            <p:cNvSpPr/>
            <p:nvPr/>
          </p:nvSpPr>
          <p:spPr>
            <a:xfrm>
              <a:off x="7041333" y="2012005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26" name="TextBox 43">
            <a:extLst>
              <a:ext uri="{FF2B5EF4-FFF2-40B4-BE49-F238E27FC236}">
                <a16:creationId xmlns:a16="http://schemas.microsoft.com/office/drawing/2014/main" id="{DD7D974A-AEB8-6DC7-9BFB-B7D0AB32C2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3996" y="2633536"/>
            <a:ext cx="9271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DevOps Engineer</a:t>
            </a:r>
          </a:p>
        </p:txBody>
      </p:sp>
      <p:sp>
        <p:nvSpPr>
          <p:cNvPr id="27" name="TextBox 62">
            <a:extLst>
              <a:ext uri="{FF2B5EF4-FFF2-40B4-BE49-F238E27FC236}">
                <a16:creationId xmlns:a16="http://schemas.microsoft.com/office/drawing/2014/main" id="{942053A8-5717-088F-B146-53576F0E96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5010" y="1180069"/>
            <a:ext cx="92868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Human Resources</a:t>
            </a:r>
          </a:p>
        </p:txBody>
      </p:sp>
      <p:grpSp>
        <p:nvGrpSpPr>
          <p:cNvPr id="28" name="Group 15">
            <a:extLst>
              <a:ext uri="{FF2B5EF4-FFF2-40B4-BE49-F238E27FC236}">
                <a16:creationId xmlns:a16="http://schemas.microsoft.com/office/drawing/2014/main" id="{99DB9578-279E-1B66-6517-F8C2C3F0DFE0}"/>
              </a:ext>
            </a:extLst>
          </p:cNvPr>
          <p:cNvGrpSpPr>
            <a:grpSpLocks/>
          </p:cNvGrpSpPr>
          <p:nvPr/>
        </p:nvGrpSpPr>
        <p:grpSpPr bwMode="auto">
          <a:xfrm>
            <a:off x="1865006" y="347662"/>
            <a:ext cx="576262" cy="868363"/>
            <a:chOff x="4029999" y="424910"/>
            <a:chExt cx="576382" cy="869463"/>
          </a:xfrm>
          <a:solidFill>
            <a:schemeClr val="bg1">
              <a:lumMod val="50000"/>
            </a:schemeClr>
          </a:solidFill>
        </p:grpSpPr>
        <p:sp>
          <p:nvSpPr>
            <p:cNvPr id="29" name="Delay 28">
              <a:extLst>
                <a:ext uri="{FF2B5EF4-FFF2-40B4-BE49-F238E27FC236}">
                  <a16:creationId xmlns:a16="http://schemas.microsoft.com/office/drawing/2014/main" id="{AA49889E-9778-C0B1-F771-3CACF65B52F9}"/>
                </a:ext>
              </a:extLst>
            </p:cNvPr>
            <p:cNvSpPr/>
            <p:nvPr/>
          </p:nvSpPr>
          <p:spPr>
            <a:xfrm rot="16200000">
              <a:off x="4020228" y="708220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47F9BB7-943A-3F2D-5579-A58613B7156A}"/>
                </a:ext>
              </a:extLst>
            </p:cNvPr>
            <p:cNvSpPr/>
            <p:nvPr/>
          </p:nvSpPr>
          <p:spPr>
            <a:xfrm>
              <a:off x="4117917" y="424910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35" name="TextBox 62">
            <a:extLst>
              <a:ext uri="{FF2B5EF4-FFF2-40B4-BE49-F238E27FC236}">
                <a16:creationId xmlns:a16="http://schemas.microsoft.com/office/drawing/2014/main" id="{67771AD1-CD6F-CA36-7375-BAA040A3A6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6552" y="1183205"/>
            <a:ext cx="9286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/>
              <a:t>Manager</a:t>
            </a:r>
          </a:p>
        </p:txBody>
      </p:sp>
      <p:grpSp>
        <p:nvGrpSpPr>
          <p:cNvPr id="36" name="Group 15">
            <a:extLst>
              <a:ext uri="{FF2B5EF4-FFF2-40B4-BE49-F238E27FC236}">
                <a16:creationId xmlns:a16="http://schemas.microsoft.com/office/drawing/2014/main" id="{FEEC39DC-6D6A-8657-C81A-D54839DEDB6B}"/>
              </a:ext>
            </a:extLst>
          </p:cNvPr>
          <p:cNvGrpSpPr>
            <a:grpSpLocks/>
          </p:cNvGrpSpPr>
          <p:nvPr/>
        </p:nvGrpSpPr>
        <p:grpSpPr bwMode="auto">
          <a:xfrm>
            <a:off x="3932765" y="345005"/>
            <a:ext cx="576262" cy="868363"/>
            <a:chOff x="4029999" y="424910"/>
            <a:chExt cx="576382" cy="869463"/>
          </a:xfrm>
          <a:solidFill>
            <a:schemeClr val="bg1">
              <a:lumMod val="85000"/>
            </a:schemeClr>
          </a:solidFill>
        </p:grpSpPr>
        <p:sp>
          <p:nvSpPr>
            <p:cNvPr id="37" name="Delay 36">
              <a:extLst>
                <a:ext uri="{FF2B5EF4-FFF2-40B4-BE49-F238E27FC236}">
                  <a16:creationId xmlns:a16="http://schemas.microsoft.com/office/drawing/2014/main" id="{6EDFBBA4-61F5-6F74-E889-9F62AB30D55C}"/>
                </a:ext>
              </a:extLst>
            </p:cNvPr>
            <p:cNvSpPr/>
            <p:nvPr/>
          </p:nvSpPr>
          <p:spPr>
            <a:xfrm rot="16200000">
              <a:off x="4020228" y="708220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860158D-5FC8-AE08-E36C-8AF148EAA854}"/>
                </a:ext>
              </a:extLst>
            </p:cNvPr>
            <p:cNvSpPr/>
            <p:nvPr/>
          </p:nvSpPr>
          <p:spPr>
            <a:xfrm>
              <a:off x="4117917" y="424910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39" name="Group 2">
            <a:extLst>
              <a:ext uri="{FF2B5EF4-FFF2-40B4-BE49-F238E27FC236}">
                <a16:creationId xmlns:a16="http://schemas.microsoft.com/office/drawing/2014/main" id="{29DEC739-5DDC-8992-0F70-8A8C17B90548}"/>
              </a:ext>
            </a:extLst>
          </p:cNvPr>
          <p:cNvGrpSpPr>
            <a:grpSpLocks/>
          </p:cNvGrpSpPr>
          <p:nvPr/>
        </p:nvGrpSpPr>
        <p:grpSpPr bwMode="auto">
          <a:xfrm>
            <a:off x="5872216" y="5101579"/>
            <a:ext cx="576262" cy="868363"/>
            <a:chOff x="6891596" y="321166"/>
            <a:chExt cx="576382" cy="86946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44" name="Delay 43">
              <a:extLst>
                <a:ext uri="{FF2B5EF4-FFF2-40B4-BE49-F238E27FC236}">
                  <a16:creationId xmlns:a16="http://schemas.microsoft.com/office/drawing/2014/main" id="{F9DC4069-F5CC-5345-6A58-FE07A5D77176}"/>
                </a:ext>
              </a:extLst>
            </p:cNvPr>
            <p:cNvSpPr/>
            <p:nvPr/>
          </p:nvSpPr>
          <p:spPr>
            <a:xfrm rot="16200000">
              <a:off x="6881825" y="604476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C8B5D2C-7264-A5A1-4904-CC4D32749662}"/>
                </a:ext>
              </a:extLst>
            </p:cNvPr>
            <p:cNvSpPr/>
            <p:nvPr/>
          </p:nvSpPr>
          <p:spPr>
            <a:xfrm>
              <a:off x="6979514" y="321166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48" name="TextBox 46">
            <a:extLst>
              <a:ext uri="{FF2B5EF4-FFF2-40B4-BE49-F238E27FC236}">
                <a16:creationId xmlns:a16="http://schemas.microsoft.com/office/drawing/2014/main" id="{FBAA5C9B-42F2-43E3-3E43-BA36CDBFA8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591" y="5939779"/>
            <a:ext cx="927100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Data</a:t>
            </a:r>
          </a:p>
          <a:p>
            <a:pPr algn="ctr" eaLnBrk="1" hangingPunct="1"/>
            <a:r>
              <a:rPr lang="en-GB" altLang="en-US" sz="1400" dirty="0"/>
              <a:t>Scientist</a:t>
            </a:r>
          </a:p>
        </p:txBody>
      </p:sp>
      <p:grpSp>
        <p:nvGrpSpPr>
          <p:cNvPr id="51" name="Group 4">
            <a:extLst>
              <a:ext uri="{FF2B5EF4-FFF2-40B4-BE49-F238E27FC236}">
                <a16:creationId xmlns:a16="http://schemas.microsoft.com/office/drawing/2014/main" id="{7FF79E9F-E7F4-CB2F-7593-C1C02EA93451}"/>
              </a:ext>
            </a:extLst>
          </p:cNvPr>
          <p:cNvGrpSpPr>
            <a:grpSpLocks/>
          </p:cNvGrpSpPr>
          <p:nvPr/>
        </p:nvGrpSpPr>
        <p:grpSpPr bwMode="auto">
          <a:xfrm>
            <a:off x="-71437" y="3536563"/>
            <a:ext cx="576262" cy="868363"/>
            <a:chOff x="6953415" y="2012005"/>
            <a:chExt cx="576382" cy="869463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54" name="Delay 53">
              <a:extLst>
                <a:ext uri="{FF2B5EF4-FFF2-40B4-BE49-F238E27FC236}">
                  <a16:creationId xmlns:a16="http://schemas.microsoft.com/office/drawing/2014/main" id="{FCF5F49C-2217-FF14-34FD-4D8DE3CE408C}"/>
                </a:ext>
              </a:extLst>
            </p:cNvPr>
            <p:cNvSpPr/>
            <p:nvPr/>
          </p:nvSpPr>
          <p:spPr>
            <a:xfrm rot="16200000">
              <a:off x="6943644" y="2295315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A40CB46-40D6-8A89-3409-2C97FA02CBC4}"/>
                </a:ext>
              </a:extLst>
            </p:cNvPr>
            <p:cNvSpPr/>
            <p:nvPr/>
          </p:nvSpPr>
          <p:spPr>
            <a:xfrm>
              <a:off x="7041333" y="2012005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62" name="TextBox 43">
            <a:extLst>
              <a:ext uri="{FF2B5EF4-FFF2-40B4-BE49-F238E27FC236}">
                <a16:creationId xmlns:a16="http://schemas.microsoft.com/office/drawing/2014/main" id="{43CBA5C4-33F9-9CF8-E745-A66DD3499C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88208" y="4465234"/>
            <a:ext cx="10207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Researcher</a:t>
            </a:r>
          </a:p>
        </p:txBody>
      </p:sp>
      <p:grpSp>
        <p:nvGrpSpPr>
          <p:cNvPr id="63" name="Group 7">
            <a:extLst>
              <a:ext uri="{FF2B5EF4-FFF2-40B4-BE49-F238E27FC236}">
                <a16:creationId xmlns:a16="http://schemas.microsoft.com/office/drawing/2014/main" id="{8CC9C5E1-C490-5A59-EFCC-6E3278C961A4}"/>
              </a:ext>
            </a:extLst>
          </p:cNvPr>
          <p:cNvGrpSpPr>
            <a:grpSpLocks/>
          </p:cNvGrpSpPr>
          <p:nvPr/>
        </p:nvGrpSpPr>
        <p:grpSpPr bwMode="auto">
          <a:xfrm>
            <a:off x="8437798" y="3383636"/>
            <a:ext cx="576262" cy="868363"/>
            <a:chOff x="7169668" y="5222759"/>
            <a:chExt cx="576382" cy="869463"/>
          </a:xfrm>
          <a:solidFill>
            <a:srgbClr val="92D050"/>
          </a:solidFill>
        </p:grpSpPr>
        <p:sp>
          <p:nvSpPr>
            <p:cNvPr id="68" name="Delay 67">
              <a:extLst>
                <a:ext uri="{FF2B5EF4-FFF2-40B4-BE49-F238E27FC236}">
                  <a16:creationId xmlns:a16="http://schemas.microsoft.com/office/drawing/2014/main" id="{1404D93A-A16D-1733-F344-707649BEE569}"/>
                </a:ext>
              </a:extLst>
            </p:cNvPr>
            <p:cNvSpPr/>
            <p:nvPr/>
          </p:nvSpPr>
          <p:spPr>
            <a:xfrm rot="16200000">
              <a:off x="7159897" y="5506069"/>
              <a:ext cx="595924" cy="576382"/>
            </a:xfrm>
            <a:prstGeom prst="flowChartDelay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9D3EF6E2-D776-7106-C961-49FD8EDF72AD}"/>
                </a:ext>
              </a:extLst>
            </p:cNvPr>
            <p:cNvSpPr/>
            <p:nvPr/>
          </p:nvSpPr>
          <p:spPr>
            <a:xfrm>
              <a:off x="7257586" y="5222759"/>
              <a:ext cx="390770" cy="390770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72" name="TextBox 85">
            <a:extLst>
              <a:ext uri="{FF2B5EF4-FFF2-40B4-BE49-F238E27FC236}">
                <a16:creationId xmlns:a16="http://schemas.microsoft.com/office/drawing/2014/main" id="{60B34BF2-ADC2-EA11-FFF3-86F713E7E2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15548" y="4271049"/>
            <a:ext cx="102076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Integration</a:t>
            </a:r>
          </a:p>
          <a:p>
            <a:pPr algn="ctr" eaLnBrk="1" hangingPunct="1"/>
            <a:r>
              <a:rPr lang="en-GB" altLang="en-US" sz="1400" dirty="0"/>
              <a:t>Specialist</a:t>
            </a:r>
          </a:p>
        </p:txBody>
      </p:sp>
      <p:grpSp>
        <p:nvGrpSpPr>
          <p:cNvPr id="73" name="Group 2">
            <a:extLst>
              <a:ext uri="{FF2B5EF4-FFF2-40B4-BE49-F238E27FC236}">
                <a16:creationId xmlns:a16="http://schemas.microsoft.com/office/drawing/2014/main" id="{27A6D8FD-A9A0-58D9-1BEA-D8358B61F490}"/>
              </a:ext>
            </a:extLst>
          </p:cNvPr>
          <p:cNvGrpSpPr>
            <a:grpSpLocks/>
          </p:cNvGrpSpPr>
          <p:nvPr/>
        </p:nvGrpSpPr>
        <p:grpSpPr bwMode="auto">
          <a:xfrm>
            <a:off x="7648576" y="347662"/>
            <a:ext cx="576262" cy="868363"/>
            <a:chOff x="6891596" y="321166"/>
            <a:chExt cx="576382" cy="8694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74" name="Delay 73">
              <a:extLst>
                <a:ext uri="{FF2B5EF4-FFF2-40B4-BE49-F238E27FC236}">
                  <a16:creationId xmlns:a16="http://schemas.microsoft.com/office/drawing/2014/main" id="{28745BCD-96AD-92D6-E1E2-A8E37FD81C8A}"/>
                </a:ext>
              </a:extLst>
            </p:cNvPr>
            <p:cNvSpPr/>
            <p:nvPr/>
          </p:nvSpPr>
          <p:spPr>
            <a:xfrm rot="16200000">
              <a:off x="6881825" y="604476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2423FFD8-9A2C-69CB-432E-35BDB0CACB0D}"/>
                </a:ext>
              </a:extLst>
            </p:cNvPr>
            <p:cNvSpPr/>
            <p:nvPr/>
          </p:nvSpPr>
          <p:spPr>
            <a:xfrm>
              <a:off x="6979514" y="321166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sp>
        <p:nvSpPr>
          <p:cNvPr id="78" name="TextBox 46">
            <a:extLst>
              <a:ext uri="{FF2B5EF4-FFF2-40B4-BE49-F238E27FC236}">
                <a16:creationId xmlns:a16="http://schemas.microsoft.com/office/drawing/2014/main" id="{4EC8FFBA-B236-4E07-1AA9-9A4F799B3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7321" y="1233159"/>
            <a:ext cx="927100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Asset</a:t>
            </a:r>
          </a:p>
          <a:p>
            <a:pPr algn="ctr" eaLnBrk="1" hangingPunct="1"/>
            <a:r>
              <a:rPr lang="en-GB" altLang="en-US" sz="1400" dirty="0"/>
              <a:t>Consumer</a:t>
            </a:r>
          </a:p>
        </p:txBody>
      </p:sp>
      <p:sp>
        <p:nvSpPr>
          <p:cNvPr id="89" name="TextBox 38">
            <a:extLst>
              <a:ext uri="{FF2B5EF4-FFF2-40B4-BE49-F238E27FC236}">
                <a16:creationId xmlns:a16="http://schemas.microsoft.com/office/drawing/2014/main" id="{AACFB032-9E98-71EB-873C-96ABD165F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8288" y="5964258"/>
            <a:ext cx="9271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400" dirty="0"/>
              <a:t>Individual</a:t>
            </a:r>
          </a:p>
        </p:txBody>
      </p:sp>
      <p:grpSp>
        <p:nvGrpSpPr>
          <p:cNvPr id="90" name="Group 94">
            <a:extLst>
              <a:ext uri="{FF2B5EF4-FFF2-40B4-BE49-F238E27FC236}">
                <a16:creationId xmlns:a16="http://schemas.microsoft.com/office/drawing/2014/main" id="{E2425342-4267-B119-9FF7-914F5D155946}"/>
              </a:ext>
            </a:extLst>
          </p:cNvPr>
          <p:cNvGrpSpPr>
            <a:grpSpLocks/>
          </p:cNvGrpSpPr>
          <p:nvPr/>
        </p:nvGrpSpPr>
        <p:grpSpPr bwMode="auto">
          <a:xfrm>
            <a:off x="3884501" y="5076845"/>
            <a:ext cx="576262" cy="868363"/>
            <a:chOff x="1913157" y="1904431"/>
            <a:chExt cx="576382" cy="869463"/>
          </a:xfrm>
          <a:solidFill>
            <a:schemeClr val="bg2"/>
          </a:solidFill>
        </p:grpSpPr>
        <p:sp>
          <p:nvSpPr>
            <p:cNvPr id="91" name="Delay 90">
              <a:extLst>
                <a:ext uri="{FF2B5EF4-FFF2-40B4-BE49-F238E27FC236}">
                  <a16:creationId xmlns:a16="http://schemas.microsoft.com/office/drawing/2014/main" id="{501F83CA-9BE9-8B44-7AA2-2543002B64E8}"/>
                </a:ext>
              </a:extLst>
            </p:cNvPr>
            <p:cNvSpPr/>
            <p:nvPr/>
          </p:nvSpPr>
          <p:spPr>
            <a:xfrm rot="16200000">
              <a:off x="1903386" y="2187741"/>
              <a:ext cx="595924" cy="576382"/>
            </a:xfrm>
            <a:prstGeom prst="flowChartDelay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9A98014-0902-4212-0BD2-43BB0C261C9F}"/>
                </a:ext>
              </a:extLst>
            </p:cNvPr>
            <p:cNvSpPr/>
            <p:nvPr/>
          </p:nvSpPr>
          <p:spPr>
            <a:xfrm>
              <a:off x="2001075" y="1904431"/>
              <a:ext cx="390770" cy="390770"/>
            </a:xfrm>
            <a:prstGeom prst="ellipse">
              <a:avLst/>
            </a:prstGeom>
            <a:grpFill/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3E2DA-9251-804C-7853-43FD28AAA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Perspectives vs Roles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CF643-3CA6-CE03-4B4B-D54DEDE8A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4C350-AAD6-6811-1267-F2BF93B644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Perspectives may be transitory and dynamic</a:t>
            </a:r>
          </a:p>
          <a:p>
            <a:r>
              <a:rPr lang="en-US" dirty="0"/>
              <a:t>Perspectives are supplemented with additional context including role, profile, location, …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BA47C7-9048-B710-CFC1-703C7E8CB9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Role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6645F2-A26D-BB24-3F86-DBEFD5F4246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Role includes responsibilities and a scope.</a:t>
            </a:r>
          </a:p>
          <a:p>
            <a:r>
              <a:rPr lang="en-US" dirty="0"/>
              <a:t>It is a specific “slot” in the organization</a:t>
            </a:r>
          </a:p>
        </p:txBody>
      </p:sp>
    </p:spTree>
    <p:extLst>
      <p:ext uri="{BB962C8B-B14F-4D97-AF65-F5344CB8AC3E}">
        <p14:creationId xmlns:p14="http://schemas.microsoft.com/office/powerpoint/2010/main" val="551629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A1ABE58D-B8A8-A046-A7B1-20557DD1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/>
              <a:t>Personas verses Roles</a:t>
            </a:r>
          </a:p>
        </p:txBody>
      </p:sp>
      <p:pic>
        <p:nvPicPr>
          <p:cNvPr id="15362" name="Picture 3" descr="Doctor-Female2.png">
            <a:extLst>
              <a:ext uri="{FF2B5EF4-FFF2-40B4-BE49-F238E27FC236}">
                <a16:creationId xmlns:a16="http://schemas.microsoft.com/office/drawing/2014/main" id="{45929229-06E6-524E-9170-3C7A89525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3396" y="1551709"/>
            <a:ext cx="1472503" cy="178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>
            <a:extLst>
              <a:ext uri="{FF2B5EF4-FFF2-40B4-BE49-F238E27FC236}">
                <a16:creationId xmlns:a16="http://schemas.microsoft.com/office/drawing/2014/main" id="{F7B30B24-FF10-E842-9A16-34864B6C8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750147"/>
            <a:ext cx="2310831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b="1">
                <a:solidFill>
                  <a:schemeClr val="tx2"/>
                </a:solidFill>
              </a:rPr>
              <a:t>Tessa Tube</a:t>
            </a:r>
          </a:p>
          <a:p>
            <a:pPr eaLnBrk="1" hangingPunct="1"/>
            <a:r>
              <a:rPr lang="en-US" altLang="en-US" sz="1800">
                <a:solidFill>
                  <a:schemeClr val="tx2"/>
                </a:solidFill>
              </a:rPr>
              <a:t>Lead Researcher</a:t>
            </a:r>
            <a:endParaRPr lang="en-US" altLang="en-US" sz="1800"/>
          </a:p>
        </p:txBody>
      </p:sp>
      <p:pic>
        <p:nvPicPr>
          <p:cNvPr id="15364" name="Picture 6" descr="User02-Green.png">
            <a:extLst>
              <a:ext uri="{FF2B5EF4-FFF2-40B4-BE49-F238E27FC236}">
                <a16:creationId xmlns:a16="http://schemas.microsoft.com/office/drawing/2014/main" id="{2F3FA358-B388-204D-90EC-987C166B4C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8322" y="3851997"/>
            <a:ext cx="928977" cy="130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365" name="Picture 7" descr="User03-Orange.png">
            <a:extLst>
              <a:ext uri="{FF2B5EF4-FFF2-40B4-BE49-F238E27FC236}">
                <a16:creationId xmlns:a16="http://schemas.microsoft.com/office/drawing/2014/main" id="{FB29F5F5-A064-F947-92A7-F8E7DB2872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8564" y="3867872"/>
            <a:ext cx="861847" cy="130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366" name="Picture 8" descr="User04-Yellow.png">
            <a:extLst>
              <a:ext uri="{FF2B5EF4-FFF2-40B4-BE49-F238E27FC236}">
                <a16:creationId xmlns:a16="http://schemas.microsoft.com/office/drawing/2014/main" id="{4D42E252-70FB-2243-809F-5B2655831A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6113" y="3851997"/>
            <a:ext cx="991774" cy="130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8015834-D57D-0F46-B559-D52EE931F267}"/>
              </a:ext>
            </a:extLst>
          </p:cNvPr>
          <p:cNvCxnSpPr>
            <a:cxnSpLocks noChangeShapeType="1"/>
            <a:stCxn id="15362" idx="2"/>
            <a:endCxn id="15364" idx="0"/>
          </p:cNvCxnSpPr>
          <p:nvPr/>
        </p:nvCxnSpPr>
        <p:spPr bwMode="auto">
          <a:xfrm flipH="1">
            <a:off x="2442811" y="3339234"/>
            <a:ext cx="1226837" cy="512763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 type="arrow" w="med" len="med"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307BEC-C852-1B41-B3FE-A1BBD935D7EF}"/>
              </a:ext>
            </a:extLst>
          </p:cNvPr>
          <p:cNvCxnSpPr>
            <a:cxnSpLocks noChangeShapeType="1"/>
            <a:stCxn id="15362" idx="2"/>
            <a:endCxn id="15366" idx="0"/>
          </p:cNvCxnSpPr>
          <p:nvPr/>
        </p:nvCxnSpPr>
        <p:spPr bwMode="auto">
          <a:xfrm>
            <a:off x="3669648" y="3339234"/>
            <a:ext cx="902352" cy="512763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 type="arrow" w="med" len="med"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D54322B-8D51-A040-87CE-F136F85293A9}"/>
              </a:ext>
            </a:extLst>
          </p:cNvPr>
          <p:cNvCxnSpPr>
            <a:cxnSpLocks noChangeShapeType="1"/>
            <a:stCxn id="15362" idx="2"/>
            <a:endCxn id="15365" idx="0"/>
          </p:cNvCxnSpPr>
          <p:nvPr/>
        </p:nvCxnSpPr>
        <p:spPr bwMode="auto">
          <a:xfrm>
            <a:off x="3669648" y="3339234"/>
            <a:ext cx="2119840" cy="528638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 type="arrow" w="med" len="med"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15370" name="Group 28">
            <a:extLst>
              <a:ext uri="{FF2B5EF4-FFF2-40B4-BE49-F238E27FC236}">
                <a16:creationId xmlns:a16="http://schemas.microsoft.com/office/drawing/2014/main" id="{3AA7DCC5-BB34-A547-ABEC-FE7F0BA15D61}"/>
              </a:ext>
            </a:extLst>
          </p:cNvPr>
          <p:cNvGrpSpPr>
            <a:grpSpLocks/>
          </p:cNvGrpSpPr>
          <p:nvPr/>
        </p:nvGrpSpPr>
        <p:grpSpPr bwMode="auto">
          <a:xfrm>
            <a:off x="2839391" y="4434609"/>
            <a:ext cx="1182333" cy="123825"/>
            <a:chOff x="4246729" y="4767633"/>
            <a:chExt cx="1012588" cy="14572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CABA76-3A03-AF4F-9B8E-40AB1DDFDB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6729" y="4767633"/>
              <a:ext cx="145721" cy="145721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2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GB" dirty="0">
                <a:solidFill>
                  <a:srgbClr val="1F497D"/>
                </a:solidFill>
                <a:latin typeface="Calibri"/>
                <a:ea typeface="+mn-ea"/>
                <a:cs typeface="Calibri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E676BEC-B71F-EE41-A599-D7EC8FDA7F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0162" y="4767633"/>
              <a:ext cx="145721" cy="145721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2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GB" dirty="0">
                <a:solidFill>
                  <a:srgbClr val="1F497D"/>
                </a:solidFill>
                <a:latin typeface="Calibri"/>
                <a:ea typeface="+mn-ea"/>
                <a:cs typeface="Calibri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442EC85-CA8F-6C43-94C4-8BE9EB4D1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3596" y="4767633"/>
              <a:ext cx="145721" cy="145721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2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GB" dirty="0">
                <a:solidFill>
                  <a:srgbClr val="1F497D"/>
                </a:solidFill>
                <a:latin typeface="Calibri"/>
                <a:ea typeface="+mn-ea"/>
                <a:cs typeface="Calibri"/>
              </a:endParaRPr>
            </a:p>
          </p:txBody>
        </p:sp>
      </p:grpSp>
      <p:sp>
        <p:nvSpPr>
          <p:cNvPr id="15371" name="TextBox 23">
            <a:extLst>
              <a:ext uri="{FF2B5EF4-FFF2-40B4-BE49-F238E27FC236}">
                <a16:creationId xmlns:a16="http://schemas.microsoft.com/office/drawing/2014/main" id="{CD8052B8-D1DF-4046-8FE9-81553E6AC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25394" y="5163272"/>
            <a:ext cx="1556956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GB" altLang="en-US" sz="1800"/>
              <a:t>Asset</a:t>
            </a:r>
          </a:p>
          <a:p>
            <a:pPr algn="ctr" eaLnBrk="1" hangingPunct="1"/>
            <a:r>
              <a:rPr lang="en-GB" altLang="en-US" sz="1800"/>
              <a:t>Consumer</a:t>
            </a:r>
          </a:p>
        </p:txBody>
      </p:sp>
      <p:sp>
        <p:nvSpPr>
          <p:cNvPr id="15372" name="TextBox 24">
            <a:extLst>
              <a:ext uri="{FF2B5EF4-FFF2-40B4-BE49-F238E27FC236}">
                <a16:creationId xmlns:a16="http://schemas.microsoft.com/office/drawing/2014/main" id="{47539000-59C8-9247-A4EB-B4DDBADE6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7116" y="5187084"/>
            <a:ext cx="168688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800"/>
              <a:t>Researcher</a:t>
            </a:r>
          </a:p>
        </p:txBody>
      </p:sp>
      <p:sp>
        <p:nvSpPr>
          <p:cNvPr id="15373" name="TextBox 26">
            <a:extLst>
              <a:ext uri="{FF2B5EF4-FFF2-40B4-BE49-F238E27FC236}">
                <a16:creationId xmlns:a16="http://schemas.microsoft.com/office/drawing/2014/main" id="{81A340C3-93A2-DA4D-AD10-1663E2AC2B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2212" y="5141047"/>
            <a:ext cx="117583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800"/>
              <a:t>System</a:t>
            </a:r>
          </a:p>
          <a:p>
            <a:pPr eaLnBrk="1" hangingPunct="1"/>
            <a:r>
              <a:rPr lang="en-GB" altLang="en-US" sz="1800"/>
              <a:t>Owner</a:t>
            </a:r>
          </a:p>
        </p:txBody>
      </p:sp>
      <p:sp>
        <p:nvSpPr>
          <p:cNvPr id="15374" name="TextBox 43">
            <a:extLst>
              <a:ext uri="{FF2B5EF4-FFF2-40B4-BE49-F238E27FC236}">
                <a16:creationId xmlns:a16="http://schemas.microsoft.com/office/drawing/2014/main" id="{2D98801A-054C-B043-BA1D-FB409FFA8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029" y="1727922"/>
            <a:ext cx="2981820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400"/>
              <a:t>Within and organization people perform multiple roles related to their core specialism.</a:t>
            </a:r>
          </a:p>
        </p:txBody>
      </p:sp>
      <p:sp>
        <p:nvSpPr>
          <p:cNvPr id="15375" name="TextBox 44">
            <a:extLst>
              <a:ext uri="{FF2B5EF4-FFF2-40B4-BE49-F238E27FC236}">
                <a16:creationId xmlns:a16="http://schemas.microsoft.com/office/drawing/2014/main" id="{9D94A56C-11E1-3D45-8D7F-9B12C6B7E1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7554" y="3940897"/>
            <a:ext cx="2981820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400"/>
              <a:t>Roles are contextual.</a:t>
            </a:r>
          </a:p>
          <a:p>
            <a:pPr eaLnBrk="1" hangingPunct="1"/>
            <a:endParaRPr lang="en-GB" altLang="en-US" sz="1400"/>
          </a:p>
          <a:p>
            <a:pPr eaLnBrk="1" hangingPunct="1"/>
            <a:r>
              <a:rPr lang="en-GB" altLang="en-US" sz="1400"/>
              <a:t>When is comes to working with data, the role they are playing is related to the task they are performing and the data asset they are working with.</a:t>
            </a:r>
          </a:p>
        </p:txBody>
      </p:sp>
      <p:sp>
        <p:nvSpPr>
          <p:cNvPr id="15376" name="TextBox 45">
            <a:extLst>
              <a:ext uri="{FF2B5EF4-FFF2-40B4-BE49-F238E27FC236}">
                <a16:creationId xmlns:a16="http://schemas.microsoft.com/office/drawing/2014/main" id="{94C882EC-AE78-DE4D-8AA6-405E4BBBCE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367" y="2497859"/>
            <a:ext cx="170420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400" b="1" i="1"/>
              <a:t>&lt;Persona&gt;</a:t>
            </a:r>
          </a:p>
        </p:txBody>
      </p:sp>
      <p:sp>
        <p:nvSpPr>
          <p:cNvPr id="15377" name="TextBox 47">
            <a:extLst>
              <a:ext uri="{FF2B5EF4-FFF2-40B4-BE49-F238E27FC236}">
                <a16:creationId xmlns:a16="http://schemas.microsoft.com/office/drawing/2014/main" id="{9D2FBE31-44FA-3A45-8B58-A771D99E60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3967" y="4001222"/>
            <a:ext cx="170420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r" eaLnBrk="1" hangingPunct="1"/>
            <a:r>
              <a:rPr lang="en-GB" altLang="en-US" sz="1400" b="1" i="1"/>
              <a:t>&lt;Roles&gt;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Title 1">
            <a:extLst>
              <a:ext uri="{FF2B5EF4-FFF2-40B4-BE49-F238E27FC236}">
                <a16:creationId xmlns:a16="http://schemas.microsoft.com/office/drawing/2014/main" id="{687DD018-3FC4-C948-9334-5E1C9A4F3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dirty="0"/>
              <a:t>Scope of responsibility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D9C516-6FAD-654B-BD38-6039C5A91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9975" y="2244725"/>
            <a:ext cx="1654175" cy="2190750"/>
          </a:xfrm>
          <a:prstGeom prst="rect">
            <a:avLst/>
          </a:prstGeom>
          <a:solidFill>
            <a:srgbClr val="FDEADA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/>
          <a:lstStyle/>
          <a:p>
            <a:pPr algn="ctr">
              <a:defRPr/>
            </a:pPr>
            <a:r>
              <a:rPr lang="en-US" sz="1600" dirty="0">
                <a:solidFill>
                  <a:srgbClr val="1F497D"/>
                </a:solidFill>
                <a:latin typeface="Calibri"/>
                <a:ea typeface="+mn-ea"/>
                <a:cs typeface="Calibri"/>
              </a:rPr>
              <a:t>Data Sources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A16B7A-3C60-E543-9B20-EEF137477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500" y="2244725"/>
            <a:ext cx="4713288" cy="2190750"/>
          </a:xfrm>
          <a:prstGeom prst="rect">
            <a:avLst/>
          </a:prstGeom>
          <a:solidFill>
            <a:srgbClr val="93CDDD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/>
          <a:lstStyle/>
          <a:p>
            <a:pPr algn="ctr">
              <a:defRPr/>
            </a:pPr>
            <a:r>
              <a:rPr lang="en-US" sz="1600" dirty="0">
                <a:solidFill>
                  <a:srgbClr val="1F497D"/>
                </a:solidFill>
                <a:latin typeface="Calibri"/>
                <a:ea typeface="+mn-ea"/>
                <a:cs typeface="Calibri"/>
              </a:rPr>
              <a:t>Data Lake</a:t>
            </a:r>
          </a:p>
        </p:txBody>
      </p:sp>
      <p:sp>
        <p:nvSpPr>
          <p:cNvPr id="5" name="Can 4">
            <a:extLst>
              <a:ext uri="{FF2B5EF4-FFF2-40B4-BE49-F238E27FC236}">
                <a16:creationId xmlns:a16="http://schemas.microsoft.com/office/drawing/2014/main" id="{74A61003-77D8-4A47-9B83-C6C6F8BC1C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6688" y="3489325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2FB90EE8-FAEC-AD4C-8A61-65896DD8F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2438" y="3478213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2EA7ECCC-7738-D84A-9FEA-FA484131A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4513" y="2889250"/>
            <a:ext cx="517525" cy="609600"/>
          </a:xfrm>
          <a:prstGeom prst="foldedCorner">
            <a:avLst>
              <a:gd name="adj" fmla="val 16667"/>
            </a:avLst>
          </a:prstGeom>
          <a:solidFill>
            <a:srgbClr val="DBEEF4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E8556C2B-5707-3240-99D9-9FA14E67E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4538" y="3213100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E3D0F67A-B64B-8049-8D36-3A4BA6CF0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4538" y="3803650"/>
            <a:ext cx="601662" cy="268288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A0F08C8-EDA2-8844-881A-B2CA1A938100}"/>
              </a:ext>
            </a:extLst>
          </p:cNvPr>
          <p:cNvCxnSpPr>
            <a:cxnSpLocks noChangeShapeType="1"/>
            <a:stCxn id="12" idx="4"/>
            <a:endCxn id="8" idx="2"/>
          </p:cNvCxnSpPr>
          <p:nvPr/>
        </p:nvCxnSpPr>
        <p:spPr bwMode="auto">
          <a:xfrm flipV="1">
            <a:off x="5494338" y="3346450"/>
            <a:ext cx="328612" cy="176213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4ADBD3-E2C0-0844-AD73-5D9DD898071A}"/>
              </a:ext>
            </a:extLst>
          </p:cNvPr>
          <p:cNvCxnSpPr>
            <a:cxnSpLocks noChangeShapeType="1"/>
            <a:stCxn id="44" idx="4"/>
            <a:endCxn id="9" idx="2"/>
          </p:cNvCxnSpPr>
          <p:nvPr/>
        </p:nvCxnSpPr>
        <p:spPr bwMode="auto">
          <a:xfrm flipV="1">
            <a:off x="5492750" y="3937000"/>
            <a:ext cx="330200" cy="133350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2" name="Can 11">
            <a:extLst>
              <a:ext uri="{FF2B5EF4-FFF2-40B4-BE49-F238E27FC236}">
                <a16:creationId xmlns:a16="http://schemas.microsoft.com/office/drawing/2014/main" id="{2BE33971-44C7-9C42-9E90-58337468A1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3263" y="3241675"/>
            <a:ext cx="982662" cy="561975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A85EEA9-28AF-274F-ACFA-F63757A08FCE}"/>
              </a:ext>
            </a:extLst>
          </p:cNvPr>
          <p:cNvCxnSpPr>
            <a:cxnSpLocks noChangeShapeType="1"/>
            <a:stCxn id="6" idx="4"/>
            <a:endCxn id="12" idx="2"/>
          </p:cNvCxnSpPr>
          <p:nvPr/>
        </p:nvCxnSpPr>
        <p:spPr bwMode="auto">
          <a:xfrm flipV="1">
            <a:off x="3594100" y="3522663"/>
            <a:ext cx="917575" cy="88900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00D926-AC8F-814C-90ED-B8572861D0DB}"/>
              </a:ext>
            </a:extLst>
          </p:cNvPr>
          <p:cNvCxnSpPr>
            <a:cxnSpLocks noChangeShapeType="1"/>
            <a:stCxn id="53" idx="4"/>
            <a:endCxn id="12" idx="2"/>
          </p:cNvCxnSpPr>
          <p:nvPr/>
        </p:nvCxnSpPr>
        <p:spPr bwMode="auto">
          <a:xfrm flipV="1">
            <a:off x="3746500" y="3522663"/>
            <a:ext cx="765175" cy="241300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E22A6B-CD6B-DC4C-B829-F29B3BF20DA5}"/>
              </a:ext>
            </a:extLst>
          </p:cNvPr>
          <p:cNvCxnSpPr>
            <a:cxnSpLocks noChangeShapeType="1"/>
            <a:stCxn id="54" idx="4"/>
            <a:endCxn id="12" idx="2"/>
          </p:cNvCxnSpPr>
          <p:nvPr/>
        </p:nvCxnSpPr>
        <p:spPr bwMode="auto">
          <a:xfrm flipV="1">
            <a:off x="3900488" y="3522663"/>
            <a:ext cx="612775" cy="393700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AD8579-7F8C-8044-A107-D2D5B25705CC}"/>
              </a:ext>
            </a:extLst>
          </p:cNvPr>
          <p:cNvCxnSpPr>
            <a:cxnSpLocks noChangeShapeType="1"/>
            <a:stCxn id="60" idx="4"/>
            <a:endCxn id="44" idx="2"/>
          </p:cNvCxnSpPr>
          <p:nvPr/>
        </p:nvCxnSpPr>
        <p:spPr bwMode="auto">
          <a:xfrm>
            <a:off x="4052888" y="4068763"/>
            <a:ext cx="460375" cy="1587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7DEDE31-4BE2-AE4C-B748-7359CDCDF0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1188" y="3036888"/>
            <a:ext cx="252412" cy="23812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E958F9-F560-EE44-A3DA-EFE5DB6E6506}"/>
              </a:ext>
            </a:extLst>
          </p:cNvPr>
          <p:cNvCxnSpPr>
            <a:cxnSpLocks noChangeShapeType="1"/>
            <a:stCxn id="5" idx="4"/>
            <a:endCxn id="6" idx="2"/>
          </p:cNvCxnSpPr>
          <p:nvPr/>
        </p:nvCxnSpPr>
        <p:spPr bwMode="auto">
          <a:xfrm flipV="1">
            <a:off x="2038350" y="3611563"/>
            <a:ext cx="955675" cy="11112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6DAA327-5977-3740-8D8C-A5A898A83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6425" y="2935288"/>
            <a:ext cx="403225" cy="6508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5557CD1-0B82-8749-9AD9-3F8BE8828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3036888"/>
            <a:ext cx="119062" cy="23653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B4C520-7BEE-F94F-9174-C4882617F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0" y="3297238"/>
            <a:ext cx="109538" cy="5238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22" name="Folded Corner 21">
            <a:extLst>
              <a:ext uri="{FF2B5EF4-FFF2-40B4-BE49-F238E27FC236}">
                <a16:creationId xmlns:a16="http://schemas.microsoft.com/office/drawing/2014/main" id="{D72B663C-CA1E-6143-BC25-0DA0ED5B02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0863" y="3635375"/>
            <a:ext cx="517525" cy="609600"/>
          </a:xfrm>
          <a:prstGeom prst="foldedCorner">
            <a:avLst>
              <a:gd name="adj" fmla="val 16667"/>
            </a:avLst>
          </a:prstGeom>
          <a:solidFill>
            <a:srgbClr val="DBEEF4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2B5F04-100F-6A42-B2A0-80C8E66755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0713" y="3783013"/>
            <a:ext cx="250825" cy="23812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7EEC67-5EEF-4344-8717-3F1558FD2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4363" y="3681413"/>
            <a:ext cx="403225" cy="6508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B3B243-77D1-784C-A8F5-1AC2B62957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0" y="3783013"/>
            <a:ext cx="120650" cy="23653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DF187AC-2606-5E44-ACD5-74483C5D3C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5350" y="4043363"/>
            <a:ext cx="109538" cy="5238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27" name="Straight Arrow Connector 65">
            <a:extLst>
              <a:ext uri="{FF2B5EF4-FFF2-40B4-BE49-F238E27FC236}">
                <a16:creationId xmlns:a16="http://schemas.microsoft.com/office/drawing/2014/main" id="{00D2FCE1-4436-A541-A8DE-419551E73D89}"/>
              </a:ext>
            </a:extLst>
          </p:cNvPr>
          <p:cNvCxnSpPr>
            <a:cxnSpLocks noChangeShapeType="1"/>
            <a:stCxn id="7" idx="1"/>
            <a:endCxn id="8" idx="4"/>
          </p:cNvCxnSpPr>
          <p:nvPr/>
        </p:nvCxnSpPr>
        <p:spPr bwMode="auto">
          <a:xfrm rot="10800000" flipV="1">
            <a:off x="6424613" y="3194050"/>
            <a:ext cx="468312" cy="152400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" name="Straight Arrow Connector 65">
            <a:extLst>
              <a:ext uri="{FF2B5EF4-FFF2-40B4-BE49-F238E27FC236}">
                <a16:creationId xmlns:a16="http://schemas.microsoft.com/office/drawing/2014/main" id="{C877EF5B-7D1F-0E48-91D6-D3D770276127}"/>
              </a:ext>
            </a:extLst>
          </p:cNvPr>
          <p:cNvCxnSpPr>
            <a:cxnSpLocks noChangeShapeType="1"/>
            <a:stCxn id="22" idx="1"/>
            <a:endCxn id="9" idx="4"/>
          </p:cNvCxnSpPr>
          <p:nvPr/>
        </p:nvCxnSpPr>
        <p:spPr bwMode="auto">
          <a:xfrm rot="10800000">
            <a:off x="6424613" y="3937000"/>
            <a:ext cx="474662" cy="3175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DE51B7F-C1FE-3A41-8012-F13CACB4880A}"/>
              </a:ext>
            </a:extLst>
          </p:cNvPr>
          <p:cNvCxnSpPr>
            <a:cxnSpLocks noChangeShapeType="1"/>
            <a:endCxn id="7" idx="3"/>
          </p:cNvCxnSpPr>
          <p:nvPr/>
        </p:nvCxnSpPr>
        <p:spPr bwMode="auto">
          <a:xfrm flipH="1" flipV="1">
            <a:off x="7410450" y="3194050"/>
            <a:ext cx="534988" cy="9525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 type="arrow" w="med" len="med"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14365" name="Group 92">
            <a:extLst>
              <a:ext uri="{FF2B5EF4-FFF2-40B4-BE49-F238E27FC236}">
                <a16:creationId xmlns:a16="http://schemas.microsoft.com/office/drawing/2014/main" id="{C3D47B83-00BC-734E-A805-6A9EDC32586D}"/>
              </a:ext>
            </a:extLst>
          </p:cNvPr>
          <p:cNvGrpSpPr>
            <a:grpSpLocks/>
          </p:cNvGrpSpPr>
          <p:nvPr/>
        </p:nvGrpSpPr>
        <p:grpSpPr bwMode="auto">
          <a:xfrm>
            <a:off x="3001963" y="2874963"/>
            <a:ext cx="701675" cy="419100"/>
            <a:chOff x="3092024" y="2506732"/>
            <a:chExt cx="700919" cy="419784"/>
          </a:xfrm>
        </p:grpSpPr>
        <p:sp>
          <p:nvSpPr>
            <p:cNvPr id="35" name="Can 34">
              <a:extLst>
                <a:ext uri="{FF2B5EF4-FFF2-40B4-BE49-F238E27FC236}">
                  <a16:creationId xmlns:a16="http://schemas.microsoft.com/office/drawing/2014/main" id="{6E8F712F-CEBE-6B44-8414-2275C9CDDC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91929" y="2506732"/>
              <a:ext cx="601014" cy="267135"/>
            </a:xfrm>
            <a:prstGeom prst="can">
              <a:avLst>
                <a:gd name="adj" fmla="val 25000"/>
              </a:avLst>
            </a:prstGeom>
            <a:solidFill>
              <a:srgbClr val="FFFFFF"/>
            </a:solidFill>
            <a:ln w="9525">
              <a:solidFill>
                <a:schemeClr val="tx2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rgbClr val="1F497D"/>
                </a:solidFill>
                <a:latin typeface="Calibri"/>
                <a:ea typeface="+mn-ea"/>
                <a:cs typeface="Calibri"/>
              </a:endParaRPr>
            </a:p>
          </p:txBody>
        </p:sp>
        <p:sp>
          <p:nvSpPr>
            <p:cNvPr id="36" name="Can 35">
              <a:extLst>
                <a:ext uri="{FF2B5EF4-FFF2-40B4-BE49-F238E27FC236}">
                  <a16:creationId xmlns:a16="http://schemas.microsoft.com/office/drawing/2014/main" id="{078391D0-511C-C049-97AB-A54BD2EDD0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2024" y="2659381"/>
              <a:ext cx="601015" cy="267135"/>
            </a:xfrm>
            <a:prstGeom prst="can">
              <a:avLst>
                <a:gd name="adj" fmla="val 25000"/>
              </a:avLst>
            </a:prstGeom>
            <a:solidFill>
              <a:srgbClr val="FFFFFF"/>
            </a:solidFill>
            <a:ln w="9525">
              <a:solidFill>
                <a:schemeClr val="tx2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rgbClr val="1F497D"/>
                </a:solidFill>
                <a:latin typeface="Calibri"/>
                <a:ea typeface="+mn-ea"/>
                <a:cs typeface="Calibri"/>
              </a:endParaRPr>
            </a:p>
          </p:txBody>
        </p:sp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C5FF558-0D5E-534B-9D10-0579F0957344}"/>
              </a:ext>
            </a:extLst>
          </p:cNvPr>
          <p:cNvCxnSpPr>
            <a:cxnSpLocks noChangeShapeType="1"/>
            <a:stCxn id="35" idx="4"/>
            <a:endCxn id="12" idx="2"/>
          </p:cNvCxnSpPr>
          <p:nvPr/>
        </p:nvCxnSpPr>
        <p:spPr bwMode="auto">
          <a:xfrm>
            <a:off x="3703638" y="3008313"/>
            <a:ext cx="809625" cy="514350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DE9D577-D608-984B-B4D7-67809F1DF382}"/>
              </a:ext>
            </a:extLst>
          </p:cNvPr>
          <p:cNvCxnSpPr>
            <a:cxnSpLocks noChangeShapeType="1"/>
            <a:stCxn id="36" idx="4"/>
            <a:endCxn id="12" idx="2"/>
          </p:cNvCxnSpPr>
          <p:nvPr/>
        </p:nvCxnSpPr>
        <p:spPr bwMode="auto">
          <a:xfrm>
            <a:off x="3603625" y="3160713"/>
            <a:ext cx="909638" cy="361950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9" name="Cube 38">
            <a:extLst>
              <a:ext uri="{FF2B5EF4-FFF2-40B4-BE49-F238E27FC236}">
                <a16:creationId xmlns:a16="http://schemas.microsoft.com/office/drawing/2014/main" id="{24793210-C3C7-8D47-8C1D-5DC7297E11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3300" y="2697163"/>
            <a:ext cx="415925" cy="317500"/>
          </a:xfrm>
          <a:prstGeom prst="cube">
            <a:avLst>
              <a:gd name="adj" fmla="val 11843"/>
            </a:avLst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6D38780-C5E1-B54C-B87A-1D29061D9DC2}"/>
              </a:ext>
            </a:extLst>
          </p:cNvPr>
          <p:cNvCxnSpPr>
            <a:cxnSpLocks noChangeShapeType="1"/>
            <a:stCxn id="39" idx="3"/>
            <a:endCxn id="12" idx="1"/>
          </p:cNvCxnSpPr>
          <p:nvPr/>
        </p:nvCxnSpPr>
        <p:spPr bwMode="auto">
          <a:xfrm>
            <a:off x="5002213" y="3014663"/>
            <a:ext cx="3175" cy="227012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 type="arrow" w="med" len="med"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58781A2F-BDB8-DB44-A555-05D944E710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8013" y="3090863"/>
            <a:ext cx="393700" cy="66675"/>
          </a:xfrm>
          <a:prstGeom prst="rect">
            <a:avLst/>
          </a:prstGeom>
          <a:solidFill>
            <a:srgbClr val="800000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2478A1-642F-DB4B-8166-3928C72DBB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3330575"/>
            <a:ext cx="393700" cy="66675"/>
          </a:xfrm>
          <a:prstGeom prst="rect">
            <a:avLst/>
          </a:prstGeom>
          <a:solidFill>
            <a:srgbClr val="800000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F3DD983-46F0-C546-B9FC-A78C04315D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9013" y="3494088"/>
            <a:ext cx="393700" cy="66675"/>
          </a:xfrm>
          <a:prstGeom prst="rect">
            <a:avLst/>
          </a:prstGeom>
          <a:solidFill>
            <a:srgbClr val="800000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44" name="Can 43">
            <a:extLst>
              <a:ext uri="{FF2B5EF4-FFF2-40B4-BE49-F238E27FC236}">
                <a16:creationId xmlns:a16="http://schemas.microsoft.com/office/drawing/2014/main" id="{3CB15480-6BF1-EA4B-B8B9-DBB6ECD201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3263" y="3933825"/>
            <a:ext cx="981075" cy="27305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0962C85-5455-0945-938E-DE4229997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1713" y="4062413"/>
            <a:ext cx="392112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00B42F2-04E6-0548-9412-81AA032942CA}"/>
              </a:ext>
            </a:extLst>
          </p:cNvPr>
          <p:cNvCxnSpPr>
            <a:cxnSpLocks noChangeShapeType="1"/>
            <a:stCxn id="60" idx="4"/>
            <a:endCxn id="12" idx="2"/>
          </p:cNvCxnSpPr>
          <p:nvPr/>
        </p:nvCxnSpPr>
        <p:spPr bwMode="auto">
          <a:xfrm flipV="1">
            <a:off x="4052888" y="3522663"/>
            <a:ext cx="460375" cy="546100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F93F8F6B-DE98-5F46-8920-3BB001B58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4550" y="3930650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4F408AE-153F-A844-AF45-20750F3AE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4363" y="3852863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3700558-0F89-6149-A304-FFF17F933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4638" y="3600450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AA3153F-88C9-A047-A068-F1B40A01C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3589338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51" name="Can 50">
            <a:extLst>
              <a:ext uri="{FF2B5EF4-FFF2-40B4-BE49-F238E27FC236}">
                <a16:creationId xmlns:a16="http://schemas.microsoft.com/office/drawing/2014/main" id="{19F9D355-5D0A-AB42-840F-2751BCD540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9088" y="3641725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52" name="Can 51">
            <a:extLst>
              <a:ext uri="{FF2B5EF4-FFF2-40B4-BE49-F238E27FC236}">
                <a16:creationId xmlns:a16="http://schemas.microsoft.com/office/drawing/2014/main" id="{43639012-11A7-D84E-9406-087A0099A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1488" y="3794125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53" name="Can 52">
            <a:extLst>
              <a:ext uri="{FF2B5EF4-FFF2-40B4-BE49-F238E27FC236}">
                <a16:creationId xmlns:a16="http://schemas.microsoft.com/office/drawing/2014/main" id="{9637FDAC-D03D-1F43-9474-E7030EB79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4838" y="3630613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54" name="Can 53">
            <a:extLst>
              <a:ext uri="{FF2B5EF4-FFF2-40B4-BE49-F238E27FC236}">
                <a16:creationId xmlns:a16="http://schemas.microsoft.com/office/drawing/2014/main" id="{F02D5DAA-7F9B-5E42-A6B9-CD8E3CA99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7238" y="3783013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2590803-51FB-3645-93C7-B140782A349B}"/>
              </a:ext>
            </a:extLst>
          </p:cNvPr>
          <p:cNvCxnSpPr>
            <a:cxnSpLocks noChangeShapeType="1"/>
            <a:stCxn id="51" idx="4"/>
            <a:endCxn id="53" idx="2"/>
          </p:cNvCxnSpPr>
          <p:nvPr/>
        </p:nvCxnSpPr>
        <p:spPr bwMode="auto">
          <a:xfrm flipV="1">
            <a:off x="2190750" y="3763963"/>
            <a:ext cx="955675" cy="11112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5D9882-986E-3E4A-B77A-036271A6E100}"/>
              </a:ext>
            </a:extLst>
          </p:cNvPr>
          <p:cNvCxnSpPr>
            <a:cxnSpLocks noChangeShapeType="1"/>
            <a:stCxn id="52" idx="4"/>
            <a:endCxn id="54" idx="2"/>
          </p:cNvCxnSpPr>
          <p:nvPr/>
        </p:nvCxnSpPr>
        <p:spPr bwMode="auto">
          <a:xfrm flipV="1">
            <a:off x="2343150" y="3916363"/>
            <a:ext cx="955675" cy="11112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11A7FF07-AF18-0242-84F2-058AD6B4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6775" y="3897313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A4132E4-D0B1-F345-9AAF-23A8D0791C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63725" y="3897313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59" name="Can 58">
            <a:extLst>
              <a:ext uri="{FF2B5EF4-FFF2-40B4-BE49-F238E27FC236}">
                <a16:creationId xmlns:a16="http://schemas.microsoft.com/office/drawing/2014/main" id="{E74F840D-B583-A04D-9F60-E2A0EB6391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888" y="3946525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60" name="Can 59">
            <a:extLst>
              <a:ext uri="{FF2B5EF4-FFF2-40B4-BE49-F238E27FC236}">
                <a16:creationId xmlns:a16="http://schemas.microsoft.com/office/drawing/2014/main" id="{CEBC16DC-2802-0245-A9C9-EE173632D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9638" y="3935413"/>
            <a:ext cx="601662" cy="266700"/>
          </a:xfrm>
          <a:prstGeom prst="can">
            <a:avLst>
              <a:gd name="adj" fmla="val 25000"/>
            </a:avLst>
          </a:prstGeom>
          <a:solidFill>
            <a:srgbClr val="FFFFFF"/>
          </a:solidFill>
          <a:ln w="9525">
            <a:solidFill>
              <a:schemeClr val="tx2"/>
            </a:solidFill>
            <a:round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C4C6F2D-0755-D842-B1E2-3D18E8EFFECA}"/>
              </a:ext>
            </a:extLst>
          </p:cNvPr>
          <p:cNvCxnSpPr>
            <a:cxnSpLocks noChangeShapeType="1"/>
            <a:stCxn id="59" idx="4"/>
            <a:endCxn id="60" idx="2"/>
          </p:cNvCxnSpPr>
          <p:nvPr/>
        </p:nvCxnSpPr>
        <p:spPr bwMode="auto">
          <a:xfrm flipV="1">
            <a:off x="2495550" y="4068763"/>
            <a:ext cx="955675" cy="11112"/>
          </a:xfrm>
          <a:prstGeom prst="straightConnector1">
            <a:avLst/>
          </a:prstGeom>
          <a:noFill/>
          <a:ln w="19050">
            <a:solidFill>
              <a:schemeClr val="tx2"/>
            </a:solidFill>
            <a:round/>
            <a:headEnd/>
            <a:tailEnd type="arrow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A933B9-62F2-604B-BFE2-158F4A86C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0763" y="4051300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566A3D-CEDF-D74D-A460-A61116097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6600" y="4060825"/>
            <a:ext cx="393700" cy="66675"/>
          </a:xfrm>
          <a:prstGeom prst="rect">
            <a:avLst/>
          </a:prstGeom>
          <a:solidFill>
            <a:srgbClr val="D99694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14393" name="TextBox 66">
            <a:extLst>
              <a:ext uri="{FF2B5EF4-FFF2-40B4-BE49-F238E27FC236}">
                <a16:creationId xmlns:a16="http://schemas.microsoft.com/office/drawing/2014/main" id="{42D688DB-71B4-4B4A-A23D-4925E6D556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9163" y="4768850"/>
            <a:ext cx="969962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400"/>
              <a:t>Data Source</a:t>
            </a:r>
          </a:p>
          <a:p>
            <a:pPr eaLnBrk="1" hangingPunct="1"/>
            <a:r>
              <a:rPr lang="en-GB" altLang="en-US" sz="1400"/>
              <a:t>Stewards</a:t>
            </a:r>
          </a:p>
        </p:txBody>
      </p:sp>
      <p:sp>
        <p:nvSpPr>
          <p:cNvPr id="14394" name="TextBox 67">
            <a:extLst>
              <a:ext uri="{FF2B5EF4-FFF2-40B4-BE49-F238E27FC236}">
                <a16:creationId xmlns:a16="http://schemas.microsoft.com/office/drawing/2014/main" id="{3BFDB0CE-CEA6-E648-B95A-73205D517E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1613" y="4760913"/>
            <a:ext cx="1477962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400"/>
              <a:t>Data Consolidation</a:t>
            </a:r>
          </a:p>
          <a:p>
            <a:pPr eaLnBrk="1" hangingPunct="1"/>
            <a:r>
              <a:rPr lang="en-GB" altLang="en-US" sz="1400"/>
              <a:t>Stewards</a:t>
            </a:r>
          </a:p>
        </p:txBody>
      </p:sp>
      <p:sp>
        <p:nvSpPr>
          <p:cNvPr id="14395" name="TextBox 68">
            <a:extLst>
              <a:ext uri="{FF2B5EF4-FFF2-40B4-BE49-F238E27FC236}">
                <a16:creationId xmlns:a16="http://schemas.microsoft.com/office/drawing/2014/main" id="{0EA65127-E626-0B42-AF5E-94EE431963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72363" y="4802188"/>
            <a:ext cx="969962" cy="738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GB" altLang="en-US" sz="1400"/>
              <a:t>Data Project</a:t>
            </a:r>
          </a:p>
          <a:p>
            <a:pPr eaLnBrk="1" hangingPunct="1"/>
            <a:r>
              <a:rPr lang="en-GB" altLang="en-US" sz="1400"/>
              <a:t>Stewards</a:t>
            </a:r>
          </a:p>
        </p:txBody>
      </p:sp>
      <p:sp>
        <p:nvSpPr>
          <p:cNvPr id="70" name="Up Arrow 69">
            <a:extLst>
              <a:ext uri="{FF2B5EF4-FFF2-40B4-BE49-F238E27FC236}">
                <a16:creationId xmlns:a16="http://schemas.microsoft.com/office/drawing/2014/main" id="{DC4B284D-ADDB-9540-A63E-F21CA434F8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4479925"/>
            <a:ext cx="141288" cy="149225"/>
          </a:xfrm>
          <a:prstGeom prst="upArrow">
            <a:avLst>
              <a:gd name="adj1" fmla="val 50000"/>
              <a:gd name="adj2" fmla="val 49293"/>
            </a:avLst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GB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71" name="Up Arrow 70">
            <a:extLst>
              <a:ext uri="{FF2B5EF4-FFF2-40B4-BE49-F238E27FC236}">
                <a16:creationId xmlns:a16="http://schemas.microsoft.com/office/drawing/2014/main" id="{2EFD651F-FB66-D049-9905-807A00290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2838" y="4511675"/>
            <a:ext cx="139700" cy="149225"/>
          </a:xfrm>
          <a:prstGeom prst="upArrow">
            <a:avLst>
              <a:gd name="adj1" fmla="val 50000"/>
              <a:gd name="adj2" fmla="val 49853"/>
            </a:avLst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GB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sp>
        <p:nvSpPr>
          <p:cNvPr id="72" name="Up Arrow 71">
            <a:extLst>
              <a:ext uri="{FF2B5EF4-FFF2-40B4-BE49-F238E27FC236}">
                <a16:creationId xmlns:a16="http://schemas.microsoft.com/office/drawing/2014/main" id="{013B6960-C8A6-704B-9009-303556DB4B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72313" y="4521200"/>
            <a:ext cx="139700" cy="150813"/>
          </a:xfrm>
          <a:prstGeom prst="upArrow">
            <a:avLst>
              <a:gd name="adj1" fmla="val 50000"/>
              <a:gd name="adj2" fmla="val 50384"/>
            </a:avLst>
          </a:prstGeom>
          <a:solidFill>
            <a:srgbClr val="FFFFFF"/>
          </a:solidFill>
          <a:ln w="9525">
            <a:solidFill>
              <a:schemeClr val="tx2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GB" dirty="0">
              <a:solidFill>
                <a:srgbClr val="1F497D"/>
              </a:solidFill>
              <a:latin typeface="Calibri"/>
              <a:ea typeface="+mn-ea"/>
              <a:cs typeface="Calibri"/>
            </a:endParaRPr>
          </a:p>
        </p:txBody>
      </p:sp>
      <p:grpSp>
        <p:nvGrpSpPr>
          <p:cNvPr id="14399" name="Group 72">
            <a:extLst>
              <a:ext uri="{FF2B5EF4-FFF2-40B4-BE49-F238E27FC236}">
                <a16:creationId xmlns:a16="http://schemas.microsoft.com/office/drawing/2014/main" id="{1D78BC61-D63E-BE4C-B889-C5F4993D2246}"/>
              </a:ext>
            </a:extLst>
          </p:cNvPr>
          <p:cNvGrpSpPr>
            <a:grpSpLocks/>
          </p:cNvGrpSpPr>
          <p:nvPr/>
        </p:nvGrpSpPr>
        <p:grpSpPr bwMode="auto">
          <a:xfrm>
            <a:off x="1612900" y="4870450"/>
            <a:ext cx="492125" cy="741363"/>
            <a:chOff x="5838291" y="2040336"/>
            <a:chExt cx="576382" cy="869463"/>
          </a:xfrm>
        </p:grpSpPr>
        <p:sp>
          <p:nvSpPr>
            <p:cNvPr id="74" name="Delay 73">
              <a:extLst>
                <a:ext uri="{FF2B5EF4-FFF2-40B4-BE49-F238E27FC236}">
                  <a16:creationId xmlns:a16="http://schemas.microsoft.com/office/drawing/2014/main" id="{638768F6-E99B-B94E-8A98-72F715EE4730}"/>
                </a:ext>
              </a:extLst>
            </p:cNvPr>
            <p:cNvSpPr/>
            <p:nvPr/>
          </p:nvSpPr>
          <p:spPr>
            <a:xfrm rot="16200000">
              <a:off x="5828520" y="2323646"/>
              <a:ext cx="595924" cy="576382"/>
            </a:xfrm>
            <a:prstGeom prst="flowChartDelay">
              <a:avLst/>
            </a:prstGeom>
            <a:solidFill>
              <a:schemeClr val="accent5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b="1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F9C9DC-9CA9-7A42-B23A-11C2F308BF5B}"/>
                </a:ext>
              </a:extLst>
            </p:cNvPr>
            <p:cNvSpPr/>
            <p:nvPr/>
          </p:nvSpPr>
          <p:spPr>
            <a:xfrm>
              <a:off x="5926209" y="2040336"/>
              <a:ext cx="390770" cy="390770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b="1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4400" name="Group 75">
            <a:extLst>
              <a:ext uri="{FF2B5EF4-FFF2-40B4-BE49-F238E27FC236}">
                <a16:creationId xmlns:a16="http://schemas.microsoft.com/office/drawing/2014/main" id="{734CFFDD-0A18-1F41-824F-D5677FB6CDAE}"/>
              </a:ext>
            </a:extLst>
          </p:cNvPr>
          <p:cNvGrpSpPr>
            <a:grpSpLocks/>
          </p:cNvGrpSpPr>
          <p:nvPr/>
        </p:nvGrpSpPr>
        <p:grpSpPr bwMode="auto">
          <a:xfrm>
            <a:off x="4716463" y="4870450"/>
            <a:ext cx="492125" cy="741363"/>
            <a:chOff x="5838291" y="2040336"/>
            <a:chExt cx="576382" cy="869463"/>
          </a:xfrm>
        </p:grpSpPr>
        <p:sp>
          <p:nvSpPr>
            <p:cNvPr id="77" name="Delay 76">
              <a:extLst>
                <a:ext uri="{FF2B5EF4-FFF2-40B4-BE49-F238E27FC236}">
                  <a16:creationId xmlns:a16="http://schemas.microsoft.com/office/drawing/2014/main" id="{F4219165-A149-0447-A470-BF534FD921FA}"/>
                </a:ext>
              </a:extLst>
            </p:cNvPr>
            <p:cNvSpPr/>
            <p:nvPr/>
          </p:nvSpPr>
          <p:spPr>
            <a:xfrm rot="16200000">
              <a:off x="5828520" y="2323646"/>
              <a:ext cx="595924" cy="576382"/>
            </a:xfrm>
            <a:prstGeom prst="flowChartDelay">
              <a:avLst/>
            </a:prstGeom>
            <a:solidFill>
              <a:schemeClr val="accent5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C24AF373-83DF-7442-8136-A494614D5076}"/>
                </a:ext>
              </a:extLst>
            </p:cNvPr>
            <p:cNvSpPr/>
            <p:nvPr/>
          </p:nvSpPr>
          <p:spPr>
            <a:xfrm>
              <a:off x="5926209" y="2040336"/>
              <a:ext cx="390770" cy="390770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4401" name="Group 78">
            <a:extLst>
              <a:ext uri="{FF2B5EF4-FFF2-40B4-BE49-F238E27FC236}">
                <a16:creationId xmlns:a16="http://schemas.microsoft.com/office/drawing/2014/main" id="{FCEF5D86-F2A5-6344-A48F-8042B57EBC85}"/>
              </a:ext>
            </a:extLst>
          </p:cNvPr>
          <p:cNvGrpSpPr>
            <a:grpSpLocks/>
          </p:cNvGrpSpPr>
          <p:nvPr/>
        </p:nvGrpSpPr>
        <p:grpSpPr bwMode="auto">
          <a:xfrm>
            <a:off x="6900863" y="4870450"/>
            <a:ext cx="490537" cy="741363"/>
            <a:chOff x="5838291" y="2040336"/>
            <a:chExt cx="576382" cy="869463"/>
          </a:xfrm>
        </p:grpSpPr>
        <p:sp>
          <p:nvSpPr>
            <p:cNvPr id="80" name="Delay 79">
              <a:extLst>
                <a:ext uri="{FF2B5EF4-FFF2-40B4-BE49-F238E27FC236}">
                  <a16:creationId xmlns:a16="http://schemas.microsoft.com/office/drawing/2014/main" id="{15075165-0567-A345-84E7-BB9EF0C0A77F}"/>
                </a:ext>
              </a:extLst>
            </p:cNvPr>
            <p:cNvSpPr/>
            <p:nvPr/>
          </p:nvSpPr>
          <p:spPr>
            <a:xfrm rot="16200000">
              <a:off x="5828520" y="2323646"/>
              <a:ext cx="595924" cy="576382"/>
            </a:xfrm>
            <a:prstGeom prst="flowChartDelay">
              <a:avLst/>
            </a:prstGeom>
            <a:solidFill>
              <a:schemeClr val="accent5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DC72F1AF-9241-8240-8B36-42A8FFE657B3}"/>
                </a:ext>
              </a:extLst>
            </p:cNvPr>
            <p:cNvSpPr/>
            <p:nvPr/>
          </p:nvSpPr>
          <p:spPr>
            <a:xfrm>
              <a:off x="5926209" y="2040336"/>
              <a:ext cx="390770" cy="390770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  <p:grpSp>
        <p:nvGrpSpPr>
          <p:cNvPr id="14402" name="Group 81">
            <a:extLst>
              <a:ext uri="{FF2B5EF4-FFF2-40B4-BE49-F238E27FC236}">
                <a16:creationId xmlns:a16="http://schemas.microsoft.com/office/drawing/2014/main" id="{8275A7E8-C4E4-4146-81D3-B7A6EB472032}"/>
              </a:ext>
            </a:extLst>
          </p:cNvPr>
          <p:cNvGrpSpPr>
            <a:grpSpLocks/>
          </p:cNvGrpSpPr>
          <p:nvPr/>
        </p:nvGrpSpPr>
        <p:grpSpPr bwMode="auto">
          <a:xfrm>
            <a:off x="7969250" y="2657475"/>
            <a:ext cx="492125" cy="739775"/>
            <a:chOff x="6891596" y="321166"/>
            <a:chExt cx="576382" cy="869463"/>
          </a:xfrm>
        </p:grpSpPr>
        <p:sp>
          <p:nvSpPr>
            <p:cNvPr id="83" name="Delay 82">
              <a:extLst>
                <a:ext uri="{FF2B5EF4-FFF2-40B4-BE49-F238E27FC236}">
                  <a16:creationId xmlns:a16="http://schemas.microsoft.com/office/drawing/2014/main" id="{9E526048-A1AE-BD41-B0CE-911B7BBA6132}"/>
                </a:ext>
              </a:extLst>
            </p:cNvPr>
            <p:cNvSpPr/>
            <p:nvPr/>
          </p:nvSpPr>
          <p:spPr>
            <a:xfrm rot="16200000">
              <a:off x="6881825" y="604476"/>
              <a:ext cx="595924" cy="576382"/>
            </a:xfrm>
            <a:prstGeom prst="flowChartDelay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 w="165100" prst="coolSlan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0CF189A0-896E-1742-8573-DE27D295647E}"/>
                </a:ext>
              </a:extLst>
            </p:cNvPr>
            <p:cNvSpPr/>
            <p:nvPr/>
          </p:nvSpPr>
          <p:spPr>
            <a:xfrm>
              <a:off x="6979514" y="321166"/>
              <a:ext cx="390770" cy="3907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4F81BD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dirty="0">
                <a:solidFill>
                  <a:srgbClr val="1F497D"/>
                </a:solidFill>
                <a:cs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 animBg="1"/>
      <p:bldP spid="43" grpId="0" animBg="1"/>
      <p:bldP spid="45" grpId="0" animBg="1"/>
      <p:bldP spid="47" grpId="0" animBg="1"/>
      <p:bldP spid="48" grpId="0" animBg="1"/>
      <p:bldP spid="49" grpId="0" animBg="1"/>
      <p:bldP spid="50" grpId="0" animBg="1"/>
      <p:bldP spid="57" grpId="0" animBg="1"/>
      <p:bldP spid="58" grpId="0" animBg="1"/>
      <p:bldP spid="62" grpId="0" animBg="1"/>
      <p:bldP spid="6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18386</TotalTime>
  <Words>197</Words>
  <Application>Microsoft Macintosh PowerPoint</Application>
  <PresentationFormat>On-screen Show (4:3)</PresentationFormat>
  <Paragraphs>78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PowerPoint Presentation</vt:lpstr>
      <vt:lpstr>Perspectives vs Roles</vt:lpstr>
      <vt:lpstr>Personas verses Roles</vt:lpstr>
      <vt:lpstr>Scope of responsibility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Roles</dc:title>
  <dc:creator>Mandy Chessell</dc:creator>
  <cp:lastModifiedBy>Mandy Chessell Chessell</cp:lastModifiedBy>
  <cp:revision>51</cp:revision>
  <dcterms:created xsi:type="dcterms:W3CDTF">2018-07-08T08:39:26Z</dcterms:created>
  <dcterms:modified xsi:type="dcterms:W3CDTF">2026-05-31T19:15:00Z</dcterms:modified>
</cp:coreProperties>
</file>